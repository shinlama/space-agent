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7" r:id="rId16"/>
    <p:sldId id="272" r:id="rId17"/>
    <p:sldId id="273" r:id="rId18"/>
    <p:sldId id="274" r:id="rId19"/>
    <p:sldId id="278" r:id="rId20"/>
    <p:sldId id="275" r:id="rId21"/>
    <p:sldId id="279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6EA6"/>
    <a:srgbClr val="F5BE4B"/>
    <a:srgbClr val="9AD3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2F711-450F-055A-4A10-7F07E6CE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67754-22B7-AE65-02EB-AB5695F2F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2418-598C-3A6C-5C0A-1738E8D70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C1E9D-CBEE-2E69-E2C7-7D2B3A70A05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7806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757A5-388C-BCA3-1F77-EEFD3956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32DE8-7BC4-D897-910F-3B55F75FD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1A553-658A-001B-B700-F1801797E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F880F-CC9F-7BB0-5748-B460C42CA23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85209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B969-03F7-2728-830A-9E37BDEDE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CBA39-F910-8EB2-7A4C-FE0F8867D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0EB8A-7A42-59AA-08A6-DA45130D2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CFC82-FDD5-332E-F842-D19CEC2FEAC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83917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D3C7-8973-5726-BEAF-20014D6E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D2459-F939-C8CC-0E52-1242DC928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6CDBE-15BF-C9B1-DBB9-1C9754E63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5821E-E864-D449-3D39-897BD281930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9800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48550/arXiv.2304.04339" TargetMode="External"/><Relationship Id="rId3" Type="http://schemas.openxmlformats.org/officeDocument/2006/relationships/hyperlink" Target="https://doi.org/10.1016/0016-7185(91)90017-K" TargetMode="External"/><Relationship Id="rId7" Type="http://schemas.openxmlformats.org/officeDocument/2006/relationships/hyperlink" Target="https://doi.org/10.48550/arXiv.2406.17633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73/pnas.2305016120" TargetMode="External"/><Relationship Id="rId5" Type="http://schemas.openxmlformats.org/officeDocument/2006/relationships/hyperlink" Target="https://doi.org/10.1016/j.landurbplan.2018.08.020" TargetMode="External"/><Relationship Id="rId4" Type="http://schemas.openxmlformats.org/officeDocument/2006/relationships/hyperlink" Target="https://doi.org/10.1080/08941920309189" TargetMode="External"/><Relationship Id="rId9" Type="http://schemas.openxmlformats.org/officeDocument/2006/relationships/hyperlink" Target="https://www.data.go.kr/data/15083033/fileData.d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eft-accent">
            <a:extLst>
              <a:ext uri="{FF2B5EF4-FFF2-40B4-BE49-F238E27FC236}">
                <a16:creationId xmlns:a16="http://schemas.microsoft.com/office/drawing/2014/main" id="{65F624F9-88E9-42F4-BA44-9ACDFC3D21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FB72357-DB0C-4062-9FE0-47C80FD96659}"/>
              </a:ext>
            </a:extLst>
          </p:cNvPr>
          <p:cNvSpPr>
            <a:spLocks noGrp="1"/>
          </p:cNvSpPr>
          <p:nvPr/>
        </p:nvSpPr>
        <p:spPr>
          <a:xfrm>
            <a:off x="800100" y="1047750"/>
            <a:ext cx="7715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An Approach to Quantifying</a:t>
            </a:r>
          </a:p>
          <a:p>
            <a:pPr algn="l"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Placeness Using Spatial</a:t>
            </a:r>
          </a:p>
          <a:p>
            <a:pPr algn="l"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Review Text Data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4A761AB-C6C8-442B-8BBA-85783B5FCF42}"/>
              </a:ext>
            </a:extLst>
          </p:cNvPr>
          <p:cNvSpPr>
            <a:spLocks noGrp="1"/>
          </p:cNvSpPr>
          <p:nvPr/>
        </p:nvSpPr>
        <p:spPr>
          <a:xfrm>
            <a:off x="819150" y="327660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2F6EA6"/>
                </a:solidFill>
              </a:defRPr>
            </a:pPr>
            <a:r>
              <a:rPr sz="1725" b="0">
                <a:solidFill>
                  <a:srgbClr val="2F6EA6"/>
                </a:solidFill>
              </a:rPr>
              <a:t>Using User Reviews of Cafés in Seoul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ED4B48A-E0D0-48B1-9386-A602F75D3D70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2033"/>
                </a:solidFill>
              </a:defRPr>
            </a:pPr>
            <a:r>
              <a:rPr sz="1425" b="1" dirty="0">
                <a:solidFill>
                  <a:srgbClr val="172033"/>
                </a:solidFill>
              </a:rPr>
              <a:t>Ji-Won Shin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17ED938-8119-44FC-861E-F72FA281A01A}"/>
              </a:ext>
            </a:extLst>
          </p:cNvPr>
          <p:cNvSpPr>
            <a:spLocks noGrp="1"/>
          </p:cNvSpPr>
          <p:nvPr/>
        </p:nvSpPr>
        <p:spPr>
          <a:xfrm>
            <a:off x="819150" y="52768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6173"/>
                </a:solidFill>
              </a:defRPr>
            </a:pPr>
            <a:r>
              <a:rPr sz="1200" b="0">
                <a:solidFill>
                  <a:srgbClr val="556173"/>
                </a:solidFill>
              </a:rPr>
              <a:t>Department of Interior Architecture, Yonsei University</a:t>
            </a:r>
          </a:p>
        </p:txBody>
      </p:sp>
      <p:sp>
        <p:nvSpPr>
          <p:cNvPr id="6" name="chip">
            <a:extLst>
              <a:ext uri="{FF2B5EF4-FFF2-40B4-BE49-F238E27FC236}">
                <a16:creationId xmlns:a16="http://schemas.microsoft.com/office/drawing/2014/main" id="{9F7EB06D-9E39-4D10-8B0C-4FF29A1FC85E}"/>
              </a:ext>
            </a:extLst>
          </p:cNvPr>
          <p:cNvSpPr>
            <a:spLocks noGrp="1"/>
          </p:cNvSpPr>
          <p:nvPr/>
        </p:nvSpPr>
        <p:spPr>
          <a:xfrm>
            <a:off x="819150" y="5924550"/>
            <a:ext cx="1333500" cy="400050"/>
          </a:xfrm>
          <a:prstGeom prst="roundRect">
            <a:avLst>
              <a:gd name="adj" fmla="val 38095"/>
            </a:avLst>
          </a:prstGeom>
          <a:solidFill>
            <a:srgbClr val="E8F3FF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6EF6516-A634-4E1F-B6C3-B225A948086B}"/>
              </a:ext>
            </a:extLst>
          </p:cNvPr>
          <p:cNvSpPr>
            <a:spLocks noGrp="1"/>
          </p:cNvSpPr>
          <p:nvPr/>
        </p:nvSpPr>
        <p:spPr>
          <a:xfrm>
            <a:off x="933450" y="601980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Placeness</a:t>
            </a:r>
          </a:p>
        </p:txBody>
      </p:sp>
      <p:sp>
        <p:nvSpPr>
          <p:cNvPr id="8" name="chip">
            <a:extLst>
              <a:ext uri="{FF2B5EF4-FFF2-40B4-BE49-F238E27FC236}">
                <a16:creationId xmlns:a16="http://schemas.microsoft.com/office/drawing/2014/main" id="{145D2642-732D-4B1F-B07D-E4AB3482F9AB}"/>
              </a:ext>
            </a:extLst>
          </p:cNvPr>
          <p:cNvSpPr>
            <a:spLocks noGrp="1"/>
          </p:cNvSpPr>
          <p:nvPr/>
        </p:nvSpPr>
        <p:spPr>
          <a:xfrm>
            <a:off x="2343150" y="5924550"/>
            <a:ext cx="1809750" cy="400050"/>
          </a:xfrm>
          <a:prstGeom prst="roundRect">
            <a:avLst>
              <a:gd name="adj" fmla="val 38095"/>
            </a:avLst>
          </a:prstGeom>
          <a:solidFill>
            <a:srgbClr val="EFF8E4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2A814B4-BAE3-4002-BA57-9669DB2B92E6}"/>
              </a:ext>
            </a:extLst>
          </p:cNvPr>
          <p:cNvSpPr>
            <a:spLocks noGrp="1"/>
          </p:cNvSpPr>
          <p:nvPr/>
        </p:nvSpPr>
        <p:spPr>
          <a:xfrm>
            <a:off x="2457450" y="601980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Review text data</a:t>
            </a:r>
          </a:p>
        </p:txBody>
      </p:sp>
      <p:sp>
        <p:nvSpPr>
          <p:cNvPr id="10" name="chip">
            <a:extLst>
              <a:ext uri="{FF2B5EF4-FFF2-40B4-BE49-F238E27FC236}">
                <a16:creationId xmlns:a16="http://schemas.microsoft.com/office/drawing/2014/main" id="{DDAA694C-5AD3-43F3-9BC2-4866E26F317C}"/>
              </a:ext>
            </a:extLst>
          </p:cNvPr>
          <p:cNvSpPr>
            <a:spLocks noGrp="1"/>
          </p:cNvSpPr>
          <p:nvPr/>
        </p:nvSpPr>
        <p:spPr>
          <a:xfrm>
            <a:off x="4343400" y="5924550"/>
            <a:ext cx="1619250" cy="400050"/>
          </a:xfrm>
          <a:prstGeom prst="roundRect">
            <a:avLst>
              <a:gd name="adj" fmla="val 38095"/>
            </a:avLst>
          </a:prstGeom>
          <a:solidFill>
            <a:srgbClr val="FFF4DC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76719BD-9014-48BE-A486-CDFCA451D1BA}"/>
              </a:ext>
            </a:extLst>
          </p:cNvPr>
          <p:cNvSpPr>
            <a:spLocks noGrp="1"/>
          </p:cNvSpPr>
          <p:nvPr/>
        </p:nvSpPr>
        <p:spPr>
          <a:xfrm>
            <a:off x="4457700" y="6019800"/>
            <a:ext cx="1390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Quantification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E560010-14A7-1BEA-3703-72150E3D8E48}"/>
              </a:ext>
            </a:extLst>
          </p:cNvPr>
          <p:cNvSpPr>
            <a:spLocks noGrp="1"/>
          </p:cNvSpPr>
          <p:nvPr/>
        </p:nvSpPr>
        <p:spPr>
          <a:xfrm>
            <a:off x="7511451" y="17774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2033"/>
                </a:solidFill>
              </a:defRPr>
            </a:pPr>
            <a:r>
              <a:rPr lang="en-US" sz="1425" b="1" dirty="0">
                <a:solidFill>
                  <a:srgbClr val="172033"/>
                </a:solidFill>
              </a:rPr>
              <a:t>2026-1 Research</a:t>
            </a:r>
            <a:r>
              <a:rPr lang="ko-KR" altLang="en-US" sz="1425" b="1" dirty="0">
                <a:solidFill>
                  <a:srgbClr val="172033"/>
                </a:solidFill>
              </a:rPr>
              <a:t> </a:t>
            </a:r>
            <a:r>
              <a:rPr lang="en-US" altLang="ko-KR" sz="1425" b="1" dirty="0">
                <a:solidFill>
                  <a:srgbClr val="172033"/>
                </a:solidFill>
              </a:rPr>
              <a:t>Method</a:t>
            </a:r>
            <a:r>
              <a:rPr lang="ko-KR" altLang="en-US" sz="1425" b="1" dirty="0">
                <a:solidFill>
                  <a:srgbClr val="172033"/>
                </a:solidFill>
              </a:rPr>
              <a:t> </a:t>
            </a:r>
            <a:r>
              <a:rPr lang="en-US" altLang="ko-KR" sz="1425" b="1" dirty="0">
                <a:solidFill>
                  <a:srgbClr val="172033"/>
                </a:solidFill>
              </a:rPr>
              <a:t>in</a:t>
            </a:r>
            <a:r>
              <a:rPr lang="ko-KR" altLang="en-US" sz="1425" b="1" dirty="0">
                <a:solidFill>
                  <a:srgbClr val="172033"/>
                </a:solidFill>
              </a:rPr>
              <a:t> </a:t>
            </a:r>
            <a:r>
              <a:rPr lang="en-US" altLang="ko-KR" sz="1425" b="1" dirty="0">
                <a:solidFill>
                  <a:srgbClr val="172033"/>
                </a:solidFill>
              </a:rPr>
              <a:t>Housing</a:t>
            </a:r>
            <a:r>
              <a:rPr lang="ko-KR" altLang="en-US" sz="1425" b="1" dirty="0">
                <a:solidFill>
                  <a:srgbClr val="172033"/>
                </a:solidFill>
              </a:rPr>
              <a:t> </a:t>
            </a:r>
            <a:r>
              <a:rPr lang="en-US" altLang="ko-KR" sz="1425" b="1" dirty="0">
                <a:solidFill>
                  <a:srgbClr val="172033"/>
                </a:solidFill>
              </a:rPr>
              <a:t>and</a:t>
            </a:r>
            <a:r>
              <a:rPr lang="ko-KR" altLang="en-US" sz="1425" b="1" dirty="0">
                <a:solidFill>
                  <a:srgbClr val="172033"/>
                </a:solidFill>
              </a:rPr>
              <a:t> </a:t>
            </a:r>
            <a:r>
              <a:rPr lang="en-US" altLang="ko-KR" sz="1425" b="1" dirty="0">
                <a:solidFill>
                  <a:srgbClr val="172033"/>
                </a:solidFill>
              </a:rPr>
              <a:t>Interior</a:t>
            </a:r>
            <a:r>
              <a:rPr lang="ko-KR" altLang="en-US" sz="1425" b="1" dirty="0">
                <a:solidFill>
                  <a:srgbClr val="172033"/>
                </a:solidFill>
              </a:rPr>
              <a:t> </a:t>
            </a:r>
            <a:r>
              <a:rPr lang="en-US" altLang="ko-KR" sz="1425" b="1" dirty="0">
                <a:solidFill>
                  <a:srgbClr val="172033"/>
                </a:solidFill>
              </a:rPr>
              <a:t>Design</a:t>
            </a:r>
            <a:endParaRPr sz="1425" b="1" dirty="0">
              <a:solidFill>
                <a:srgbClr val="172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129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p-accent">
            <a:extLst>
              <a:ext uri="{FF2B5EF4-FFF2-40B4-BE49-F238E27FC236}">
                <a16:creationId xmlns:a16="http://schemas.microsoft.com/office/drawing/2014/main" id="{3FE0972B-6DE5-4D57-B0EB-4B9D9985F2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DEF103D-D879-4D88-98F6-9000DB26EBA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BACKGROUND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E1C6DB2-0867-46DD-9E3F-AB6329A6A35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Research Focus</a:t>
            </a:r>
          </a:p>
        </p:txBody>
      </p:sp>
      <p:sp>
        <p:nvSpPr>
          <p:cNvPr id="5" name="research-focus-statement">
            <a:extLst>
              <a:ext uri="{FF2B5EF4-FFF2-40B4-BE49-F238E27FC236}">
                <a16:creationId xmlns:a16="http://schemas.microsoft.com/office/drawing/2014/main" id="{4F2E28F8-0DC4-4097-9946-B93E40784F5A}"/>
              </a:ext>
            </a:extLst>
          </p:cNvPr>
          <p:cNvSpPr>
            <a:spLocks noGrp="1"/>
          </p:cNvSpPr>
          <p:nvPr/>
        </p:nvSpPr>
        <p:spPr>
          <a:xfrm>
            <a:off x="1123950" y="2305050"/>
            <a:ext cx="9944100" cy="1927644"/>
          </a:xfrm>
          <a:prstGeom prst="roundRect">
            <a:avLst>
              <a:gd name="adj" fmla="val 6957"/>
            </a:avLst>
          </a:prstGeom>
          <a:solidFill>
            <a:srgbClr val="E8F3FF"/>
          </a:solidFill>
          <a:ln w="19050">
            <a:solidFill>
              <a:srgbClr val="9DC6EA"/>
            </a:solidFill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88B7C80-208F-4CE1-91E0-9ED6365DB8C0}"/>
              </a:ext>
            </a:extLst>
          </p:cNvPr>
          <p:cNvSpPr>
            <a:spLocks noGrp="1"/>
          </p:cNvSpPr>
          <p:nvPr/>
        </p:nvSpPr>
        <p:spPr>
          <a:xfrm>
            <a:off x="1695450" y="2886075"/>
            <a:ext cx="88011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2F6EA6"/>
                </a:solidFill>
              </a:defRPr>
            </a:pPr>
            <a:r>
              <a:rPr sz="2400" b="1" dirty="0">
                <a:solidFill>
                  <a:srgbClr val="2F6EA6"/>
                </a:solidFill>
              </a:rPr>
              <a:t>This study aims to quantify placeness,</a:t>
            </a:r>
          </a:p>
          <a:p>
            <a:pPr algn="ctr">
              <a:defRPr sz="2850" b="1">
                <a:solidFill>
                  <a:srgbClr val="2F6EA6"/>
                </a:solidFill>
              </a:defRPr>
            </a:pPr>
            <a:r>
              <a:rPr sz="2400" b="1" dirty="0">
                <a:solidFill>
                  <a:srgbClr val="2F6EA6"/>
                </a:solidFill>
              </a:rPr>
              <a:t>a qualitative and subjective concept.</a:t>
            </a:r>
          </a:p>
        </p:txBody>
      </p:sp>
    </p:spTree>
    <p:extLst>
      <p:ext uri="{BB962C8B-B14F-4D97-AF65-F5344CB8AC3E}">
        <p14:creationId xmlns:p14="http://schemas.microsoft.com/office/powerpoint/2010/main" val="879633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op-accent">
            <a:extLst>
              <a:ext uri="{FF2B5EF4-FFF2-40B4-BE49-F238E27FC236}">
                <a16:creationId xmlns:a16="http://schemas.microsoft.com/office/drawing/2014/main" id="{B9F5C2B4-7990-4190-BD7E-6D8FE6DF09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932C511-BB23-4288-B2AE-8437634A52F8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BACKGROUND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E726CD2-41CC-4D7D-BF1F-BA2C2AFAEA0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Research Highlights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4299DF1-ADF5-4F16-97BE-915C28C88DFE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1000125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Placeness has mostly been evaluated through subjective methods such as surveys and observation, which motivates a data-based and LLM-assisted quantitative approach.</a:t>
            </a: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Placeness is structured into three dimensions and ten detailed factors based on placeness theory and prior studies.</a:t>
            </a: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 logical scoring framework is proposed to extract, classify, and quantify placeness factors from spatial review data.</a:t>
            </a: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The empirical analysis uses Google Maps reviews collected from cafés in Seoul.</a:t>
            </a: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The quantified results can be extended to place recommendation, search, and comparison.</a:t>
            </a:r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A3568FA5-513C-4C44-970F-317474BD21A2}"/>
              </a:ext>
            </a:extLst>
          </p:cNvPr>
          <p:cNvSpPr>
            <a:spLocks noGrp="1"/>
          </p:cNvSpPr>
          <p:nvPr/>
        </p:nvSpPr>
        <p:spPr>
          <a:xfrm>
            <a:off x="1714500" y="5505450"/>
            <a:ext cx="8763000" cy="628650"/>
          </a:xfrm>
          <a:prstGeom prst="roundRect">
            <a:avLst>
              <a:gd name="adj" fmla="val 18182"/>
            </a:avLst>
          </a:prstGeom>
          <a:solidFill>
            <a:srgbClr val="FFF4DC"/>
          </a:solidFill>
          <a:ln w="9525">
            <a:solidFill>
              <a:srgbClr val="F4D38C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91241D7-D4B9-4123-933B-C1B5F21A5F78}"/>
              </a:ext>
            </a:extLst>
          </p:cNvPr>
          <p:cNvSpPr>
            <a:spLocks noGrp="1"/>
          </p:cNvSpPr>
          <p:nvPr/>
        </p:nvSpPr>
        <p:spPr>
          <a:xfrm>
            <a:off x="2038350" y="5663241"/>
            <a:ext cx="811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9A6500"/>
                </a:solidFill>
              </a:defRPr>
            </a:pPr>
            <a:r>
              <a:rPr sz="1500" b="1" dirty="0">
                <a:solidFill>
                  <a:srgbClr val="9A6500"/>
                </a:solidFill>
              </a:rPr>
              <a:t>Contribution: converting qualitative place experience into comparable placeness indicators</a:t>
            </a:r>
          </a:p>
        </p:txBody>
      </p:sp>
    </p:spTree>
    <p:extLst>
      <p:ext uri="{BB962C8B-B14F-4D97-AF65-F5344CB8AC3E}">
        <p14:creationId xmlns:p14="http://schemas.microsoft.com/office/powerpoint/2010/main" val="103520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op-accent">
            <a:extLst>
              <a:ext uri="{FF2B5EF4-FFF2-40B4-BE49-F238E27FC236}">
                <a16:creationId xmlns:a16="http://schemas.microsoft.com/office/drawing/2014/main" id="{BE622BF2-85DD-4124-8632-C408F5396F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DDF4913-67FC-42B9-8A2B-C73CDC20DE0F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LITERATURE REVIEW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D8993CD-7B11-4FC5-B45F-163351CEE069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Placeness Theory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33115AF-0E2B-4E7F-8019-03410D3FDAD1}"/>
              </a:ext>
            </a:extLst>
          </p:cNvPr>
          <p:cNvSpPr>
            <a:spLocks noGrp="1"/>
          </p:cNvSpPr>
          <p:nvPr/>
        </p:nvSpPr>
        <p:spPr>
          <a:xfrm>
            <a:off x="819150" y="15811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Placeness is understood as a multidimensional concept formed through the interaction of physical environment, human activity, and meaning.</a:t>
            </a:r>
          </a:p>
        </p:txBody>
      </p:sp>
      <p:sp>
        <p:nvSpPr>
          <p:cNvPr id="6" name="card">
            <a:extLst>
              <a:ext uri="{FF2B5EF4-FFF2-40B4-BE49-F238E27FC236}">
                <a16:creationId xmlns:a16="http://schemas.microsoft.com/office/drawing/2014/main" id="{04274154-97D3-415C-B83A-C93D12D454CB}"/>
              </a:ext>
            </a:extLst>
          </p:cNvPr>
          <p:cNvSpPr>
            <a:spLocks noGrp="1"/>
          </p:cNvSpPr>
          <p:nvPr/>
        </p:nvSpPr>
        <p:spPr>
          <a:xfrm>
            <a:off x="895350" y="3162300"/>
            <a:ext cx="29908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7" name="card-accent">
            <a:extLst>
              <a:ext uri="{FF2B5EF4-FFF2-40B4-BE49-F238E27FC236}">
                <a16:creationId xmlns:a16="http://schemas.microsoft.com/office/drawing/2014/main" id="{901017F5-BB4D-4D90-943A-19CFC0ECC53F}"/>
              </a:ext>
            </a:extLst>
          </p:cNvPr>
          <p:cNvSpPr>
            <a:spLocks noGrp="1"/>
          </p:cNvSpPr>
          <p:nvPr/>
        </p:nvSpPr>
        <p:spPr>
          <a:xfrm>
            <a:off x="895350" y="3162300"/>
            <a:ext cx="66675" cy="18097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7660BC7-F80B-4F9D-8CF0-822CFCE1B268}"/>
              </a:ext>
            </a:extLst>
          </p:cNvPr>
          <p:cNvSpPr>
            <a:spLocks noGrp="1"/>
          </p:cNvSpPr>
          <p:nvPr/>
        </p:nvSpPr>
        <p:spPr>
          <a:xfrm>
            <a:off x="1123950" y="33909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Physical characteristics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9519D9F4-BEB9-468E-8A0F-81973F0FE003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2571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Observable spatial and environmental qualities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D60BB37E-9FD8-450D-BFAC-9500CE9691C4}"/>
              </a:ext>
            </a:extLst>
          </p:cNvPr>
          <p:cNvSpPr>
            <a:spLocks noGrp="1"/>
          </p:cNvSpPr>
          <p:nvPr/>
        </p:nvSpPr>
        <p:spPr>
          <a:xfrm>
            <a:off x="4591050" y="3162300"/>
            <a:ext cx="29908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B437145B-0CF6-4A74-B608-AEE9B4B09871}"/>
              </a:ext>
            </a:extLst>
          </p:cNvPr>
          <p:cNvSpPr>
            <a:spLocks noGrp="1"/>
          </p:cNvSpPr>
          <p:nvPr/>
        </p:nvSpPr>
        <p:spPr>
          <a:xfrm>
            <a:off x="4591050" y="3162300"/>
            <a:ext cx="66675" cy="180975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AAA010C-B9DB-4834-9F89-0F212C90E6CF}"/>
              </a:ext>
            </a:extLst>
          </p:cNvPr>
          <p:cNvSpPr>
            <a:spLocks noGrp="1"/>
          </p:cNvSpPr>
          <p:nvPr/>
        </p:nvSpPr>
        <p:spPr>
          <a:xfrm>
            <a:off x="4819650" y="33909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Activity-related characteristics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F08B3E9-192F-4A5E-9C3A-DDAEFE22C57A}"/>
              </a:ext>
            </a:extLst>
          </p:cNvPr>
          <p:cNvSpPr>
            <a:spLocks noGrp="1"/>
          </p:cNvSpPr>
          <p:nvPr/>
        </p:nvSpPr>
        <p:spPr>
          <a:xfrm>
            <a:off x="4819650" y="4048664"/>
            <a:ext cx="2571750" cy="7519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 dirty="0">
                <a:solidFill>
                  <a:srgbClr val="556173"/>
                </a:solidFill>
              </a:rPr>
              <a:t>Behaviors, uses, and social interactions within space</a:t>
            </a:r>
          </a:p>
        </p:txBody>
      </p:sp>
      <p:sp>
        <p:nvSpPr>
          <p:cNvPr id="14" name="card">
            <a:extLst>
              <a:ext uri="{FF2B5EF4-FFF2-40B4-BE49-F238E27FC236}">
                <a16:creationId xmlns:a16="http://schemas.microsoft.com/office/drawing/2014/main" id="{FD78C076-81DC-4A1D-B052-32383AF9B53A}"/>
              </a:ext>
            </a:extLst>
          </p:cNvPr>
          <p:cNvSpPr>
            <a:spLocks noGrp="1"/>
          </p:cNvSpPr>
          <p:nvPr/>
        </p:nvSpPr>
        <p:spPr>
          <a:xfrm>
            <a:off x="8286750" y="3162300"/>
            <a:ext cx="29908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5" name="card-accent">
            <a:extLst>
              <a:ext uri="{FF2B5EF4-FFF2-40B4-BE49-F238E27FC236}">
                <a16:creationId xmlns:a16="http://schemas.microsoft.com/office/drawing/2014/main" id="{F1260C51-1684-4CF5-AFB0-9D541FC10583}"/>
              </a:ext>
            </a:extLst>
          </p:cNvPr>
          <p:cNvSpPr>
            <a:spLocks noGrp="1"/>
          </p:cNvSpPr>
          <p:nvPr/>
        </p:nvSpPr>
        <p:spPr>
          <a:xfrm>
            <a:off x="8286750" y="3162300"/>
            <a:ext cx="66675" cy="180975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4931FC0F-582D-49DB-974D-5BECA339838F}"/>
              </a:ext>
            </a:extLst>
          </p:cNvPr>
          <p:cNvSpPr>
            <a:spLocks noGrp="1"/>
          </p:cNvSpPr>
          <p:nvPr/>
        </p:nvSpPr>
        <p:spPr>
          <a:xfrm>
            <a:off x="8515350" y="33909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Meaning-related characteristics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E69A6222-7F0D-4DEC-A692-2391616F8A30}"/>
              </a:ext>
            </a:extLst>
          </p:cNvPr>
          <p:cNvSpPr>
            <a:spLocks noGrp="1"/>
          </p:cNvSpPr>
          <p:nvPr/>
        </p:nvSpPr>
        <p:spPr>
          <a:xfrm>
            <a:off x="8515350" y="3985404"/>
            <a:ext cx="2571750" cy="8151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 dirty="0">
                <a:solidFill>
                  <a:srgbClr val="556173"/>
                </a:solidFill>
              </a:rPr>
              <a:t>Memory, preference, symbolism, and identity formed through experience</a:t>
            </a:r>
          </a:p>
        </p:txBody>
      </p:sp>
    </p:spTree>
    <p:extLst>
      <p:ext uri="{BB962C8B-B14F-4D97-AF65-F5344CB8AC3E}">
        <p14:creationId xmlns:p14="http://schemas.microsoft.com/office/powerpoint/2010/main" val="1371988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-accent">
            <a:extLst>
              <a:ext uri="{FF2B5EF4-FFF2-40B4-BE49-F238E27FC236}">
                <a16:creationId xmlns:a16="http://schemas.microsoft.com/office/drawing/2014/main" id="{65704BB0-AF14-40BC-8F90-C75987D765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C6C9A2E-A6A9-4313-9B9C-99302CFC1539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LITERATURE REVIEW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2272A8B-EE24-4215-841F-17A8E52FEAA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Components of Placeness</a:t>
            </a:r>
          </a:p>
        </p:txBody>
      </p:sp>
      <p:sp>
        <p:nvSpPr>
          <p:cNvPr id="5" name="figure-placeholder">
            <a:extLst>
              <a:ext uri="{FF2B5EF4-FFF2-40B4-BE49-F238E27FC236}">
                <a16:creationId xmlns:a16="http://schemas.microsoft.com/office/drawing/2014/main" id="{749F23E2-F21D-4903-9F74-F47DAE7D9BC6}"/>
              </a:ext>
            </a:extLst>
          </p:cNvPr>
          <p:cNvSpPr>
            <a:spLocks noGrp="1"/>
          </p:cNvSpPr>
          <p:nvPr/>
        </p:nvSpPr>
        <p:spPr>
          <a:xfrm>
            <a:off x="653745" y="1613499"/>
            <a:ext cx="10342059" cy="4137444"/>
          </a:xfrm>
          <a:prstGeom prst="roundRect">
            <a:avLst>
              <a:gd name="adj" fmla="val 4000"/>
            </a:avLst>
          </a:prstGeom>
          <a:solidFill>
            <a:srgbClr val="F6FAFE"/>
          </a:solidFill>
          <a:ln w="19050">
            <a:solidFill>
              <a:srgbClr val="9DC6EA"/>
            </a:solidFill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EFF022E-C052-4845-8F5B-A53F8E9B60C9}"/>
              </a:ext>
            </a:extLst>
          </p:cNvPr>
          <p:cNvSpPr>
            <a:spLocks noGrp="1"/>
          </p:cNvSpPr>
          <p:nvPr/>
        </p:nvSpPr>
        <p:spPr>
          <a:xfrm>
            <a:off x="4639812" y="3805767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F6EA6"/>
                </a:solidFill>
              </a:defRPr>
            </a:pPr>
            <a:r>
              <a:rPr lang="en-US" sz="1650" b="1" dirty="0">
                <a:solidFill>
                  <a:srgbClr val="2F6EA6"/>
                </a:solidFill>
              </a:rPr>
              <a:t>Placeness</a:t>
            </a:r>
            <a:endParaRPr sz="1650" b="1" dirty="0">
              <a:solidFill>
                <a:srgbClr val="2F6EA6"/>
              </a:solidFill>
            </a:endParaRP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04BAA1D5-4AEE-4024-8C50-AA30D446FA26}"/>
              </a:ext>
            </a:extLst>
          </p:cNvPr>
          <p:cNvSpPr>
            <a:spLocks noGrp="1"/>
          </p:cNvSpPr>
          <p:nvPr/>
        </p:nvSpPr>
        <p:spPr>
          <a:xfrm>
            <a:off x="1619250" y="601980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Placeness emerges through the interaction of these three components.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D8565DE-358F-F5C6-5497-8573FFAACD72}"/>
              </a:ext>
            </a:extLst>
          </p:cNvPr>
          <p:cNvSpPr/>
          <p:nvPr/>
        </p:nvSpPr>
        <p:spPr>
          <a:xfrm>
            <a:off x="4948262" y="1909752"/>
            <a:ext cx="1846901" cy="1519248"/>
          </a:xfrm>
          <a:prstGeom prst="ellipse">
            <a:avLst/>
          </a:prstGeom>
          <a:noFill/>
          <a:ln w="28575" cap="flat" cmpd="sng" algn="ctr">
            <a:solidFill>
              <a:srgbClr val="2F6EA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lang="en-US" altLang="ko-KR" sz="1400" b="1" dirty="0">
                <a:solidFill>
                  <a:srgbClr val="172033"/>
                </a:solidFill>
              </a:rPr>
              <a:t>Physical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Spatial form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Environment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Accessibility</a:t>
            </a:r>
          </a:p>
          <a:p>
            <a:pPr algn="ctr">
              <a:defRPr sz="1500" b="1">
                <a:solidFill>
                  <a:srgbClr val="172033"/>
                </a:solidFill>
              </a:defRPr>
            </a:pPr>
            <a:endParaRPr lang="en-US" altLang="ko-KR" sz="1400" b="1" dirty="0">
              <a:solidFill>
                <a:srgbClr val="172033"/>
              </a:solidFill>
            </a:endParaRPr>
          </a:p>
        </p:txBody>
      </p: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0C59AE5B-CCD5-8B80-A1CA-B99F90AB6EEB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 rot="10800000" flipV="1">
            <a:off x="4024812" y="2669376"/>
            <a:ext cx="923450" cy="867534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1DF38CED-52C1-6710-8352-7595544DAD5D}"/>
              </a:ext>
            </a:extLst>
          </p:cNvPr>
          <p:cNvCxnSpPr>
            <a:cxnSpLocks/>
            <a:stCxn id="26" idx="5"/>
            <a:endCxn id="27" idx="3"/>
          </p:cNvCxnSpPr>
          <p:nvPr/>
        </p:nvCxnSpPr>
        <p:spPr>
          <a:xfrm rot="16200000" flipH="1">
            <a:off x="5871712" y="3639746"/>
            <a:ext cx="12700" cy="2387845"/>
          </a:xfrm>
          <a:prstGeom prst="curvedConnector3">
            <a:avLst>
              <a:gd name="adj1" fmla="val 3551882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81042473-9AA8-28B8-6821-EE9CECF83550}"/>
              </a:ext>
            </a:extLst>
          </p:cNvPr>
          <p:cNvCxnSpPr>
            <a:cxnSpLocks/>
            <a:stCxn id="21" idx="6"/>
            <a:endCxn id="27" idx="0"/>
          </p:cNvCxnSpPr>
          <p:nvPr/>
        </p:nvCxnSpPr>
        <p:spPr>
          <a:xfrm>
            <a:off x="6795163" y="2669376"/>
            <a:ext cx="923451" cy="867534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A358529D-9460-772A-E320-D4A11EF7317A}"/>
              </a:ext>
            </a:extLst>
          </p:cNvPr>
          <p:cNvSpPr/>
          <p:nvPr/>
        </p:nvSpPr>
        <p:spPr>
          <a:xfrm>
            <a:off x="3101361" y="3536910"/>
            <a:ext cx="1846901" cy="1519248"/>
          </a:xfrm>
          <a:prstGeom prst="ellipse">
            <a:avLst/>
          </a:prstGeom>
          <a:noFill/>
          <a:ln w="28575" cap="flat" cmpd="sng" algn="ctr">
            <a:solidFill>
              <a:srgbClr val="9AD35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lang="en-US" altLang="ko-KR" sz="1400" b="1" dirty="0">
                <a:solidFill>
                  <a:srgbClr val="172033"/>
                </a:solidFill>
              </a:rPr>
              <a:t>Activity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Staying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Working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Meeting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Interacting</a:t>
            </a:r>
          </a:p>
          <a:p>
            <a:pPr algn="ctr">
              <a:defRPr sz="1500" b="1">
                <a:solidFill>
                  <a:srgbClr val="172033"/>
                </a:solidFill>
              </a:defRPr>
            </a:pPr>
            <a:endParaRPr lang="en-US" altLang="ko-KR" sz="1400" b="1" dirty="0">
              <a:solidFill>
                <a:srgbClr val="172033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D82C4FB-96E7-B174-6CAC-DD130D1A5C84}"/>
              </a:ext>
            </a:extLst>
          </p:cNvPr>
          <p:cNvSpPr/>
          <p:nvPr/>
        </p:nvSpPr>
        <p:spPr>
          <a:xfrm>
            <a:off x="6795163" y="3536910"/>
            <a:ext cx="1846901" cy="1519248"/>
          </a:xfrm>
          <a:prstGeom prst="ellipse">
            <a:avLst/>
          </a:prstGeom>
          <a:noFill/>
          <a:ln w="28575" cap="flat" cmpd="sng" algn="ctr">
            <a:solidFill>
              <a:srgbClr val="F5BE4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algn="ctr"/>
            <a:r>
              <a:rPr lang="en-US" altLang="ko-KR" sz="1400" b="1" dirty="0">
                <a:solidFill>
                  <a:srgbClr val="172033"/>
                </a:solidFill>
              </a:rPr>
              <a:t>Meaning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Memory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Preference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Symbolism</a:t>
            </a:r>
          </a:p>
          <a:p>
            <a:pPr algn="ctr">
              <a:defRPr sz="1275" b="0">
                <a:solidFill>
                  <a:srgbClr val="556173"/>
                </a:solidFill>
              </a:defRPr>
            </a:pPr>
            <a:r>
              <a:rPr lang="en-US" altLang="ko-KR" sz="1400" dirty="0">
                <a:solidFill>
                  <a:srgbClr val="556173"/>
                </a:solidFill>
              </a:rPr>
              <a:t>Identity</a:t>
            </a:r>
          </a:p>
          <a:p>
            <a:pPr algn="ctr"/>
            <a:endParaRPr lang="ko-KR" altLang="en-US" sz="14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31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op-accent">
            <a:extLst>
              <a:ext uri="{FF2B5EF4-FFF2-40B4-BE49-F238E27FC236}">
                <a16:creationId xmlns:a16="http://schemas.microsoft.com/office/drawing/2014/main" id="{8E38F644-390B-4E3F-B30D-E1FB4F9161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9274578-239E-4DC6-A666-2BDB692285B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LITERATURE REVIEW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4AEDE29-14DD-46EC-AE66-10C53210CE27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Relph’s Core Components of Placeness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2E5EDE1-3782-4211-9D83-7E594049F04E}"/>
              </a:ext>
            </a:extLst>
          </p:cNvPr>
          <p:cNvSpPr>
            <a:spLocks noGrp="1"/>
          </p:cNvSpPr>
          <p:nvPr/>
        </p:nvSpPr>
        <p:spPr>
          <a:xfrm>
            <a:off x="857250" y="1581150"/>
            <a:ext cx="981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Relph explains the identity of place through the relationship among physical setting, activities, and meanings.</a:t>
            </a:r>
          </a:p>
        </p:txBody>
      </p:sp>
      <p:sp>
        <p:nvSpPr>
          <p:cNvPr id="6" name="card">
            <a:extLst>
              <a:ext uri="{FF2B5EF4-FFF2-40B4-BE49-F238E27FC236}">
                <a16:creationId xmlns:a16="http://schemas.microsoft.com/office/drawing/2014/main" id="{752FDCD8-892E-4609-8C49-13B1CEC0E113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2952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7" name="card-accent">
            <a:extLst>
              <a:ext uri="{FF2B5EF4-FFF2-40B4-BE49-F238E27FC236}">
                <a16:creationId xmlns:a16="http://schemas.microsoft.com/office/drawing/2014/main" id="{82B112E1-930F-45DB-80AC-17CB6AF626E5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66675" cy="18097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6AC53E3-F4BA-48CF-8E60-51DC5A4DA6F8}"/>
              </a:ext>
            </a:extLst>
          </p:cNvPr>
          <p:cNvSpPr>
            <a:spLocks noGrp="1"/>
          </p:cNvSpPr>
          <p:nvPr/>
        </p:nvSpPr>
        <p:spPr>
          <a:xfrm>
            <a:off x="1314450" y="31813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Physical setting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9A84077-95B4-49BA-80E4-55521E828F93}"/>
              </a:ext>
            </a:extLst>
          </p:cNvPr>
          <p:cNvSpPr>
            <a:spLocks noGrp="1"/>
          </p:cNvSpPr>
          <p:nvPr/>
        </p:nvSpPr>
        <p:spPr>
          <a:xfrm>
            <a:off x="1314450" y="3581400"/>
            <a:ext cx="2533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Material and spatial conditions that form the setting of experience.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3BC0D32E-C509-4A35-81F7-DBCFFBE89A81}"/>
              </a:ext>
            </a:extLst>
          </p:cNvPr>
          <p:cNvSpPr>
            <a:spLocks noGrp="1"/>
          </p:cNvSpPr>
          <p:nvPr/>
        </p:nvSpPr>
        <p:spPr>
          <a:xfrm>
            <a:off x="4629150" y="2952750"/>
            <a:ext cx="2952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30C244CB-8B71-4BD7-BE76-6E989455E33C}"/>
              </a:ext>
            </a:extLst>
          </p:cNvPr>
          <p:cNvSpPr>
            <a:spLocks noGrp="1"/>
          </p:cNvSpPr>
          <p:nvPr/>
        </p:nvSpPr>
        <p:spPr>
          <a:xfrm>
            <a:off x="4629150" y="2952750"/>
            <a:ext cx="66675" cy="180975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9B49B9D-D33E-49F0-A17C-0A5C4416FA5B}"/>
              </a:ext>
            </a:extLst>
          </p:cNvPr>
          <p:cNvSpPr>
            <a:spLocks noGrp="1"/>
          </p:cNvSpPr>
          <p:nvPr/>
        </p:nvSpPr>
        <p:spPr>
          <a:xfrm>
            <a:off x="4857750" y="31813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Activities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AD2CB27-0AF7-41DA-BE83-3DE96A76BAE3}"/>
              </a:ext>
            </a:extLst>
          </p:cNvPr>
          <p:cNvSpPr>
            <a:spLocks noGrp="1"/>
          </p:cNvSpPr>
          <p:nvPr/>
        </p:nvSpPr>
        <p:spPr>
          <a:xfrm>
            <a:off x="4857750" y="3581400"/>
            <a:ext cx="2533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Actions and patterns of use that occur in the place.</a:t>
            </a:r>
          </a:p>
        </p:txBody>
      </p:sp>
      <p:sp>
        <p:nvSpPr>
          <p:cNvPr id="14" name="card">
            <a:extLst>
              <a:ext uri="{FF2B5EF4-FFF2-40B4-BE49-F238E27FC236}">
                <a16:creationId xmlns:a16="http://schemas.microsoft.com/office/drawing/2014/main" id="{E35D825D-01DF-4DA3-BA36-A9264BECFCDE}"/>
              </a:ext>
            </a:extLst>
          </p:cNvPr>
          <p:cNvSpPr>
            <a:spLocks noGrp="1"/>
          </p:cNvSpPr>
          <p:nvPr/>
        </p:nvSpPr>
        <p:spPr>
          <a:xfrm>
            <a:off x="8172450" y="2952750"/>
            <a:ext cx="2952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5" name="card-accent">
            <a:extLst>
              <a:ext uri="{FF2B5EF4-FFF2-40B4-BE49-F238E27FC236}">
                <a16:creationId xmlns:a16="http://schemas.microsoft.com/office/drawing/2014/main" id="{F37BFD09-D96E-48B5-9EF3-C7CFD52FE1F1}"/>
              </a:ext>
            </a:extLst>
          </p:cNvPr>
          <p:cNvSpPr>
            <a:spLocks noGrp="1"/>
          </p:cNvSpPr>
          <p:nvPr/>
        </p:nvSpPr>
        <p:spPr>
          <a:xfrm>
            <a:off x="8172450" y="2952750"/>
            <a:ext cx="66675" cy="180975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DBBE6DA-B1B8-4ADF-B060-E84F8AA3A9D2}"/>
              </a:ext>
            </a:extLst>
          </p:cNvPr>
          <p:cNvSpPr>
            <a:spLocks noGrp="1"/>
          </p:cNvSpPr>
          <p:nvPr/>
        </p:nvSpPr>
        <p:spPr>
          <a:xfrm>
            <a:off x="8401050" y="31813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Meanings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2EAE843-33E8-4BBF-9A30-3169C392D5A2}"/>
              </a:ext>
            </a:extLst>
          </p:cNvPr>
          <p:cNvSpPr>
            <a:spLocks noGrp="1"/>
          </p:cNvSpPr>
          <p:nvPr/>
        </p:nvSpPr>
        <p:spPr>
          <a:xfrm>
            <a:off x="8401050" y="3581400"/>
            <a:ext cx="2533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Values, memories, and interpretations attached to the place.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1530399C-4540-4CD8-A795-5281F7CB3E19}"/>
              </a:ext>
            </a:extLst>
          </p:cNvPr>
          <p:cNvSpPr>
            <a:spLocks noGrp="1"/>
          </p:cNvSpPr>
          <p:nvPr/>
        </p:nvSpPr>
        <p:spPr>
          <a:xfrm>
            <a:off x="1085850" y="5753100"/>
            <a:ext cx="819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6173"/>
                </a:solidFill>
              </a:defRPr>
            </a:pPr>
            <a:r>
              <a:rPr sz="1350" b="0" dirty="0">
                <a:solidFill>
                  <a:srgbClr val="556173"/>
                </a:solidFill>
              </a:rPr>
              <a:t>Reference: Edward Relph, Place and Placelessness (1976)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402388CC-3844-D70A-E614-5928B10A3F62}"/>
              </a:ext>
            </a:extLst>
          </p:cNvPr>
          <p:cNvSpPr>
            <a:spLocks noGrp="1"/>
          </p:cNvSpPr>
          <p:nvPr/>
        </p:nvSpPr>
        <p:spPr>
          <a:xfrm>
            <a:off x="1036967" y="2514600"/>
            <a:ext cx="819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6173"/>
                </a:solidFill>
              </a:defRPr>
            </a:pPr>
            <a:r>
              <a:rPr lang="en-US" sz="1350" b="0" dirty="0">
                <a:solidFill>
                  <a:srgbClr val="556173"/>
                </a:solidFill>
              </a:rPr>
              <a:t>Relph’s definition</a:t>
            </a:r>
            <a:endParaRPr sz="1350" b="0" dirty="0">
              <a:solidFill>
                <a:srgbClr val="5561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75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D315E-432B-8968-586A-2BC58C19B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op-accent">
            <a:extLst>
              <a:ext uri="{FF2B5EF4-FFF2-40B4-BE49-F238E27FC236}">
                <a16:creationId xmlns:a16="http://schemas.microsoft.com/office/drawing/2014/main" id="{2867F833-153B-B65A-D1F9-C7432E4B84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BB49334-0DFC-71E1-6722-6A0C8BF50A9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LITERATURE REVIEW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B741530-596E-22E7-51FE-E59730E90DA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Placeness Factors in Prior Studies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6858696-B26D-D44A-A11E-FDC1D5A9AEBB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111909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 dirty="0">
                <a:solidFill>
                  <a:srgbClr val="172033"/>
                </a:solidFill>
              </a:rPr>
              <a:t>Placeness factors were selected and similar items were integrated according to the environmental characteristics of commercial</a:t>
            </a:r>
            <a:r>
              <a:rPr lang="en-US" sz="1500" b="1" dirty="0">
                <a:solidFill>
                  <a:srgbClr val="172033"/>
                </a:solidFill>
              </a:rPr>
              <a:t> </a:t>
            </a:r>
            <a:r>
              <a:rPr sz="1500" b="1" dirty="0">
                <a:solidFill>
                  <a:srgbClr val="172033"/>
                </a:solidFill>
              </a:rPr>
              <a:t>spaces.</a:t>
            </a:r>
          </a:p>
        </p:txBody>
      </p:sp>
      <p:sp>
        <p:nvSpPr>
          <p:cNvPr id="111" name="box">
            <a:extLst>
              <a:ext uri="{FF2B5EF4-FFF2-40B4-BE49-F238E27FC236}">
                <a16:creationId xmlns:a16="http://schemas.microsoft.com/office/drawing/2014/main" id="{77273CE6-F3A2-AB58-F9D5-F9F11F5EF00F}"/>
              </a:ext>
            </a:extLst>
          </p:cNvPr>
          <p:cNvSpPr>
            <a:spLocks noGrp="1"/>
          </p:cNvSpPr>
          <p:nvPr/>
        </p:nvSpPr>
        <p:spPr>
          <a:xfrm>
            <a:off x="3113777" y="6139924"/>
            <a:ext cx="6286500" cy="590550"/>
          </a:xfrm>
          <a:prstGeom prst="roundRect">
            <a:avLst>
              <a:gd name="adj" fmla="val 12903"/>
            </a:avLst>
          </a:prstGeom>
          <a:solidFill>
            <a:srgbClr val="E8F3FF"/>
          </a:solidFill>
          <a:ln w="9525">
            <a:solidFill>
              <a:srgbClr val="9DC6EA"/>
            </a:solidFill>
            <a:prstDash val="solid"/>
          </a:ln>
        </p:spPr>
      </p:sp>
      <p:sp>
        <p:nvSpPr>
          <p:cNvPr id="112" name="text">
            <a:extLst>
              <a:ext uri="{FF2B5EF4-FFF2-40B4-BE49-F238E27FC236}">
                <a16:creationId xmlns:a16="http://schemas.microsoft.com/office/drawing/2014/main" id="{EC51CA8E-F69B-8564-56CD-A8DCA291FC50}"/>
              </a:ext>
            </a:extLst>
          </p:cNvPr>
          <p:cNvSpPr>
            <a:spLocks noGrp="1"/>
          </p:cNvSpPr>
          <p:nvPr/>
        </p:nvSpPr>
        <p:spPr>
          <a:xfrm>
            <a:off x="3380477" y="6330424"/>
            <a:ext cx="575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F6EA6"/>
                </a:solidFill>
              </a:defRPr>
            </a:pPr>
            <a:r>
              <a:rPr sz="1350" b="1" dirty="0">
                <a:solidFill>
                  <a:srgbClr val="2F6EA6"/>
                </a:solidFill>
              </a:rPr>
              <a:t>Integrated into 3 dimensions and 10 placeness factors for commercial spaces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C0448F5-65DE-0E11-574C-312459ADE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224066"/>
              </p:ext>
            </p:extLst>
          </p:nvPr>
        </p:nvGraphicFramePr>
        <p:xfrm>
          <a:off x="633980" y="1871717"/>
          <a:ext cx="11260829" cy="3825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911">
                  <a:extLst>
                    <a:ext uri="{9D8B030D-6E8A-4147-A177-3AD203B41FA5}">
                      <a16:colId xmlns:a16="http://schemas.microsoft.com/office/drawing/2014/main" val="1038383480"/>
                    </a:ext>
                  </a:extLst>
                </a:gridCol>
                <a:gridCol w="1426350">
                  <a:extLst>
                    <a:ext uri="{9D8B030D-6E8A-4147-A177-3AD203B41FA5}">
                      <a16:colId xmlns:a16="http://schemas.microsoft.com/office/drawing/2014/main" val="362492278"/>
                    </a:ext>
                  </a:extLst>
                </a:gridCol>
                <a:gridCol w="3482298">
                  <a:extLst>
                    <a:ext uri="{9D8B030D-6E8A-4147-A177-3AD203B41FA5}">
                      <a16:colId xmlns:a16="http://schemas.microsoft.com/office/drawing/2014/main" val="2792103228"/>
                    </a:ext>
                  </a:extLst>
                </a:gridCol>
                <a:gridCol w="1127612">
                  <a:extLst>
                    <a:ext uri="{9D8B030D-6E8A-4147-A177-3AD203B41FA5}">
                      <a16:colId xmlns:a16="http://schemas.microsoft.com/office/drawing/2014/main" val="26438139"/>
                    </a:ext>
                  </a:extLst>
                </a:gridCol>
                <a:gridCol w="4878658">
                  <a:extLst>
                    <a:ext uri="{9D8B030D-6E8A-4147-A177-3AD203B41FA5}">
                      <a16:colId xmlns:a16="http://schemas.microsoft.com/office/drawing/2014/main" val="2106009075"/>
                    </a:ext>
                  </a:extLst>
                </a:gridCol>
              </a:tblGrid>
              <a:tr h="28944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Author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Title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Target space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Placeness factors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3829997"/>
                  </a:ext>
                </a:extLst>
              </a:tr>
              <a:tr h="4500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Guo, Hwang &amp; Lee</a:t>
                      </a:r>
                    </a:p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User perception analysis of museum spatial design based on place 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Museum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[Physical] accessibility, territoriality, attractiveness, comfort</a:t>
                      </a:r>
                    </a:p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[Activity] interactivity, convenience</a:t>
                      </a:r>
                    </a:p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[Meaning] symbolism, educational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9525794"/>
                  </a:ext>
                </a:extLst>
              </a:tr>
              <a:tr h="4500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Na, Lee &amp; Lee</a:t>
                      </a:r>
                    </a:p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Analysis of placeness of major places in Seoul using text mining and large language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71 major places</a:t>
                      </a:r>
                    </a:p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in Seoul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Symbolism, </a:t>
                      </a:r>
                      <a:r>
                        <a:rPr lang="en-US" altLang="ko-KR" sz="1100" b="0" dirty="0" err="1">
                          <a:solidFill>
                            <a:srgbClr val="172033"/>
                          </a:solidFill>
                        </a:rPr>
                        <a:t>culturality</a:t>
                      </a: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, everydayness, specificity, vitality, quietness, naturalness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421614"/>
                  </a:ext>
                </a:extLst>
              </a:tr>
              <a:tr h="4500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Sun &amp; Yu</a:t>
                      </a:r>
                    </a:p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Dimension and formation of placeness of commercial public space in city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Commercial</a:t>
                      </a:r>
                    </a:p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[Physical] traffic convenience, visibility, safety, comfort, openness</a:t>
                      </a:r>
                    </a:p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[Activity] activity, seating, environmental pleasure</a:t>
                      </a:r>
                    </a:p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[Meaning] regional </a:t>
                      </a:r>
                      <a:r>
                        <a:rPr lang="en-US" altLang="ko-KR" sz="1100" b="0" dirty="0" err="1">
                          <a:solidFill>
                            <a:srgbClr val="172033"/>
                          </a:solidFill>
                        </a:rPr>
                        <a:t>landmarkness</a:t>
                      </a: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, functional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1321216"/>
                  </a:ext>
                </a:extLst>
              </a:tr>
              <a:tr h="4500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Lyu</a:t>
                      </a:r>
                    </a:p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(1996)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A study on embodiment factors of sense of place in interior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Residential</a:t>
                      </a:r>
                    </a:p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Centrality, boundary, control, safety, comfort, symbolism, orientation, sociality, interior design elements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27790"/>
                  </a:ext>
                </a:extLst>
              </a:tr>
              <a:tr h="4500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Lee &amp; Kim</a:t>
                      </a:r>
                    </a:p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Spatial design strategy of large cafés from the perspective of complex cultural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Eight large</a:t>
                      </a:r>
                    </a:p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cafés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Complexity, accessibility, participation, symbolism, expertise, historicity, experience, diversity, aesthetics, culture, openness, continuity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326331"/>
                  </a:ext>
                </a:extLst>
              </a:tr>
              <a:tr h="4500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Waxman</a:t>
                      </a:r>
                    </a:p>
                    <a:p>
                      <a:pPr algn="l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(2008)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rgbClr val="172033"/>
                          </a:solidFill>
                        </a:rPr>
                        <a:t>The Coffee Shop: Social and physical factors influencing place attachment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Three cafés</a:t>
                      </a:r>
                    </a:p>
                    <a:p>
                      <a:pPr algn="ctr">
                        <a:defRPr sz="660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200" b="0" dirty="0">
                          <a:solidFill>
                            <a:srgbClr val="172033"/>
                          </a:solidFill>
                        </a:rPr>
                        <a:t>in Alabama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[Physical] hygiene, scent, lighting, furniture, exterior view, seating layout</a:t>
                      </a:r>
                    </a:p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[Activity] staying, territoriality, stability, anonymity, productivity, interaction</a:t>
                      </a:r>
                    </a:p>
                    <a:p>
                      <a:pPr algn="l">
                        <a:defRPr sz="623" b="0">
                          <a:solidFill>
                            <a:srgbClr val="172033"/>
                          </a:solidFill>
                        </a:defRPr>
                      </a:pPr>
                      <a:r>
                        <a:rPr lang="en-US" altLang="ko-KR" sz="1100" b="0" dirty="0">
                          <a:solidFill>
                            <a:srgbClr val="172033"/>
                          </a:solidFill>
                        </a:rPr>
                        <a:t>[Meaning] emotional bond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21788"/>
                  </a:ext>
                </a:extLst>
              </a:tr>
            </a:tbl>
          </a:graphicData>
        </a:graphic>
      </p:graphicFrame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881E39DF-EC70-778D-1F2F-C29A97107AA1}"/>
              </a:ext>
            </a:extLst>
          </p:cNvPr>
          <p:cNvCxnSpPr>
            <a:cxnSpLocks/>
            <a:stCxn id="8" idx="2"/>
            <a:endCxn id="111" idx="0"/>
          </p:cNvCxnSpPr>
          <p:nvPr/>
        </p:nvCxnSpPr>
        <p:spPr>
          <a:xfrm flipH="1">
            <a:off x="6257027" y="5696957"/>
            <a:ext cx="7367" cy="442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63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op-accent">
            <a:extLst>
              <a:ext uri="{FF2B5EF4-FFF2-40B4-BE49-F238E27FC236}">
                <a16:creationId xmlns:a16="http://schemas.microsoft.com/office/drawing/2014/main" id="{751810E4-4AED-47AA-8153-2B27CF1F89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1D36025-2185-4B57-A052-F644D968752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LITERATURE REVIEW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3497383-40F3-48F7-A30F-38C63B74DF1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Reconstructed Placeness Factors for Commercial Spaces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DC32CE3-4111-429C-A5F3-DAC953C48ED6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 dirty="0">
                <a:solidFill>
                  <a:srgbClr val="172033"/>
                </a:solidFill>
              </a:rPr>
              <a:t>Detailed placeness factors were reconstructed according to the spatial environmental characteristics of commercial </a:t>
            </a:r>
            <a:r>
              <a:rPr lang="en-US" sz="1500" b="1" dirty="0">
                <a:solidFill>
                  <a:srgbClr val="172033"/>
                </a:solidFill>
              </a:rPr>
              <a:t>space</a:t>
            </a:r>
            <a:r>
              <a:rPr sz="1500" b="1" dirty="0">
                <a:solidFill>
                  <a:srgbClr val="172033"/>
                </a:solidFill>
              </a:rPr>
              <a:t>s.</a:t>
            </a:r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65968DE3-BE14-413A-A356-166FC69B8857}"/>
              </a:ext>
            </a:extLst>
          </p:cNvPr>
          <p:cNvSpPr>
            <a:spLocks noGrp="1"/>
          </p:cNvSpPr>
          <p:nvPr/>
        </p:nvSpPr>
        <p:spPr>
          <a:xfrm>
            <a:off x="3143250" y="2114550"/>
            <a:ext cx="2286000" cy="419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920332D-C2C7-40E5-A850-F316F25CD0C2}"/>
              </a:ext>
            </a:extLst>
          </p:cNvPr>
          <p:cNvSpPr>
            <a:spLocks noGrp="1"/>
          </p:cNvSpPr>
          <p:nvPr/>
        </p:nvSpPr>
        <p:spPr>
          <a:xfrm>
            <a:off x="3143250" y="2207779"/>
            <a:ext cx="23907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172033"/>
                </a:solidFill>
              </a:defRPr>
            </a:pPr>
            <a:r>
              <a:rPr sz="1050" b="1" dirty="0">
                <a:solidFill>
                  <a:srgbClr val="172033"/>
                </a:solidFill>
              </a:rPr>
              <a:t>Formative elements of placeness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433212F0-8813-400C-92CF-566871651053}"/>
              </a:ext>
            </a:extLst>
          </p:cNvPr>
          <p:cNvSpPr>
            <a:spLocks noGrp="1"/>
          </p:cNvSpPr>
          <p:nvPr/>
        </p:nvSpPr>
        <p:spPr>
          <a:xfrm>
            <a:off x="5905500" y="2095500"/>
            <a:ext cx="3143250" cy="4381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7968CE7-395F-4694-9D83-765F0056811D}"/>
              </a:ext>
            </a:extLst>
          </p:cNvPr>
          <p:cNvSpPr>
            <a:spLocks noGrp="1"/>
          </p:cNvSpPr>
          <p:nvPr/>
        </p:nvSpPr>
        <p:spPr>
          <a:xfrm>
            <a:off x="6096000" y="2109787"/>
            <a:ext cx="2952750" cy="4714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172033"/>
                </a:solidFill>
              </a:defRPr>
            </a:pPr>
            <a:r>
              <a:rPr sz="1050" b="1" dirty="0">
                <a:solidFill>
                  <a:srgbClr val="172033"/>
                </a:solidFill>
              </a:rPr>
              <a:t>Spatial environmental characteristics of commercial spaces</a:t>
            </a:r>
          </a:p>
        </p:txBody>
      </p:sp>
      <p:sp>
        <p:nvSpPr>
          <p:cNvPr id="10" name="box">
            <a:extLst>
              <a:ext uri="{FF2B5EF4-FFF2-40B4-BE49-F238E27FC236}">
                <a16:creationId xmlns:a16="http://schemas.microsoft.com/office/drawing/2014/main" id="{75B0F776-6FEB-4FA1-9FF7-2391F61EF5B3}"/>
              </a:ext>
            </a:extLst>
          </p:cNvPr>
          <p:cNvSpPr>
            <a:spLocks noGrp="1"/>
          </p:cNvSpPr>
          <p:nvPr/>
        </p:nvSpPr>
        <p:spPr>
          <a:xfrm>
            <a:off x="3143250" y="3390900"/>
            <a:ext cx="2286000" cy="4000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6C97991-76AB-4DBE-B9E3-0FD0A42DE1B4}"/>
              </a:ext>
            </a:extLst>
          </p:cNvPr>
          <p:cNvSpPr>
            <a:spLocks noGrp="1"/>
          </p:cNvSpPr>
          <p:nvPr/>
        </p:nvSpPr>
        <p:spPr>
          <a:xfrm>
            <a:off x="3362325" y="3457575"/>
            <a:ext cx="1866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1050" b="1" dirty="0">
                <a:solidFill>
                  <a:srgbClr val="172033"/>
                </a:solidFill>
              </a:rPr>
              <a:t>Physical characteristics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F63529E-476F-4DA2-90B2-310228DE6534}"/>
              </a:ext>
            </a:extLst>
          </p:cNvPr>
          <p:cNvSpPr>
            <a:spLocks noGrp="1"/>
          </p:cNvSpPr>
          <p:nvPr/>
        </p:nvSpPr>
        <p:spPr>
          <a:xfrm>
            <a:off x="5467350" y="349567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7C8796"/>
                </a:solidFill>
              </a:defRPr>
            </a:pPr>
            <a:r>
              <a:rPr sz="1350" b="0">
                <a:solidFill>
                  <a:srgbClr val="7C8796"/>
                </a:solidFill>
              </a:rPr>
              <a:t>─</a:t>
            </a:r>
          </a:p>
        </p:txBody>
      </p:sp>
      <p:sp>
        <p:nvSpPr>
          <p:cNvPr id="13" name="box">
            <a:extLst>
              <a:ext uri="{FF2B5EF4-FFF2-40B4-BE49-F238E27FC236}">
                <a16:creationId xmlns:a16="http://schemas.microsoft.com/office/drawing/2014/main" id="{69C662EB-DE34-4523-9F97-A3CD437B5294}"/>
              </a:ext>
            </a:extLst>
          </p:cNvPr>
          <p:cNvSpPr>
            <a:spLocks noGrp="1"/>
          </p:cNvSpPr>
          <p:nvPr/>
        </p:nvSpPr>
        <p:spPr>
          <a:xfrm>
            <a:off x="5905500" y="278130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14" name="rect">
            <a:extLst>
              <a:ext uri="{FF2B5EF4-FFF2-40B4-BE49-F238E27FC236}">
                <a16:creationId xmlns:a16="http://schemas.microsoft.com/office/drawing/2014/main" id="{E5B1176C-BBE3-45F4-858D-9009C39E852D}"/>
              </a:ext>
            </a:extLst>
          </p:cNvPr>
          <p:cNvSpPr>
            <a:spLocks noGrp="1"/>
          </p:cNvSpPr>
          <p:nvPr/>
        </p:nvSpPr>
        <p:spPr>
          <a:xfrm>
            <a:off x="5905500" y="2781300"/>
            <a:ext cx="57150" cy="3238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B10FD24-4297-4F99-A10A-3D91D8DE3328}"/>
              </a:ext>
            </a:extLst>
          </p:cNvPr>
          <p:cNvSpPr>
            <a:spLocks noGrp="1"/>
          </p:cNvSpPr>
          <p:nvPr/>
        </p:nvSpPr>
        <p:spPr>
          <a:xfrm>
            <a:off x="6210300" y="281526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 dirty="0">
                <a:solidFill>
                  <a:srgbClr val="172033"/>
                </a:solidFill>
              </a:rPr>
              <a:t>Aesthetics</a:t>
            </a:r>
          </a:p>
        </p:txBody>
      </p:sp>
      <p:sp>
        <p:nvSpPr>
          <p:cNvPr id="16" name="box">
            <a:extLst>
              <a:ext uri="{FF2B5EF4-FFF2-40B4-BE49-F238E27FC236}">
                <a16:creationId xmlns:a16="http://schemas.microsoft.com/office/drawing/2014/main" id="{B40F5053-1B1F-44BD-9D4C-E5B9995F1CB7}"/>
              </a:ext>
            </a:extLst>
          </p:cNvPr>
          <p:cNvSpPr>
            <a:spLocks noGrp="1"/>
          </p:cNvSpPr>
          <p:nvPr/>
        </p:nvSpPr>
        <p:spPr>
          <a:xfrm>
            <a:off x="5905500" y="310515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17" name="rect">
            <a:extLst>
              <a:ext uri="{FF2B5EF4-FFF2-40B4-BE49-F238E27FC236}">
                <a16:creationId xmlns:a16="http://schemas.microsoft.com/office/drawing/2014/main" id="{349C00B3-9C17-44AE-B74E-BEC9C356B378}"/>
              </a:ext>
            </a:extLst>
          </p:cNvPr>
          <p:cNvSpPr>
            <a:spLocks noGrp="1"/>
          </p:cNvSpPr>
          <p:nvPr/>
        </p:nvSpPr>
        <p:spPr>
          <a:xfrm>
            <a:off x="5905500" y="3105150"/>
            <a:ext cx="57150" cy="3238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86F027EF-5032-4D13-BE7D-C8262C351DF4}"/>
              </a:ext>
            </a:extLst>
          </p:cNvPr>
          <p:cNvSpPr>
            <a:spLocks noGrp="1"/>
          </p:cNvSpPr>
          <p:nvPr/>
        </p:nvSpPr>
        <p:spPr>
          <a:xfrm>
            <a:off x="6210300" y="313911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Openness</a:t>
            </a:r>
          </a:p>
        </p:txBody>
      </p:sp>
      <p:sp>
        <p:nvSpPr>
          <p:cNvPr id="19" name="box">
            <a:extLst>
              <a:ext uri="{FF2B5EF4-FFF2-40B4-BE49-F238E27FC236}">
                <a16:creationId xmlns:a16="http://schemas.microsoft.com/office/drawing/2014/main" id="{0CC18360-9509-4FD7-9DD7-45AAECC9A33A}"/>
              </a:ext>
            </a:extLst>
          </p:cNvPr>
          <p:cNvSpPr>
            <a:spLocks noGrp="1"/>
          </p:cNvSpPr>
          <p:nvPr/>
        </p:nvSpPr>
        <p:spPr>
          <a:xfrm>
            <a:off x="5905500" y="342900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20" name="rect">
            <a:extLst>
              <a:ext uri="{FF2B5EF4-FFF2-40B4-BE49-F238E27FC236}">
                <a16:creationId xmlns:a16="http://schemas.microsoft.com/office/drawing/2014/main" id="{7D444C0F-D659-494D-B7FF-FDFEBA7707CE}"/>
              </a:ext>
            </a:extLst>
          </p:cNvPr>
          <p:cNvSpPr>
            <a:spLocks noGrp="1"/>
          </p:cNvSpPr>
          <p:nvPr/>
        </p:nvSpPr>
        <p:spPr>
          <a:xfrm>
            <a:off x="5905500" y="3429000"/>
            <a:ext cx="57150" cy="3238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C347470-B55C-435C-BCF4-82C930D5ACED}"/>
              </a:ext>
            </a:extLst>
          </p:cNvPr>
          <p:cNvSpPr>
            <a:spLocks noGrp="1"/>
          </p:cNvSpPr>
          <p:nvPr/>
        </p:nvSpPr>
        <p:spPr>
          <a:xfrm>
            <a:off x="6210300" y="346296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Sensory experience</a:t>
            </a:r>
          </a:p>
        </p:txBody>
      </p:sp>
      <p:sp>
        <p:nvSpPr>
          <p:cNvPr id="22" name="box">
            <a:extLst>
              <a:ext uri="{FF2B5EF4-FFF2-40B4-BE49-F238E27FC236}">
                <a16:creationId xmlns:a16="http://schemas.microsoft.com/office/drawing/2014/main" id="{5D7A4DF2-35E3-4549-B520-35364016C0AD}"/>
              </a:ext>
            </a:extLst>
          </p:cNvPr>
          <p:cNvSpPr>
            <a:spLocks noGrp="1"/>
          </p:cNvSpPr>
          <p:nvPr/>
        </p:nvSpPr>
        <p:spPr>
          <a:xfrm>
            <a:off x="5905500" y="375285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23" name="rect">
            <a:extLst>
              <a:ext uri="{FF2B5EF4-FFF2-40B4-BE49-F238E27FC236}">
                <a16:creationId xmlns:a16="http://schemas.microsoft.com/office/drawing/2014/main" id="{9A290986-BC2E-4CF4-8100-2CD266A48FB9}"/>
              </a:ext>
            </a:extLst>
          </p:cNvPr>
          <p:cNvSpPr>
            <a:spLocks noGrp="1"/>
          </p:cNvSpPr>
          <p:nvPr/>
        </p:nvSpPr>
        <p:spPr>
          <a:xfrm>
            <a:off x="5905500" y="3752850"/>
            <a:ext cx="57150" cy="3238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76A2E65F-D5A3-489F-B2A4-6BA340B56D81}"/>
              </a:ext>
            </a:extLst>
          </p:cNvPr>
          <p:cNvSpPr>
            <a:spLocks noGrp="1"/>
          </p:cNvSpPr>
          <p:nvPr/>
        </p:nvSpPr>
        <p:spPr>
          <a:xfrm>
            <a:off x="6210300" y="378681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Comfort</a:t>
            </a:r>
          </a:p>
        </p:txBody>
      </p:sp>
      <p:sp>
        <p:nvSpPr>
          <p:cNvPr id="25" name="box">
            <a:extLst>
              <a:ext uri="{FF2B5EF4-FFF2-40B4-BE49-F238E27FC236}">
                <a16:creationId xmlns:a16="http://schemas.microsoft.com/office/drawing/2014/main" id="{9578EE0E-FECD-4C10-B3DB-D7B357EB6EA9}"/>
              </a:ext>
            </a:extLst>
          </p:cNvPr>
          <p:cNvSpPr>
            <a:spLocks noGrp="1"/>
          </p:cNvSpPr>
          <p:nvPr/>
        </p:nvSpPr>
        <p:spPr>
          <a:xfrm>
            <a:off x="5905500" y="407670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26" name="rect">
            <a:extLst>
              <a:ext uri="{FF2B5EF4-FFF2-40B4-BE49-F238E27FC236}">
                <a16:creationId xmlns:a16="http://schemas.microsoft.com/office/drawing/2014/main" id="{14C7D7C5-3DE3-4E7B-A963-57D4B5E25A47}"/>
              </a:ext>
            </a:extLst>
          </p:cNvPr>
          <p:cNvSpPr>
            <a:spLocks noGrp="1"/>
          </p:cNvSpPr>
          <p:nvPr/>
        </p:nvSpPr>
        <p:spPr>
          <a:xfrm>
            <a:off x="5905500" y="4076700"/>
            <a:ext cx="57150" cy="3238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F3BE15CA-EFA1-4D90-9D4B-6DE403E793F4}"/>
              </a:ext>
            </a:extLst>
          </p:cNvPr>
          <p:cNvSpPr>
            <a:spLocks noGrp="1"/>
          </p:cNvSpPr>
          <p:nvPr/>
        </p:nvSpPr>
        <p:spPr>
          <a:xfrm>
            <a:off x="6210300" y="411066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Accessibility</a:t>
            </a:r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4A909EE0-1C3F-4D64-BF81-D8BDF6FD18C3}"/>
              </a:ext>
            </a:extLst>
          </p:cNvPr>
          <p:cNvSpPr>
            <a:spLocks noGrp="1"/>
          </p:cNvSpPr>
          <p:nvPr/>
        </p:nvSpPr>
        <p:spPr>
          <a:xfrm>
            <a:off x="3143250" y="4810125"/>
            <a:ext cx="2286000" cy="4000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16054C9F-11D6-4568-8E81-9504C55FF37A}"/>
              </a:ext>
            </a:extLst>
          </p:cNvPr>
          <p:cNvSpPr>
            <a:spLocks noGrp="1"/>
          </p:cNvSpPr>
          <p:nvPr/>
        </p:nvSpPr>
        <p:spPr>
          <a:xfrm>
            <a:off x="3371850" y="4810125"/>
            <a:ext cx="1866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1050" b="1" dirty="0">
                <a:solidFill>
                  <a:srgbClr val="172033"/>
                </a:solidFill>
              </a:rPr>
              <a:t>Activity-related characteristics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1FDF1AF3-A5B3-4BDD-8169-0B5EC460D8C1}"/>
              </a:ext>
            </a:extLst>
          </p:cNvPr>
          <p:cNvSpPr>
            <a:spLocks noGrp="1"/>
          </p:cNvSpPr>
          <p:nvPr/>
        </p:nvSpPr>
        <p:spPr>
          <a:xfrm>
            <a:off x="5467350" y="4914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7C8796"/>
                </a:solidFill>
              </a:defRPr>
            </a:pPr>
            <a:r>
              <a:rPr sz="1350" b="0">
                <a:solidFill>
                  <a:srgbClr val="7C8796"/>
                </a:solidFill>
              </a:rPr>
              <a:t>─</a:t>
            </a:r>
          </a:p>
        </p:txBody>
      </p:sp>
      <p:sp>
        <p:nvSpPr>
          <p:cNvPr id="31" name="box">
            <a:extLst>
              <a:ext uri="{FF2B5EF4-FFF2-40B4-BE49-F238E27FC236}">
                <a16:creationId xmlns:a16="http://schemas.microsoft.com/office/drawing/2014/main" id="{03C53238-C746-4606-86EE-654A4BC60190}"/>
              </a:ext>
            </a:extLst>
          </p:cNvPr>
          <p:cNvSpPr>
            <a:spLocks noGrp="1"/>
          </p:cNvSpPr>
          <p:nvPr/>
        </p:nvSpPr>
        <p:spPr>
          <a:xfrm>
            <a:off x="5905500" y="468630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32" name="rect">
            <a:extLst>
              <a:ext uri="{FF2B5EF4-FFF2-40B4-BE49-F238E27FC236}">
                <a16:creationId xmlns:a16="http://schemas.microsoft.com/office/drawing/2014/main" id="{E92E6A62-6577-4981-A1B9-6B342EEB2280}"/>
              </a:ext>
            </a:extLst>
          </p:cNvPr>
          <p:cNvSpPr>
            <a:spLocks noGrp="1"/>
          </p:cNvSpPr>
          <p:nvPr/>
        </p:nvSpPr>
        <p:spPr>
          <a:xfrm>
            <a:off x="5905500" y="4686300"/>
            <a:ext cx="57150" cy="32385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D5B7687A-0776-4E5D-87FD-F2ECA645FBB4}"/>
              </a:ext>
            </a:extLst>
          </p:cNvPr>
          <p:cNvSpPr>
            <a:spLocks noGrp="1"/>
          </p:cNvSpPr>
          <p:nvPr/>
        </p:nvSpPr>
        <p:spPr>
          <a:xfrm>
            <a:off x="6210300" y="472026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Activity</a:t>
            </a:r>
          </a:p>
        </p:txBody>
      </p:sp>
      <p:sp>
        <p:nvSpPr>
          <p:cNvPr id="34" name="box">
            <a:extLst>
              <a:ext uri="{FF2B5EF4-FFF2-40B4-BE49-F238E27FC236}">
                <a16:creationId xmlns:a16="http://schemas.microsoft.com/office/drawing/2014/main" id="{B2BBD9BF-C5AE-4905-8A39-B883EDBB915C}"/>
              </a:ext>
            </a:extLst>
          </p:cNvPr>
          <p:cNvSpPr>
            <a:spLocks noGrp="1"/>
          </p:cNvSpPr>
          <p:nvPr/>
        </p:nvSpPr>
        <p:spPr>
          <a:xfrm>
            <a:off x="5905500" y="501015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35" name="rect">
            <a:extLst>
              <a:ext uri="{FF2B5EF4-FFF2-40B4-BE49-F238E27FC236}">
                <a16:creationId xmlns:a16="http://schemas.microsoft.com/office/drawing/2014/main" id="{C6670C10-54C6-4215-A062-2CBC15EC96F2}"/>
              </a:ext>
            </a:extLst>
          </p:cNvPr>
          <p:cNvSpPr>
            <a:spLocks noGrp="1"/>
          </p:cNvSpPr>
          <p:nvPr/>
        </p:nvSpPr>
        <p:spPr>
          <a:xfrm>
            <a:off x="5905500" y="5010150"/>
            <a:ext cx="57150" cy="32385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BC63DF54-3365-4E89-86DC-1838A56DDA8F}"/>
              </a:ext>
            </a:extLst>
          </p:cNvPr>
          <p:cNvSpPr>
            <a:spLocks noGrp="1"/>
          </p:cNvSpPr>
          <p:nvPr/>
        </p:nvSpPr>
        <p:spPr>
          <a:xfrm>
            <a:off x="6210300" y="504411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Interactivity</a:t>
            </a:r>
          </a:p>
        </p:txBody>
      </p:sp>
      <p:sp>
        <p:nvSpPr>
          <p:cNvPr id="37" name="box">
            <a:extLst>
              <a:ext uri="{FF2B5EF4-FFF2-40B4-BE49-F238E27FC236}">
                <a16:creationId xmlns:a16="http://schemas.microsoft.com/office/drawing/2014/main" id="{51525D1A-B595-4238-B9A5-8BE430F55869}"/>
              </a:ext>
            </a:extLst>
          </p:cNvPr>
          <p:cNvSpPr>
            <a:spLocks noGrp="1"/>
          </p:cNvSpPr>
          <p:nvPr/>
        </p:nvSpPr>
        <p:spPr>
          <a:xfrm>
            <a:off x="3143250" y="5867400"/>
            <a:ext cx="2286000" cy="4000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F7B122C3-0077-42DF-8E67-3DDFE667464E}"/>
              </a:ext>
            </a:extLst>
          </p:cNvPr>
          <p:cNvSpPr>
            <a:spLocks noGrp="1"/>
          </p:cNvSpPr>
          <p:nvPr/>
        </p:nvSpPr>
        <p:spPr>
          <a:xfrm>
            <a:off x="3390900" y="5857875"/>
            <a:ext cx="1866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1050" b="1" dirty="0">
                <a:solidFill>
                  <a:srgbClr val="172033"/>
                </a:solidFill>
              </a:rPr>
              <a:t>Meaning-related characteristics</a:t>
            </a:r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BE1272BE-22DE-4396-9AB2-5225663BBEC8}"/>
              </a:ext>
            </a:extLst>
          </p:cNvPr>
          <p:cNvSpPr>
            <a:spLocks noGrp="1"/>
          </p:cNvSpPr>
          <p:nvPr/>
        </p:nvSpPr>
        <p:spPr>
          <a:xfrm>
            <a:off x="5467350" y="597217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7C8796"/>
                </a:solidFill>
              </a:defRPr>
            </a:pPr>
            <a:r>
              <a:rPr sz="1350" b="0">
                <a:solidFill>
                  <a:srgbClr val="7C8796"/>
                </a:solidFill>
              </a:rPr>
              <a:t>─</a:t>
            </a:r>
          </a:p>
        </p:txBody>
      </p:sp>
      <p:sp>
        <p:nvSpPr>
          <p:cNvPr id="40" name="box">
            <a:extLst>
              <a:ext uri="{FF2B5EF4-FFF2-40B4-BE49-F238E27FC236}">
                <a16:creationId xmlns:a16="http://schemas.microsoft.com/office/drawing/2014/main" id="{12FC0ED6-7A3A-4CAF-A83A-6EB684995E39}"/>
              </a:ext>
            </a:extLst>
          </p:cNvPr>
          <p:cNvSpPr>
            <a:spLocks noGrp="1"/>
          </p:cNvSpPr>
          <p:nvPr/>
        </p:nvSpPr>
        <p:spPr>
          <a:xfrm>
            <a:off x="5905500" y="558165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41" name="rect">
            <a:extLst>
              <a:ext uri="{FF2B5EF4-FFF2-40B4-BE49-F238E27FC236}">
                <a16:creationId xmlns:a16="http://schemas.microsoft.com/office/drawing/2014/main" id="{19A1CB60-0556-4030-B4B5-E873B0B15B5D}"/>
              </a:ext>
            </a:extLst>
          </p:cNvPr>
          <p:cNvSpPr>
            <a:spLocks noGrp="1"/>
          </p:cNvSpPr>
          <p:nvPr/>
        </p:nvSpPr>
        <p:spPr>
          <a:xfrm>
            <a:off x="5905500" y="5581650"/>
            <a:ext cx="57150" cy="32385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42" name="text">
            <a:extLst>
              <a:ext uri="{FF2B5EF4-FFF2-40B4-BE49-F238E27FC236}">
                <a16:creationId xmlns:a16="http://schemas.microsoft.com/office/drawing/2014/main" id="{188CFF58-29F8-4182-97B1-34A437652213}"/>
              </a:ext>
            </a:extLst>
          </p:cNvPr>
          <p:cNvSpPr>
            <a:spLocks noGrp="1"/>
          </p:cNvSpPr>
          <p:nvPr/>
        </p:nvSpPr>
        <p:spPr>
          <a:xfrm>
            <a:off x="6210300" y="561561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Symbolism</a:t>
            </a:r>
          </a:p>
        </p:txBody>
      </p:sp>
      <p:sp>
        <p:nvSpPr>
          <p:cNvPr id="43" name="box">
            <a:extLst>
              <a:ext uri="{FF2B5EF4-FFF2-40B4-BE49-F238E27FC236}">
                <a16:creationId xmlns:a16="http://schemas.microsoft.com/office/drawing/2014/main" id="{BF0B5068-95C2-4015-B964-FC45A7EC758F}"/>
              </a:ext>
            </a:extLst>
          </p:cNvPr>
          <p:cNvSpPr>
            <a:spLocks noGrp="1"/>
          </p:cNvSpPr>
          <p:nvPr/>
        </p:nvSpPr>
        <p:spPr>
          <a:xfrm>
            <a:off x="5905500" y="590550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44" name="rect">
            <a:extLst>
              <a:ext uri="{FF2B5EF4-FFF2-40B4-BE49-F238E27FC236}">
                <a16:creationId xmlns:a16="http://schemas.microsoft.com/office/drawing/2014/main" id="{7342F81A-577E-4C4F-B0BC-AC704C672A7D}"/>
              </a:ext>
            </a:extLst>
          </p:cNvPr>
          <p:cNvSpPr>
            <a:spLocks noGrp="1"/>
          </p:cNvSpPr>
          <p:nvPr/>
        </p:nvSpPr>
        <p:spPr>
          <a:xfrm>
            <a:off x="5905500" y="5905500"/>
            <a:ext cx="57150" cy="32385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45" name="text">
            <a:extLst>
              <a:ext uri="{FF2B5EF4-FFF2-40B4-BE49-F238E27FC236}">
                <a16:creationId xmlns:a16="http://schemas.microsoft.com/office/drawing/2014/main" id="{C624E467-86B6-450A-AAAA-C933E0DB7EB0}"/>
              </a:ext>
            </a:extLst>
          </p:cNvPr>
          <p:cNvSpPr>
            <a:spLocks noGrp="1"/>
          </p:cNvSpPr>
          <p:nvPr/>
        </p:nvSpPr>
        <p:spPr>
          <a:xfrm>
            <a:off x="6210300" y="593946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Memory and preference</a:t>
            </a:r>
          </a:p>
        </p:txBody>
      </p:sp>
      <p:sp>
        <p:nvSpPr>
          <p:cNvPr id="46" name="box">
            <a:extLst>
              <a:ext uri="{FF2B5EF4-FFF2-40B4-BE49-F238E27FC236}">
                <a16:creationId xmlns:a16="http://schemas.microsoft.com/office/drawing/2014/main" id="{010377FD-8EED-427F-812F-1DBD5B7FC23A}"/>
              </a:ext>
            </a:extLst>
          </p:cNvPr>
          <p:cNvSpPr>
            <a:spLocks noGrp="1"/>
          </p:cNvSpPr>
          <p:nvPr/>
        </p:nvSpPr>
        <p:spPr>
          <a:xfrm>
            <a:off x="5905500" y="6229350"/>
            <a:ext cx="3143250" cy="323850"/>
          </a:xfrm>
          <a:prstGeom prst="roundRect">
            <a:avLst>
              <a:gd name="adj" fmla="val 0"/>
            </a:avLst>
          </a:prstGeom>
          <a:solidFill>
            <a:srgbClr val="F2F4F7"/>
          </a:solidFill>
          <a:ln w="9525">
            <a:solidFill>
              <a:srgbClr val="7C8796"/>
            </a:solidFill>
            <a:prstDash val="solid"/>
          </a:ln>
        </p:spPr>
      </p:sp>
      <p:sp>
        <p:nvSpPr>
          <p:cNvPr id="47" name="rect">
            <a:extLst>
              <a:ext uri="{FF2B5EF4-FFF2-40B4-BE49-F238E27FC236}">
                <a16:creationId xmlns:a16="http://schemas.microsoft.com/office/drawing/2014/main" id="{3D84EA2A-AAA3-4FC4-8DB6-2554DCA92D53}"/>
              </a:ext>
            </a:extLst>
          </p:cNvPr>
          <p:cNvSpPr>
            <a:spLocks noGrp="1"/>
          </p:cNvSpPr>
          <p:nvPr/>
        </p:nvSpPr>
        <p:spPr>
          <a:xfrm>
            <a:off x="5905500" y="6229350"/>
            <a:ext cx="57150" cy="32385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48" name="text">
            <a:extLst>
              <a:ext uri="{FF2B5EF4-FFF2-40B4-BE49-F238E27FC236}">
                <a16:creationId xmlns:a16="http://schemas.microsoft.com/office/drawing/2014/main" id="{EC14CADD-D256-44D8-A715-43244C7063F1}"/>
              </a:ext>
            </a:extLst>
          </p:cNvPr>
          <p:cNvSpPr>
            <a:spLocks noGrp="1"/>
          </p:cNvSpPr>
          <p:nvPr/>
        </p:nvSpPr>
        <p:spPr>
          <a:xfrm>
            <a:off x="6210300" y="6263316"/>
            <a:ext cx="2381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172033"/>
                </a:solidFill>
              </a:defRPr>
            </a:pPr>
            <a:r>
              <a:rPr sz="1100" b="1">
                <a:solidFill>
                  <a:srgbClr val="172033"/>
                </a:solidFill>
              </a:rPr>
              <a:t>Local identity</a:t>
            </a:r>
          </a:p>
        </p:txBody>
      </p:sp>
    </p:spTree>
    <p:extLst>
      <p:ext uri="{BB962C8B-B14F-4D97-AF65-F5344CB8AC3E}">
        <p14:creationId xmlns:p14="http://schemas.microsoft.com/office/powerpoint/2010/main" val="1179172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op-accent">
            <a:extLst>
              <a:ext uri="{FF2B5EF4-FFF2-40B4-BE49-F238E27FC236}">
                <a16:creationId xmlns:a16="http://schemas.microsoft.com/office/drawing/2014/main" id="{A2E9590E-B311-4D99-BCBB-71D9528191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14594A4-5B91-4CBD-BF4E-2BA8C686CC8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LITERATURE REVIEW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55C583B-17DE-4CB2-B8F5-EFBFFB9DEB9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Definitions and Keywords of Placeness Factors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E635D6AA-EFAA-4557-A8A7-0877E4755ABA}"/>
              </a:ext>
            </a:extLst>
          </p:cNvPr>
          <p:cNvSpPr>
            <a:spLocks noGrp="1"/>
          </p:cNvSpPr>
          <p:nvPr/>
        </p:nvSpPr>
        <p:spPr>
          <a:xfrm>
            <a:off x="819150" y="158115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86372F5-875A-43DF-AF69-166B3E57EA51}"/>
              </a:ext>
            </a:extLst>
          </p:cNvPr>
          <p:cNvSpPr>
            <a:spLocks noGrp="1"/>
          </p:cNvSpPr>
          <p:nvPr/>
        </p:nvSpPr>
        <p:spPr>
          <a:xfrm>
            <a:off x="990600" y="171450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F6EA6"/>
                </a:solidFill>
              </a:defRPr>
            </a:pPr>
            <a:r>
              <a:rPr sz="1275" b="1">
                <a:solidFill>
                  <a:srgbClr val="2F6EA6"/>
                </a:solidFill>
              </a:rPr>
              <a:t>Aesthetics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E75B854-3BCB-4CCB-852E-A3D6C97DE92B}"/>
              </a:ext>
            </a:extLst>
          </p:cNvPr>
          <p:cNvSpPr>
            <a:spLocks noGrp="1"/>
          </p:cNvSpPr>
          <p:nvPr/>
        </p:nvSpPr>
        <p:spPr>
          <a:xfrm>
            <a:off x="2743200" y="17145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visual quality, design, atmosphere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BCBA6BBB-3145-4131-8234-BBFFAB80363D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0137BE7-1F36-43A8-BE47-E80F2C324B8B}"/>
              </a:ext>
            </a:extLst>
          </p:cNvPr>
          <p:cNvSpPr>
            <a:spLocks noGrp="1"/>
          </p:cNvSpPr>
          <p:nvPr/>
        </p:nvSpPr>
        <p:spPr>
          <a:xfrm>
            <a:off x="990600" y="253365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F6EA6"/>
                </a:solidFill>
              </a:defRPr>
            </a:pPr>
            <a:r>
              <a:rPr sz="1275" b="1">
                <a:solidFill>
                  <a:srgbClr val="2F6EA6"/>
                </a:solidFill>
              </a:rPr>
              <a:t>Openness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40AB3B6-DDF9-46A6-8EA9-8366525D9CAA}"/>
              </a:ext>
            </a:extLst>
          </p:cNvPr>
          <p:cNvSpPr>
            <a:spLocks noGrp="1"/>
          </p:cNvSpPr>
          <p:nvPr/>
        </p:nvSpPr>
        <p:spPr>
          <a:xfrm>
            <a:off x="2743200" y="25336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large windows, views, spaciousness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6D2EF51C-D753-46D1-936A-E00F068E1B00}"/>
              </a:ext>
            </a:extLst>
          </p:cNvPr>
          <p:cNvSpPr>
            <a:spLocks noGrp="1"/>
          </p:cNvSpPr>
          <p:nvPr/>
        </p:nvSpPr>
        <p:spPr>
          <a:xfrm>
            <a:off x="819150" y="321945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D7B20542-89E6-4208-BE96-9161FCD488EA}"/>
              </a:ext>
            </a:extLst>
          </p:cNvPr>
          <p:cNvSpPr>
            <a:spLocks noGrp="1"/>
          </p:cNvSpPr>
          <p:nvPr/>
        </p:nvSpPr>
        <p:spPr>
          <a:xfrm>
            <a:off x="990600" y="335280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F6EA6"/>
                </a:solidFill>
              </a:defRPr>
            </a:pPr>
            <a:r>
              <a:rPr sz="1275" b="1">
                <a:solidFill>
                  <a:srgbClr val="2F6EA6"/>
                </a:solidFill>
              </a:rPr>
              <a:t>Sensory experience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6836A59-0E4E-409D-BE20-641225DC5E8D}"/>
              </a:ext>
            </a:extLst>
          </p:cNvPr>
          <p:cNvSpPr>
            <a:spLocks noGrp="1"/>
          </p:cNvSpPr>
          <p:nvPr/>
        </p:nvSpPr>
        <p:spPr>
          <a:xfrm>
            <a:off x="2743200" y="33528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light, smell, sound, taste, tactile comfort</a:t>
            </a:r>
          </a:p>
        </p:txBody>
      </p:sp>
      <p:sp>
        <p:nvSpPr>
          <p:cNvPr id="14" name="box">
            <a:extLst>
              <a:ext uri="{FF2B5EF4-FFF2-40B4-BE49-F238E27FC236}">
                <a16:creationId xmlns:a16="http://schemas.microsoft.com/office/drawing/2014/main" id="{A9C03FF0-E040-4749-A39B-1E3FDCEA2DF3}"/>
              </a:ext>
            </a:extLst>
          </p:cNvPr>
          <p:cNvSpPr>
            <a:spLocks noGrp="1"/>
          </p:cNvSpPr>
          <p:nvPr/>
        </p:nvSpPr>
        <p:spPr>
          <a:xfrm>
            <a:off x="819150" y="403860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53AFC605-4900-4DC8-B529-613B8C6851D5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F6EA6"/>
                </a:solidFill>
              </a:defRPr>
            </a:pPr>
            <a:r>
              <a:rPr sz="1275" b="1">
                <a:solidFill>
                  <a:srgbClr val="2F6EA6"/>
                </a:solidFill>
              </a:rPr>
              <a:t>Accessibility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7016B97D-323A-497B-B38A-53CF48C33F23}"/>
              </a:ext>
            </a:extLst>
          </p:cNvPr>
          <p:cNvSpPr>
            <a:spLocks noGrp="1"/>
          </p:cNvSpPr>
          <p:nvPr/>
        </p:nvSpPr>
        <p:spPr>
          <a:xfrm>
            <a:off x="2743200" y="41719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location, transit, parking, entry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FD3EAB64-6933-4A38-8DB5-40E588973E54}"/>
              </a:ext>
            </a:extLst>
          </p:cNvPr>
          <p:cNvSpPr>
            <a:spLocks noGrp="1"/>
          </p:cNvSpPr>
          <p:nvPr/>
        </p:nvSpPr>
        <p:spPr>
          <a:xfrm>
            <a:off x="819150" y="485775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EFA4BA4F-4AFE-43AC-9972-96E01B7CF26D}"/>
              </a:ext>
            </a:extLst>
          </p:cNvPr>
          <p:cNvSpPr>
            <a:spLocks noGrp="1"/>
          </p:cNvSpPr>
          <p:nvPr/>
        </p:nvSpPr>
        <p:spPr>
          <a:xfrm>
            <a:off x="990600" y="499110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F6EA6"/>
                </a:solidFill>
              </a:defRPr>
            </a:pPr>
            <a:r>
              <a:rPr sz="1275" b="1">
                <a:solidFill>
                  <a:srgbClr val="2F6EA6"/>
                </a:solidFill>
              </a:rPr>
              <a:t>Comfort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3CED692F-9EBD-4301-93A0-11F88374C01E}"/>
              </a:ext>
            </a:extLst>
          </p:cNvPr>
          <p:cNvSpPr>
            <a:spLocks noGrp="1"/>
          </p:cNvSpPr>
          <p:nvPr/>
        </p:nvSpPr>
        <p:spPr>
          <a:xfrm>
            <a:off x="2743200" y="49911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cleanliness, seating, temperature, crowding</a:t>
            </a:r>
          </a:p>
        </p:txBody>
      </p:sp>
      <p:sp>
        <p:nvSpPr>
          <p:cNvPr id="20" name="box">
            <a:extLst>
              <a:ext uri="{FF2B5EF4-FFF2-40B4-BE49-F238E27FC236}">
                <a16:creationId xmlns:a16="http://schemas.microsoft.com/office/drawing/2014/main" id="{6AB7C9E9-B13C-44B2-A70C-4D719A280FDD}"/>
              </a:ext>
            </a:extLst>
          </p:cNvPr>
          <p:cNvSpPr>
            <a:spLocks noGrp="1"/>
          </p:cNvSpPr>
          <p:nvPr/>
        </p:nvSpPr>
        <p:spPr>
          <a:xfrm>
            <a:off x="6305550" y="158115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E136401D-8A87-42CC-867E-5352CCA5E397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9AD35B"/>
                </a:solidFill>
              </a:defRPr>
            </a:pPr>
            <a:r>
              <a:rPr sz="1275" b="1">
                <a:solidFill>
                  <a:srgbClr val="9AD35B"/>
                </a:solidFill>
              </a:rPr>
              <a:t>Activity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D5EB19D0-144A-4A80-A438-CB8A514E90B4}"/>
              </a:ext>
            </a:extLst>
          </p:cNvPr>
          <p:cNvSpPr>
            <a:spLocks noGrp="1"/>
          </p:cNvSpPr>
          <p:nvPr/>
        </p:nvSpPr>
        <p:spPr>
          <a:xfrm>
            <a:off x="8229600" y="17145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work, reading, staying, gathering</a:t>
            </a:r>
          </a:p>
        </p:txBody>
      </p:sp>
      <p:sp>
        <p:nvSpPr>
          <p:cNvPr id="23" name="box">
            <a:extLst>
              <a:ext uri="{FF2B5EF4-FFF2-40B4-BE49-F238E27FC236}">
                <a16:creationId xmlns:a16="http://schemas.microsoft.com/office/drawing/2014/main" id="{5D88EF51-ACF6-4695-95F5-3305F03EB16B}"/>
              </a:ext>
            </a:extLst>
          </p:cNvPr>
          <p:cNvSpPr>
            <a:spLocks noGrp="1"/>
          </p:cNvSpPr>
          <p:nvPr/>
        </p:nvSpPr>
        <p:spPr>
          <a:xfrm>
            <a:off x="6305550" y="240030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908680C5-408C-4C41-8A89-2E86EB38B3F2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9AD35B"/>
                </a:solidFill>
              </a:defRPr>
            </a:pPr>
            <a:r>
              <a:rPr sz="1275" b="1">
                <a:solidFill>
                  <a:srgbClr val="9AD35B"/>
                </a:solidFill>
              </a:rPr>
              <a:t>Interaction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9349CDD3-F765-4AF0-B15A-3957870B23A5}"/>
              </a:ext>
            </a:extLst>
          </p:cNvPr>
          <p:cNvSpPr>
            <a:spLocks noGrp="1"/>
          </p:cNvSpPr>
          <p:nvPr/>
        </p:nvSpPr>
        <p:spPr>
          <a:xfrm>
            <a:off x="8229600" y="25336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staff, companions, social exchange</a:t>
            </a:r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810645A8-0423-44E4-B955-8ADF23425119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EED3E06E-4377-4805-8A8B-86C975F2AA46}"/>
              </a:ext>
            </a:extLst>
          </p:cNvPr>
          <p:cNvSpPr>
            <a:spLocks noGrp="1"/>
          </p:cNvSpPr>
          <p:nvPr/>
        </p:nvSpPr>
        <p:spPr>
          <a:xfrm>
            <a:off x="6477000" y="335280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9AD35B"/>
                </a:solidFill>
              </a:defRPr>
            </a:pPr>
            <a:r>
              <a:rPr sz="1275" b="1">
                <a:solidFill>
                  <a:srgbClr val="9AD35B"/>
                </a:solidFill>
              </a:rPr>
              <a:t>Symbolism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F7B31585-3999-4A98-ACF6-14E40A8F129C}"/>
              </a:ext>
            </a:extLst>
          </p:cNvPr>
          <p:cNvSpPr>
            <a:spLocks noGrp="1"/>
          </p:cNvSpPr>
          <p:nvPr/>
        </p:nvSpPr>
        <p:spPr>
          <a:xfrm>
            <a:off x="8229600" y="33528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landmark, uniqueness, representative image</a:t>
            </a:r>
          </a:p>
        </p:txBody>
      </p:sp>
      <p:sp>
        <p:nvSpPr>
          <p:cNvPr id="29" name="box">
            <a:extLst>
              <a:ext uri="{FF2B5EF4-FFF2-40B4-BE49-F238E27FC236}">
                <a16:creationId xmlns:a16="http://schemas.microsoft.com/office/drawing/2014/main" id="{C01C30C8-F98A-49C1-86E9-33D7DF48952D}"/>
              </a:ext>
            </a:extLst>
          </p:cNvPr>
          <p:cNvSpPr>
            <a:spLocks noGrp="1"/>
          </p:cNvSpPr>
          <p:nvPr/>
        </p:nvSpPr>
        <p:spPr>
          <a:xfrm>
            <a:off x="6305550" y="403860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42E6C955-136E-44AF-B65F-49C0404C87FA}"/>
              </a:ext>
            </a:extLst>
          </p:cNvPr>
          <p:cNvSpPr>
            <a:spLocks noGrp="1"/>
          </p:cNvSpPr>
          <p:nvPr/>
        </p:nvSpPr>
        <p:spPr>
          <a:xfrm>
            <a:off x="6477000" y="417195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9AD35B"/>
                </a:solidFill>
              </a:defRPr>
            </a:pPr>
            <a:r>
              <a:rPr sz="1275" b="1" dirty="0">
                <a:solidFill>
                  <a:srgbClr val="F5BE4B"/>
                </a:solidFill>
              </a:rPr>
              <a:t>Memory &amp; preference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849092E1-C00D-43A5-9A4F-95BD04DEF48F}"/>
              </a:ext>
            </a:extLst>
          </p:cNvPr>
          <p:cNvSpPr>
            <a:spLocks noGrp="1"/>
          </p:cNvSpPr>
          <p:nvPr/>
        </p:nvSpPr>
        <p:spPr>
          <a:xfrm>
            <a:off x="8229600" y="41719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revisit intention, attachment, favorite place</a:t>
            </a:r>
          </a:p>
        </p:txBody>
      </p:sp>
      <p:sp>
        <p:nvSpPr>
          <p:cNvPr id="32" name="box">
            <a:extLst>
              <a:ext uri="{FF2B5EF4-FFF2-40B4-BE49-F238E27FC236}">
                <a16:creationId xmlns:a16="http://schemas.microsoft.com/office/drawing/2014/main" id="{C9BD7E86-303D-441B-A1EF-384E6062E251}"/>
              </a:ext>
            </a:extLst>
          </p:cNvPr>
          <p:cNvSpPr>
            <a:spLocks noGrp="1"/>
          </p:cNvSpPr>
          <p:nvPr/>
        </p:nvSpPr>
        <p:spPr>
          <a:xfrm>
            <a:off x="6305550" y="485775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A627CDE5-F0F8-4CD0-A611-8DB6A7C01A1B}"/>
              </a:ext>
            </a:extLst>
          </p:cNvPr>
          <p:cNvSpPr>
            <a:spLocks noGrp="1"/>
          </p:cNvSpPr>
          <p:nvPr/>
        </p:nvSpPr>
        <p:spPr>
          <a:xfrm>
            <a:off x="6477000" y="499110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9AD35B"/>
                </a:solidFill>
              </a:defRPr>
            </a:pPr>
            <a:r>
              <a:rPr sz="1275" b="1" dirty="0">
                <a:solidFill>
                  <a:srgbClr val="F5BE4B"/>
                </a:solidFill>
              </a:rPr>
              <a:t>Local identity</a:t>
            </a: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53CBC1B0-5592-4542-BBCF-395B1F8B1E00}"/>
              </a:ext>
            </a:extLst>
          </p:cNvPr>
          <p:cNvSpPr>
            <a:spLocks noGrp="1"/>
          </p:cNvSpPr>
          <p:nvPr/>
        </p:nvSpPr>
        <p:spPr>
          <a:xfrm>
            <a:off x="8229600" y="49911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6173"/>
                </a:solidFill>
              </a:defRPr>
            </a:pPr>
            <a:r>
              <a:rPr sz="1125" b="0">
                <a:solidFill>
                  <a:srgbClr val="556173"/>
                </a:solidFill>
              </a:rPr>
              <a:t>neighborhood character, local context</a:t>
            </a:r>
          </a:p>
        </p:txBody>
      </p:sp>
    </p:spTree>
    <p:extLst>
      <p:ext uri="{BB962C8B-B14F-4D97-AF65-F5344CB8AC3E}">
        <p14:creationId xmlns:p14="http://schemas.microsoft.com/office/powerpoint/2010/main" val="1628016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op-accent">
            <a:extLst>
              <a:ext uri="{FF2B5EF4-FFF2-40B4-BE49-F238E27FC236}">
                <a16:creationId xmlns:a16="http://schemas.microsoft.com/office/drawing/2014/main" id="{B3864FF4-B7BF-4C30-A390-0DB8F7B558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E24E19D-2E90-4723-B993-A6B9139DE14C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LITERATURE REVIEW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CA1C8C0-9CD6-46EC-9DBC-D57844513782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Review Expressions by Placeness Factor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0135498-2F16-4D5E-A1C3-EF222F6D42BF}"/>
              </a:ext>
            </a:extLst>
          </p:cNvPr>
          <p:cNvSpPr>
            <a:spLocks noGrp="1"/>
          </p:cNvSpPr>
          <p:nvPr/>
        </p:nvSpPr>
        <p:spPr>
          <a:xfrm>
            <a:off x="819150" y="1543050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Each factor was defined so that it can be identified through expressions that appear in user reviews.</a:t>
            </a:r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E8C973BA-7A69-4FE2-BDDA-EDF5594BB906}"/>
              </a:ext>
            </a:extLst>
          </p:cNvPr>
          <p:cNvSpPr>
            <a:spLocks noGrp="1"/>
          </p:cNvSpPr>
          <p:nvPr/>
        </p:nvSpPr>
        <p:spPr>
          <a:xfrm>
            <a:off x="1238250" y="2476500"/>
            <a:ext cx="9715500" cy="457200"/>
          </a:xfrm>
          <a:prstGeom prst="roundRect">
            <a:avLst>
              <a:gd name="adj" fmla="val 16667"/>
            </a:avLst>
          </a:prstGeom>
          <a:solidFill>
            <a:srgbClr val="E8F3FF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A017D4B-496F-47AF-ABFE-4B02397B9D5D}"/>
              </a:ext>
            </a:extLst>
          </p:cNvPr>
          <p:cNvSpPr>
            <a:spLocks noGrp="1"/>
          </p:cNvSpPr>
          <p:nvPr/>
        </p:nvSpPr>
        <p:spPr>
          <a:xfrm>
            <a:off x="1504950" y="26003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EA6"/>
                </a:solidFill>
              </a:defRPr>
            </a:pPr>
            <a:r>
              <a:rPr sz="1200" b="1">
                <a:solidFill>
                  <a:srgbClr val="2F6EA6"/>
                </a:solidFill>
              </a:rPr>
              <a:t>Openness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91DCCD9-044E-40EE-B58B-58F1C9CE7759}"/>
              </a:ext>
            </a:extLst>
          </p:cNvPr>
          <p:cNvSpPr>
            <a:spLocks noGrp="1"/>
          </p:cNvSpPr>
          <p:nvPr/>
        </p:nvSpPr>
        <p:spPr>
          <a:xfrm>
            <a:off x="3810000" y="2590800"/>
            <a:ext cx="676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“The space feels open because the windows are large.”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87F8B805-3D92-4CA9-A3EC-83B3FB6C0BEC}"/>
              </a:ext>
            </a:extLst>
          </p:cNvPr>
          <p:cNvSpPr>
            <a:spLocks noGrp="1"/>
          </p:cNvSpPr>
          <p:nvPr/>
        </p:nvSpPr>
        <p:spPr>
          <a:xfrm>
            <a:off x="1238250" y="3143250"/>
            <a:ext cx="9715500" cy="457200"/>
          </a:xfrm>
          <a:prstGeom prst="roundRect">
            <a:avLst>
              <a:gd name="adj" fmla="val 16667"/>
            </a:avLst>
          </a:prstGeom>
          <a:solidFill>
            <a:srgbClr val="FFF4DC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DB1500B-81AC-4417-98D0-F3A323D601A2}"/>
              </a:ext>
            </a:extLst>
          </p:cNvPr>
          <p:cNvSpPr>
            <a:spLocks noGrp="1"/>
          </p:cNvSpPr>
          <p:nvPr/>
        </p:nvSpPr>
        <p:spPr>
          <a:xfrm>
            <a:off x="1504950" y="32670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EA6"/>
                </a:solidFill>
              </a:defRPr>
            </a:pPr>
            <a:r>
              <a:rPr sz="1200" b="1">
                <a:solidFill>
                  <a:srgbClr val="2F6EA6"/>
                </a:solidFill>
              </a:rPr>
              <a:t>Accessibility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A2D6A406-FACD-46EA-9D4F-9565364C61D6}"/>
              </a:ext>
            </a:extLst>
          </p:cNvPr>
          <p:cNvSpPr>
            <a:spLocks noGrp="1"/>
          </p:cNvSpPr>
          <p:nvPr/>
        </p:nvSpPr>
        <p:spPr>
          <a:xfrm>
            <a:off x="3810000" y="3257550"/>
            <a:ext cx="676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“Parking was inconvenient.”</a:t>
            </a:r>
          </a:p>
        </p:txBody>
      </p:sp>
      <p:sp>
        <p:nvSpPr>
          <p:cNvPr id="12" name="box">
            <a:extLst>
              <a:ext uri="{FF2B5EF4-FFF2-40B4-BE49-F238E27FC236}">
                <a16:creationId xmlns:a16="http://schemas.microsoft.com/office/drawing/2014/main" id="{66CC35CF-94B1-414D-AF0C-A4A1C5E5E95A}"/>
              </a:ext>
            </a:extLst>
          </p:cNvPr>
          <p:cNvSpPr>
            <a:spLocks noGrp="1"/>
          </p:cNvSpPr>
          <p:nvPr/>
        </p:nvSpPr>
        <p:spPr>
          <a:xfrm>
            <a:off x="1238250" y="3810000"/>
            <a:ext cx="9715500" cy="457200"/>
          </a:xfrm>
          <a:prstGeom prst="roundRect">
            <a:avLst>
              <a:gd name="adj" fmla="val 16667"/>
            </a:avLst>
          </a:prstGeom>
          <a:solidFill>
            <a:srgbClr val="E8F3FF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D70BBBB-1825-4896-B67E-89BDEC4B585E}"/>
              </a:ext>
            </a:extLst>
          </p:cNvPr>
          <p:cNvSpPr>
            <a:spLocks noGrp="1"/>
          </p:cNvSpPr>
          <p:nvPr/>
        </p:nvSpPr>
        <p:spPr>
          <a:xfrm>
            <a:off x="1504950" y="39338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EA6"/>
                </a:solidFill>
              </a:defRPr>
            </a:pPr>
            <a:r>
              <a:rPr sz="1200" b="1">
                <a:solidFill>
                  <a:srgbClr val="2F6EA6"/>
                </a:solidFill>
              </a:rPr>
              <a:t>Comfort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5B7CE936-B5A3-4274-BA11-08B7013C1A4E}"/>
              </a:ext>
            </a:extLst>
          </p:cNvPr>
          <p:cNvSpPr>
            <a:spLocks noGrp="1"/>
          </p:cNvSpPr>
          <p:nvPr/>
        </p:nvSpPr>
        <p:spPr>
          <a:xfrm>
            <a:off x="3810000" y="3924300"/>
            <a:ext cx="676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“The restroom was clean and well managed.”</a:t>
            </a:r>
          </a:p>
        </p:txBody>
      </p:sp>
      <p:sp>
        <p:nvSpPr>
          <p:cNvPr id="15" name="box">
            <a:extLst>
              <a:ext uri="{FF2B5EF4-FFF2-40B4-BE49-F238E27FC236}">
                <a16:creationId xmlns:a16="http://schemas.microsoft.com/office/drawing/2014/main" id="{A80C2A3C-1FC8-46AE-8777-4918AADA0C79}"/>
              </a:ext>
            </a:extLst>
          </p:cNvPr>
          <p:cNvSpPr>
            <a:spLocks noGrp="1"/>
          </p:cNvSpPr>
          <p:nvPr/>
        </p:nvSpPr>
        <p:spPr>
          <a:xfrm>
            <a:off x="1238250" y="4476750"/>
            <a:ext cx="9715500" cy="457200"/>
          </a:xfrm>
          <a:prstGeom prst="roundRect">
            <a:avLst>
              <a:gd name="adj" fmla="val 16667"/>
            </a:avLst>
          </a:prstGeom>
          <a:solidFill>
            <a:srgbClr val="FFF4DC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7B9312A-6AB0-43E4-BDB6-BF3155AA4BA1}"/>
              </a:ext>
            </a:extLst>
          </p:cNvPr>
          <p:cNvSpPr>
            <a:spLocks noGrp="1"/>
          </p:cNvSpPr>
          <p:nvPr/>
        </p:nvSpPr>
        <p:spPr>
          <a:xfrm>
            <a:off x="1504950" y="46005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EA6"/>
                </a:solidFill>
              </a:defRPr>
            </a:pPr>
            <a:r>
              <a:rPr sz="1200" b="1">
                <a:solidFill>
                  <a:srgbClr val="2F6EA6"/>
                </a:solidFill>
              </a:rPr>
              <a:t>Activity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FCEA34E-8794-498B-ACAA-0862668258CE}"/>
              </a:ext>
            </a:extLst>
          </p:cNvPr>
          <p:cNvSpPr>
            <a:spLocks noGrp="1"/>
          </p:cNvSpPr>
          <p:nvPr/>
        </p:nvSpPr>
        <p:spPr>
          <a:xfrm>
            <a:off x="3810000" y="4591050"/>
            <a:ext cx="676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“It is good for studying or working.”</a:t>
            </a:r>
          </a:p>
        </p:txBody>
      </p:sp>
      <p:sp>
        <p:nvSpPr>
          <p:cNvPr id="18" name="box">
            <a:extLst>
              <a:ext uri="{FF2B5EF4-FFF2-40B4-BE49-F238E27FC236}">
                <a16:creationId xmlns:a16="http://schemas.microsoft.com/office/drawing/2014/main" id="{6F8FA631-79D3-4CBE-9024-5480C805961D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9715500" cy="457200"/>
          </a:xfrm>
          <a:prstGeom prst="roundRect">
            <a:avLst>
              <a:gd name="adj" fmla="val 16667"/>
            </a:avLst>
          </a:prstGeom>
          <a:solidFill>
            <a:srgbClr val="E8F3FF"/>
          </a:solidFill>
          <a:ln w="0">
            <a:noFill/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5EAAC0A5-A280-4E4E-8C9E-668A36029B44}"/>
              </a:ext>
            </a:extLst>
          </p:cNvPr>
          <p:cNvSpPr>
            <a:spLocks noGrp="1"/>
          </p:cNvSpPr>
          <p:nvPr/>
        </p:nvSpPr>
        <p:spPr>
          <a:xfrm>
            <a:off x="1504950" y="52673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EA6"/>
                </a:solidFill>
              </a:defRPr>
            </a:pPr>
            <a:r>
              <a:rPr sz="1200" b="1">
                <a:solidFill>
                  <a:srgbClr val="2F6EA6"/>
                </a:solidFill>
              </a:rPr>
              <a:t>Memory &amp; preference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C9EACE9A-FC5C-4985-A761-79DB3059B78E}"/>
              </a:ext>
            </a:extLst>
          </p:cNvPr>
          <p:cNvSpPr>
            <a:spLocks noGrp="1"/>
          </p:cNvSpPr>
          <p:nvPr/>
        </p:nvSpPr>
        <p:spPr>
          <a:xfrm>
            <a:off x="3810000" y="5257800"/>
            <a:ext cx="676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“I want to visit this café again.”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FE5DDA-C848-5DEA-639A-A5EE98974C0C}"/>
              </a:ext>
            </a:extLst>
          </p:cNvPr>
          <p:cNvSpPr txBox="1"/>
          <p:nvPr/>
        </p:nvSpPr>
        <p:spPr>
          <a:xfrm>
            <a:off x="5254773" y="5894284"/>
            <a:ext cx="461665" cy="25103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0954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op-accent">
            <a:extLst>
              <a:ext uri="{FF2B5EF4-FFF2-40B4-BE49-F238E27FC236}">
                <a16:creationId xmlns:a16="http://schemas.microsoft.com/office/drawing/2014/main" id="{650B36B9-5D01-4591-8371-96B3543B7D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9D98C2C-11E2-447B-BEB2-333BB6F3AAE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RESEARCH SCOPE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6B9AF39-6BAC-409F-8B54-355DE0BCCB0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Research Target and Scope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0F423FB-64A4-4465-B6E6-60BEB1BBB0FE}"/>
              </a:ext>
            </a:extLst>
          </p:cNvPr>
          <p:cNvSpPr>
            <a:spLocks noGrp="1"/>
          </p:cNvSpPr>
          <p:nvPr/>
        </p:nvSpPr>
        <p:spPr>
          <a:xfrm>
            <a:off x="819150" y="15811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The empirical target is cafés in Seoul, selected as a case for testing the review-based placeness quantification approach.</a:t>
            </a:r>
          </a:p>
        </p:txBody>
      </p:sp>
      <p:sp>
        <p:nvSpPr>
          <p:cNvPr id="6" name="card">
            <a:extLst>
              <a:ext uri="{FF2B5EF4-FFF2-40B4-BE49-F238E27FC236}">
                <a16:creationId xmlns:a16="http://schemas.microsoft.com/office/drawing/2014/main" id="{48FA5C6F-CCBB-4B05-9922-DA44E80D99FC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2952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7" name="card-accent">
            <a:extLst>
              <a:ext uri="{FF2B5EF4-FFF2-40B4-BE49-F238E27FC236}">
                <a16:creationId xmlns:a16="http://schemas.microsoft.com/office/drawing/2014/main" id="{2437CC37-39D0-4620-A7B2-54A9E2985B5C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66675" cy="18097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D58B44B-A8B2-4B71-AD02-DB2E6E6B0F7C}"/>
              </a:ext>
            </a:extLst>
          </p:cNvPr>
          <p:cNvSpPr>
            <a:spLocks noGrp="1"/>
          </p:cNvSpPr>
          <p:nvPr/>
        </p:nvSpPr>
        <p:spPr>
          <a:xfrm>
            <a:off x="1314450" y="31813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Study area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0AE20D7-A74E-4C6D-9CBF-4709922A51E6}"/>
              </a:ext>
            </a:extLst>
          </p:cNvPr>
          <p:cNvSpPr>
            <a:spLocks noGrp="1"/>
          </p:cNvSpPr>
          <p:nvPr/>
        </p:nvSpPr>
        <p:spPr>
          <a:xfrm>
            <a:off x="1314450" y="3581400"/>
            <a:ext cx="2533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1" dirty="0">
                <a:solidFill>
                  <a:srgbClr val="556173"/>
                </a:solidFill>
              </a:rPr>
              <a:t>Seoul</a:t>
            </a:r>
            <a:r>
              <a:rPr sz="1275" b="0" dirty="0">
                <a:solidFill>
                  <a:srgbClr val="556173"/>
                </a:solidFill>
              </a:rPr>
              <a:t>, South Korea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33EA6EA9-5E5C-49F6-B430-21FD25118FB4}"/>
              </a:ext>
            </a:extLst>
          </p:cNvPr>
          <p:cNvSpPr>
            <a:spLocks noGrp="1"/>
          </p:cNvSpPr>
          <p:nvPr/>
        </p:nvSpPr>
        <p:spPr>
          <a:xfrm>
            <a:off x="4629150" y="2952750"/>
            <a:ext cx="2952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CC9DEA08-6A47-427C-B8B9-5C03179075D1}"/>
              </a:ext>
            </a:extLst>
          </p:cNvPr>
          <p:cNvSpPr>
            <a:spLocks noGrp="1"/>
          </p:cNvSpPr>
          <p:nvPr/>
        </p:nvSpPr>
        <p:spPr>
          <a:xfrm>
            <a:off x="4629150" y="2952750"/>
            <a:ext cx="66675" cy="180975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1814B17-B685-4EB2-B2D8-112B4D428612}"/>
              </a:ext>
            </a:extLst>
          </p:cNvPr>
          <p:cNvSpPr>
            <a:spLocks noGrp="1"/>
          </p:cNvSpPr>
          <p:nvPr/>
        </p:nvSpPr>
        <p:spPr>
          <a:xfrm>
            <a:off x="4857750" y="31813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Spatial target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1019BF40-D31F-44D5-92BC-6EB9D4377509}"/>
              </a:ext>
            </a:extLst>
          </p:cNvPr>
          <p:cNvSpPr>
            <a:spLocks noGrp="1"/>
          </p:cNvSpPr>
          <p:nvPr/>
        </p:nvSpPr>
        <p:spPr>
          <a:xfrm>
            <a:off x="4857750" y="3581400"/>
            <a:ext cx="2533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1" dirty="0">
                <a:solidFill>
                  <a:srgbClr val="556173"/>
                </a:solidFill>
              </a:rPr>
              <a:t>Cafés and bakery/café-related commercial spaces</a:t>
            </a:r>
          </a:p>
        </p:txBody>
      </p:sp>
      <p:sp>
        <p:nvSpPr>
          <p:cNvPr id="14" name="card">
            <a:extLst>
              <a:ext uri="{FF2B5EF4-FFF2-40B4-BE49-F238E27FC236}">
                <a16:creationId xmlns:a16="http://schemas.microsoft.com/office/drawing/2014/main" id="{E9B275BC-825A-4051-99F0-5A355F523910}"/>
              </a:ext>
            </a:extLst>
          </p:cNvPr>
          <p:cNvSpPr>
            <a:spLocks noGrp="1"/>
          </p:cNvSpPr>
          <p:nvPr/>
        </p:nvSpPr>
        <p:spPr>
          <a:xfrm>
            <a:off x="8172450" y="2952750"/>
            <a:ext cx="2952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5" name="card-accent">
            <a:extLst>
              <a:ext uri="{FF2B5EF4-FFF2-40B4-BE49-F238E27FC236}">
                <a16:creationId xmlns:a16="http://schemas.microsoft.com/office/drawing/2014/main" id="{65BCA325-0A9C-417B-B5A0-EA9B214010F0}"/>
              </a:ext>
            </a:extLst>
          </p:cNvPr>
          <p:cNvSpPr>
            <a:spLocks noGrp="1"/>
          </p:cNvSpPr>
          <p:nvPr/>
        </p:nvSpPr>
        <p:spPr>
          <a:xfrm>
            <a:off x="8172450" y="2952750"/>
            <a:ext cx="66675" cy="180975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49050D73-68AA-4B27-A031-CA46317470E4}"/>
              </a:ext>
            </a:extLst>
          </p:cNvPr>
          <p:cNvSpPr>
            <a:spLocks noGrp="1"/>
          </p:cNvSpPr>
          <p:nvPr/>
        </p:nvSpPr>
        <p:spPr>
          <a:xfrm>
            <a:off x="8401050" y="31813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Scope limitation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82061B6-4AA3-4E58-93DF-4E9B7D58660C}"/>
              </a:ext>
            </a:extLst>
          </p:cNvPr>
          <p:cNvSpPr>
            <a:spLocks noGrp="1"/>
          </p:cNvSpPr>
          <p:nvPr/>
        </p:nvSpPr>
        <p:spPr>
          <a:xfrm>
            <a:off x="8401050" y="3581400"/>
            <a:ext cx="2533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The result should be interpreted as an empirical case, not a generalization to all space types.</a:t>
            </a:r>
          </a:p>
        </p:txBody>
      </p:sp>
    </p:spTree>
    <p:extLst>
      <p:ext uri="{BB962C8B-B14F-4D97-AF65-F5344CB8AC3E}">
        <p14:creationId xmlns:p14="http://schemas.microsoft.com/office/powerpoint/2010/main" val="2124113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op-accent">
            <a:extLst>
              <a:ext uri="{FF2B5EF4-FFF2-40B4-BE49-F238E27FC236}">
                <a16:creationId xmlns:a16="http://schemas.microsoft.com/office/drawing/2014/main" id="{786DBAC4-20A1-4BAC-998E-DB6CC0FE87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55A7AB9-EB2F-440A-B4DB-1209D601B04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METHOD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C5360CB-F63E-4AE4-8A5F-F1C92971F55F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Overview of Research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EB4A23-FE74-B025-B6F8-F734E07F8F42}"/>
              </a:ext>
            </a:extLst>
          </p:cNvPr>
          <p:cNvSpPr txBox="1"/>
          <p:nvPr/>
        </p:nvSpPr>
        <p:spPr>
          <a:xfrm>
            <a:off x="3679693" y="5132586"/>
            <a:ext cx="48942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Overview of placeness-based text review quantification approach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D19CC7E-6BB8-4D01-AA01-C01890CDFCE4}"/>
              </a:ext>
            </a:extLst>
          </p:cNvPr>
          <p:cNvGrpSpPr/>
          <p:nvPr/>
        </p:nvGrpSpPr>
        <p:grpSpPr>
          <a:xfrm>
            <a:off x="2052394" y="2137787"/>
            <a:ext cx="7880178" cy="2582425"/>
            <a:chOff x="1946361" y="2061653"/>
            <a:chExt cx="7880178" cy="2582425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024495EB-7C23-7BCF-F919-ECE73ED4C46E}"/>
                </a:ext>
              </a:extLst>
            </p:cNvPr>
            <p:cNvSpPr/>
            <p:nvPr/>
          </p:nvSpPr>
          <p:spPr>
            <a:xfrm>
              <a:off x="7631979" y="2061654"/>
              <a:ext cx="2194560" cy="25775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나눔바른고딕" panose="020B0603020101020101" pitchFamily="50" charset="-127"/>
                  <a:cs typeface="Pretendard" panose="02000503000000020004" pitchFamily="50" charset="-127"/>
                </a:rPr>
                <a:t>Placeness scores</a:t>
              </a: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095C56D9-CE30-D61B-42D5-7DFFC4407C33}"/>
                </a:ext>
              </a:extLst>
            </p:cNvPr>
            <p:cNvSpPr/>
            <p:nvPr/>
          </p:nvSpPr>
          <p:spPr>
            <a:xfrm>
              <a:off x="4789170" y="2061654"/>
              <a:ext cx="2194560" cy="25775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2F6EA6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Placeness</a:t>
              </a:r>
            </a:p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Quantification System</a:t>
              </a:r>
              <a:endParaRPr lang="en-US" altLang="ko-KR" sz="140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  <a:ea typeface="나눔바른고딕" panose="020B0603020101020101" pitchFamily="50" charset="-127"/>
                  <a:cs typeface="Pretendard" panose="02000503000000020004" pitchFamily="50" charset="-127"/>
                </a:rPr>
                <a:t>Placeness factor extraction and quantification</a:t>
              </a: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5F40E2D-73BA-1A65-9079-A5F9EB7AEC0E}"/>
                </a:ext>
              </a:extLst>
            </p:cNvPr>
            <p:cNvSpPr/>
            <p:nvPr/>
          </p:nvSpPr>
          <p:spPr>
            <a:xfrm>
              <a:off x="1946361" y="2061653"/>
              <a:ext cx="2194560" cy="25824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1600" dirty="0">
                  <a:solidFill>
                    <a:schemeClr val="tx1"/>
                  </a:solidFill>
                  <a:ea typeface="나눔바른고딕" panose="020B0603020101020101" pitchFamily="50" charset="-127"/>
                  <a:cs typeface="Pretendard" panose="02000503000000020004" pitchFamily="50" charset="-127"/>
                </a:rPr>
                <a:t>Text review data</a:t>
              </a:r>
            </a:p>
          </p:txBody>
        </p:sp>
        <p:pic>
          <p:nvPicPr>
            <p:cNvPr id="27" name="그림 26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37A9AAF-05BB-2C59-4D2A-30AB9357D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8075" y="2976581"/>
              <a:ext cx="929589" cy="929589"/>
            </a:xfrm>
            <a:prstGeom prst="rect">
              <a:avLst/>
            </a:prstGeom>
          </p:spPr>
        </p:pic>
        <p:pic>
          <p:nvPicPr>
            <p:cNvPr id="28" name="그림 27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2993A6B-FB58-E5FC-4595-CF8D882F0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52" b="17143"/>
            <a:stretch>
              <a:fillRect/>
            </a:stretch>
          </p:blipFill>
          <p:spPr>
            <a:xfrm>
              <a:off x="5331152" y="2957984"/>
              <a:ext cx="1004329" cy="784899"/>
            </a:xfrm>
            <a:prstGeom prst="rect">
              <a:avLst/>
            </a:prstGeom>
          </p:spPr>
        </p:pic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5DA98AF5-162A-B849-0B33-5E30147B95BE}"/>
                </a:ext>
              </a:extLst>
            </p:cNvPr>
            <p:cNvCxnSpPr>
              <a:cxnSpLocks/>
              <a:stCxn id="26" idx="3"/>
              <a:endCxn id="25" idx="1"/>
            </p:cNvCxnSpPr>
            <p:nvPr/>
          </p:nvCxnSpPr>
          <p:spPr>
            <a:xfrm flipV="1">
              <a:off x="4140921" y="3350434"/>
              <a:ext cx="648249" cy="243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0C346019-B036-7236-36B1-A67C15C08CF4}"/>
                </a:ext>
              </a:extLst>
            </p:cNvPr>
            <p:cNvCxnSpPr>
              <a:cxnSpLocks/>
              <a:stCxn id="25" idx="3"/>
              <a:endCxn id="24" idx="1"/>
            </p:cNvCxnSpPr>
            <p:nvPr/>
          </p:nvCxnSpPr>
          <p:spPr>
            <a:xfrm>
              <a:off x="6983730" y="3350434"/>
              <a:ext cx="648249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1" name="그림 30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4DAB5D4-D19B-0EAB-B91C-2DFAA2507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055"/>
            <a:stretch>
              <a:fillRect/>
            </a:stretch>
          </p:blipFill>
          <p:spPr>
            <a:xfrm>
              <a:off x="7965732" y="2730918"/>
              <a:ext cx="1530694" cy="12390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6865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FE0D7A77-B798-B2BF-045A-4E3EA0AC36B8}"/>
              </a:ext>
            </a:extLst>
          </p:cNvPr>
          <p:cNvSpPr/>
          <p:nvPr/>
        </p:nvSpPr>
        <p:spPr>
          <a:xfrm>
            <a:off x="2363637" y="4103625"/>
            <a:ext cx="7464723" cy="21571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op-accent">
            <a:extLst>
              <a:ext uri="{FF2B5EF4-FFF2-40B4-BE49-F238E27FC236}">
                <a16:creationId xmlns:a16="http://schemas.microsoft.com/office/drawing/2014/main" id="{FB5C2936-CB51-43BD-9F0F-EB405BB334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3A67A70-2306-4A98-9E91-01221B505CD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METHOD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38AE000-7757-42D5-B433-DA0545779215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Internal Modules of the Quantification System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55F4FB24-5672-4329-AE71-0FC67D2138FF}"/>
              </a:ext>
            </a:extLst>
          </p:cNvPr>
          <p:cNvSpPr>
            <a:spLocks noGrp="1"/>
          </p:cNvSpPr>
          <p:nvPr/>
        </p:nvSpPr>
        <p:spPr>
          <a:xfrm>
            <a:off x="2558092" y="4402499"/>
            <a:ext cx="3238500" cy="1567006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6" name="card-accent">
            <a:extLst>
              <a:ext uri="{FF2B5EF4-FFF2-40B4-BE49-F238E27FC236}">
                <a16:creationId xmlns:a16="http://schemas.microsoft.com/office/drawing/2014/main" id="{E98366C2-F768-4B57-AE89-5B0A9533384A}"/>
              </a:ext>
            </a:extLst>
          </p:cNvPr>
          <p:cNvSpPr>
            <a:spLocks noGrp="1"/>
          </p:cNvSpPr>
          <p:nvPr/>
        </p:nvSpPr>
        <p:spPr>
          <a:xfrm>
            <a:off x="2558092" y="4402499"/>
            <a:ext cx="45719" cy="1567006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6EFFF69-B10E-4646-82A7-D73D457E5A4B}"/>
              </a:ext>
            </a:extLst>
          </p:cNvPr>
          <p:cNvSpPr>
            <a:spLocks noGrp="1"/>
          </p:cNvSpPr>
          <p:nvPr/>
        </p:nvSpPr>
        <p:spPr>
          <a:xfrm>
            <a:off x="2786692" y="4631099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Placeness factor mapping module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9D7ACB4-E188-4CAE-8AAC-BB6618DFB495}"/>
              </a:ext>
            </a:extLst>
          </p:cNvPr>
          <p:cNvSpPr>
            <a:spLocks noGrp="1"/>
          </p:cNvSpPr>
          <p:nvPr/>
        </p:nvSpPr>
        <p:spPr>
          <a:xfrm>
            <a:off x="2786692" y="5031149"/>
            <a:ext cx="30099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 dirty="0">
                <a:solidFill>
                  <a:srgbClr val="556173"/>
                </a:solidFill>
              </a:rPr>
              <a:t>Identifies review phrases that serve as evidence and maps them to the ten placeness factors.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1F7416A-1443-4C6B-BC5D-1D97B9E9E3FD}"/>
              </a:ext>
            </a:extLst>
          </p:cNvPr>
          <p:cNvSpPr>
            <a:spLocks noGrp="1"/>
          </p:cNvSpPr>
          <p:nvPr/>
        </p:nvSpPr>
        <p:spPr>
          <a:xfrm>
            <a:off x="5748068" y="5039917"/>
            <a:ext cx="533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8EA2B8"/>
                </a:solidFill>
              </a:defRPr>
            </a:pPr>
            <a:r>
              <a:rPr sz="2400" b="1" dirty="0">
                <a:solidFill>
                  <a:srgbClr val="8EA2B8"/>
                </a:solidFill>
              </a:rPr>
              <a:t>→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865D8A25-686D-44C2-A989-53FADCF44658}"/>
              </a:ext>
            </a:extLst>
          </p:cNvPr>
          <p:cNvSpPr>
            <a:spLocks noGrp="1"/>
          </p:cNvSpPr>
          <p:nvPr/>
        </p:nvSpPr>
        <p:spPr>
          <a:xfrm>
            <a:off x="6508630" y="4430317"/>
            <a:ext cx="3138218" cy="1567006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C6222D08-89A3-4467-9D75-C5B3934AE2A5}"/>
              </a:ext>
            </a:extLst>
          </p:cNvPr>
          <p:cNvSpPr>
            <a:spLocks noGrp="1"/>
          </p:cNvSpPr>
          <p:nvPr/>
        </p:nvSpPr>
        <p:spPr>
          <a:xfrm>
            <a:off x="6508630" y="4430317"/>
            <a:ext cx="49961" cy="1567006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A2FEAE5-3B73-4F20-861A-B33357BD125B}"/>
              </a:ext>
            </a:extLst>
          </p:cNvPr>
          <p:cNvSpPr>
            <a:spLocks noGrp="1"/>
          </p:cNvSpPr>
          <p:nvPr/>
        </p:nvSpPr>
        <p:spPr>
          <a:xfrm>
            <a:off x="6737230" y="4658917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Placeness factor scoring module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E263F2A-3E71-4AAE-AFFC-CC384C57426A}"/>
              </a:ext>
            </a:extLst>
          </p:cNvPr>
          <p:cNvSpPr>
            <a:spLocks noGrp="1"/>
          </p:cNvSpPr>
          <p:nvPr/>
        </p:nvSpPr>
        <p:spPr>
          <a:xfrm>
            <a:off x="6737230" y="5058967"/>
            <a:ext cx="30099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Classifies the evaluation direction of mapped evidence and calculates factor-level scores.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34244B3-7013-BA8D-73BF-EF00C04EB547}"/>
              </a:ext>
            </a:extLst>
          </p:cNvPr>
          <p:cNvGrpSpPr/>
          <p:nvPr/>
        </p:nvGrpSpPr>
        <p:grpSpPr>
          <a:xfrm>
            <a:off x="2800016" y="1695450"/>
            <a:ext cx="6389991" cy="1991390"/>
            <a:chOff x="1946361" y="2061653"/>
            <a:chExt cx="7880178" cy="2582425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070DAB4D-3EF8-2174-3DB7-DD06DD1519D3}"/>
                </a:ext>
              </a:extLst>
            </p:cNvPr>
            <p:cNvSpPr/>
            <p:nvPr/>
          </p:nvSpPr>
          <p:spPr>
            <a:xfrm>
              <a:off x="7631979" y="2061654"/>
              <a:ext cx="2194560" cy="25775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12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나눔바른고딕" panose="020B0603020101020101" pitchFamily="50" charset="-127"/>
                  <a:cs typeface="Pretendard" panose="02000503000000020004" pitchFamily="50" charset="-127"/>
                </a:rPr>
                <a:t>Placeness scores</a:t>
              </a: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8D47E0B1-50F6-7C68-2BE1-3ECC0BC9C2A4}"/>
                </a:ext>
              </a:extLst>
            </p:cNvPr>
            <p:cNvSpPr/>
            <p:nvPr/>
          </p:nvSpPr>
          <p:spPr>
            <a:xfrm>
              <a:off x="4789170" y="2061654"/>
              <a:ext cx="2194560" cy="25775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2F6EA6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Placeness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Quantification System</a:t>
              </a:r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endParaRPr lang="en-US" altLang="ko-KR" sz="10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ea typeface="나눔바른고딕" panose="020B0603020101020101" pitchFamily="50" charset="-127"/>
                  <a:cs typeface="Pretendard" panose="02000503000000020004" pitchFamily="50" charset="-127"/>
                </a:rPr>
                <a:t>Placeness factor extraction and quantification</a:t>
              </a: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E9FF27F-25CD-36E0-4F56-C76D08D29069}"/>
                </a:ext>
              </a:extLst>
            </p:cNvPr>
            <p:cNvSpPr/>
            <p:nvPr/>
          </p:nvSpPr>
          <p:spPr>
            <a:xfrm>
              <a:off x="1946361" y="2061653"/>
              <a:ext cx="2194560" cy="25824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  <a:p>
              <a:pPr algn="ctr"/>
              <a:endPara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/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endParaRPr>
            </a:p>
            <a:p>
              <a:pPr algn="ctr"/>
              <a:endParaRPr lang="en-US" altLang="ko-KR" sz="11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endParaRPr lang="en-US" altLang="ko-KR" sz="105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ea typeface="나눔바른고딕" panose="020B0603020101020101" pitchFamily="50" charset="-127"/>
                  <a:cs typeface="Pretendard" panose="02000503000000020004" pitchFamily="50" charset="-127"/>
                </a:rPr>
                <a:t>Text review data</a:t>
              </a:r>
              <a:endParaRPr lang="en-US" altLang="ko-KR" sz="1400" dirty="0">
                <a:solidFill>
                  <a:schemeClr val="tx1"/>
                </a:solidFill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21" name="그림 20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60F01E2-BF6A-D220-5B74-4A7FC71F7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8075" y="2976581"/>
              <a:ext cx="929589" cy="929589"/>
            </a:xfrm>
            <a:prstGeom prst="rect">
              <a:avLst/>
            </a:prstGeom>
          </p:spPr>
        </p:pic>
        <p:pic>
          <p:nvPicPr>
            <p:cNvPr id="22" name="그림 21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215C9E9-3291-047E-F3DC-803CF9FBB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52" b="17143"/>
            <a:stretch>
              <a:fillRect/>
            </a:stretch>
          </p:blipFill>
          <p:spPr>
            <a:xfrm>
              <a:off x="5327501" y="2976581"/>
              <a:ext cx="992903" cy="775970"/>
            </a:xfrm>
            <a:prstGeom prst="rect">
              <a:avLst/>
            </a:prstGeom>
          </p:spPr>
        </p:pic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FB226D95-E1B6-C311-AD5C-259387BFFC27}"/>
                </a:ext>
              </a:extLst>
            </p:cNvPr>
            <p:cNvCxnSpPr>
              <a:cxnSpLocks/>
              <a:stCxn id="20" idx="3"/>
              <a:endCxn id="19" idx="1"/>
            </p:cNvCxnSpPr>
            <p:nvPr/>
          </p:nvCxnSpPr>
          <p:spPr>
            <a:xfrm flipV="1">
              <a:off x="4140921" y="3350434"/>
              <a:ext cx="648249" cy="243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BD877258-AC4C-D8D5-810F-D0292F9C7B8B}"/>
                </a:ext>
              </a:extLst>
            </p:cNvPr>
            <p:cNvCxnSpPr>
              <a:cxnSpLocks/>
              <a:stCxn id="19" idx="3"/>
              <a:endCxn id="18" idx="1"/>
            </p:cNvCxnSpPr>
            <p:nvPr/>
          </p:nvCxnSpPr>
          <p:spPr>
            <a:xfrm>
              <a:off x="6983730" y="3350434"/>
              <a:ext cx="648249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5" name="그림 24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E2A5723-06C3-DA9F-1D96-D8992F145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055"/>
            <a:stretch>
              <a:fillRect/>
            </a:stretch>
          </p:blipFill>
          <p:spPr>
            <a:xfrm>
              <a:off x="7965732" y="2730918"/>
              <a:ext cx="1530694" cy="1239031"/>
            </a:xfrm>
            <a:prstGeom prst="rect">
              <a:avLst/>
            </a:prstGeom>
          </p:spPr>
        </p:pic>
      </p:grp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D2271DCA-D509-7240-0F23-650A20A2554B}"/>
              </a:ext>
            </a:extLst>
          </p:cNvPr>
          <p:cNvSpPr/>
          <p:nvPr/>
        </p:nvSpPr>
        <p:spPr>
          <a:xfrm>
            <a:off x="2363638" y="3704884"/>
            <a:ext cx="7464724" cy="398741"/>
          </a:xfrm>
          <a:custGeom>
            <a:avLst/>
            <a:gdLst>
              <a:gd name="connsiteX0" fmla="*/ 8382000 w 8382000"/>
              <a:gd name="connsiteY0" fmla="*/ 251460 h 251460"/>
              <a:gd name="connsiteX1" fmla="*/ 0 w 8382000"/>
              <a:gd name="connsiteY1" fmla="*/ 251460 h 251460"/>
              <a:gd name="connsiteX2" fmla="*/ 1600200 w 8382000"/>
              <a:gd name="connsiteY2" fmla="*/ 0 h 251460"/>
              <a:gd name="connsiteX3" fmla="*/ 3177540 w 8382000"/>
              <a:gd name="connsiteY3" fmla="*/ 0 h 251460"/>
              <a:gd name="connsiteX4" fmla="*/ 8382000 w 8382000"/>
              <a:gd name="connsiteY4" fmla="*/ 251460 h 251460"/>
              <a:gd name="connsiteX0" fmla="*/ 8382000 w 8382000"/>
              <a:gd name="connsiteY0" fmla="*/ 258604 h 258604"/>
              <a:gd name="connsiteX1" fmla="*/ 0 w 8382000"/>
              <a:gd name="connsiteY1" fmla="*/ 258604 h 258604"/>
              <a:gd name="connsiteX2" fmla="*/ 1414462 w 8382000"/>
              <a:gd name="connsiteY2" fmla="*/ 0 h 258604"/>
              <a:gd name="connsiteX3" fmla="*/ 3177540 w 8382000"/>
              <a:gd name="connsiteY3" fmla="*/ 7144 h 258604"/>
              <a:gd name="connsiteX4" fmla="*/ 8382000 w 8382000"/>
              <a:gd name="connsiteY4" fmla="*/ 258604 h 258604"/>
              <a:gd name="connsiteX0" fmla="*/ 8382000 w 8382000"/>
              <a:gd name="connsiteY0" fmla="*/ 258604 h 258604"/>
              <a:gd name="connsiteX1" fmla="*/ 0 w 8382000"/>
              <a:gd name="connsiteY1" fmla="*/ 258604 h 258604"/>
              <a:gd name="connsiteX2" fmla="*/ 1414462 w 8382000"/>
              <a:gd name="connsiteY2" fmla="*/ 0 h 258604"/>
              <a:gd name="connsiteX3" fmla="*/ 3003708 w 8382000"/>
              <a:gd name="connsiteY3" fmla="*/ 1 h 258604"/>
              <a:gd name="connsiteX4" fmla="*/ 8382000 w 8382000"/>
              <a:gd name="connsiteY4" fmla="*/ 258604 h 258604"/>
              <a:gd name="connsiteX0" fmla="*/ 9772650 w 9772650"/>
              <a:gd name="connsiteY0" fmla="*/ 258604 h 266224"/>
              <a:gd name="connsiteX1" fmla="*/ 0 w 9772650"/>
              <a:gd name="connsiteY1" fmla="*/ 266224 h 266224"/>
              <a:gd name="connsiteX2" fmla="*/ 2805112 w 9772650"/>
              <a:gd name="connsiteY2" fmla="*/ 0 h 266224"/>
              <a:gd name="connsiteX3" fmla="*/ 4394358 w 9772650"/>
              <a:gd name="connsiteY3" fmla="*/ 1 h 266224"/>
              <a:gd name="connsiteX4" fmla="*/ 9772650 w 9772650"/>
              <a:gd name="connsiteY4" fmla="*/ 258604 h 266224"/>
              <a:gd name="csX0" fmla="*/ 9772650 w 9772650"/>
              <a:gd name="csY0" fmla="*/ 268128 h 275748"/>
              <a:gd name="csX1" fmla="*/ 0 w 9772650"/>
              <a:gd name="csY1" fmla="*/ 275748 h 275748"/>
              <a:gd name="csX2" fmla="*/ 2805112 w 9772650"/>
              <a:gd name="csY2" fmla="*/ 9524 h 275748"/>
              <a:gd name="csX3" fmla="*/ 5580221 w 9772650"/>
              <a:gd name="csY3" fmla="*/ 0 h 275748"/>
              <a:gd name="csX4" fmla="*/ 9772650 w 9772650"/>
              <a:gd name="csY4" fmla="*/ 268128 h 275748"/>
              <a:gd name="csX0" fmla="*/ 9772650 w 9772650"/>
              <a:gd name="csY0" fmla="*/ 268129 h 275749"/>
              <a:gd name="csX1" fmla="*/ 0 w 9772650"/>
              <a:gd name="csY1" fmla="*/ 275749 h 275749"/>
              <a:gd name="csX2" fmla="*/ 3962400 w 9772650"/>
              <a:gd name="csY2" fmla="*/ 0 h 275749"/>
              <a:gd name="csX3" fmla="*/ 5580221 w 9772650"/>
              <a:gd name="csY3" fmla="*/ 1 h 275749"/>
              <a:gd name="csX4" fmla="*/ 9772650 w 9772650"/>
              <a:gd name="csY4" fmla="*/ 268129 h 275749"/>
              <a:gd name="csX0" fmla="*/ 9772650 w 9772650"/>
              <a:gd name="csY0" fmla="*/ 268128 h 275748"/>
              <a:gd name="csX1" fmla="*/ 0 w 9772650"/>
              <a:gd name="csY1" fmla="*/ 275748 h 275748"/>
              <a:gd name="csX2" fmla="*/ 4025900 w 9772650"/>
              <a:gd name="csY2" fmla="*/ 6227 h 275748"/>
              <a:gd name="csX3" fmla="*/ 5580221 w 9772650"/>
              <a:gd name="csY3" fmla="*/ 0 h 275748"/>
              <a:gd name="csX4" fmla="*/ 9772650 w 9772650"/>
              <a:gd name="csY4" fmla="*/ 268128 h 275748"/>
              <a:gd name="csX0" fmla="*/ 9772650 w 9772650"/>
              <a:gd name="csY0" fmla="*/ 275602 h 283222"/>
              <a:gd name="csX1" fmla="*/ 0 w 9772650"/>
              <a:gd name="csY1" fmla="*/ 283222 h 283222"/>
              <a:gd name="csX2" fmla="*/ 4025900 w 9772650"/>
              <a:gd name="csY2" fmla="*/ 13701 h 283222"/>
              <a:gd name="csX3" fmla="*/ 5832658 w 9772650"/>
              <a:gd name="csY3" fmla="*/ 0 h 283222"/>
              <a:gd name="csX4" fmla="*/ 9772650 w 9772650"/>
              <a:gd name="csY4" fmla="*/ 275602 h 283222"/>
              <a:gd name="csX0" fmla="*/ 9772650 w 9772650"/>
              <a:gd name="csY0" fmla="*/ 261901 h 269521"/>
              <a:gd name="csX1" fmla="*/ 0 w 9772650"/>
              <a:gd name="csY1" fmla="*/ 269521 h 269521"/>
              <a:gd name="csX2" fmla="*/ 4025900 w 9772650"/>
              <a:gd name="csY2" fmla="*/ 0 h 269521"/>
              <a:gd name="csX3" fmla="*/ 5840197 w 9772650"/>
              <a:gd name="csY3" fmla="*/ 313 h 269521"/>
              <a:gd name="csX4" fmla="*/ 9772650 w 9772650"/>
              <a:gd name="csY4" fmla="*/ 261901 h 269521"/>
              <a:gd name="csX0" fmla="*/ 9772650 w 9772650"/>
              <a:gd name="csY0" fmla="*/ 270931 h 278551"/>
              <a:gd name="csX1" fmla="*/ 0 w 9772650"/>
              <a:gd name="csY1" fmla="*/ 278551 h 278551"/>
              <a:gd name="csX2" fmla="*/ 4025900 w 9772650"/>
              <a:gd name="csY2" fmla="*/ 9030 h 278551"/>
              <a:gd name="csX3" fmla="*/ 5930665 w 9772650"/>
              <a:gd name="csY3" fmla="*/ 0 h 278551"/>
              <a:gd name="csX4" fmla="*/ 9772650 w 9772650"/>
              <a:gd name="csY4" fmla="*/ 270931 h 278551"/>
              <a:gd name="csX0" fmla="*/ 9772650 w 9772650"/>
              <a:gd name="csY0" fmla="*/ 275915 h 283535"/>
              <a:gd name="csX1" fmla="*/ 0 w 9772650"/>
              <a:gd name="csY1" fmla="*/ 283535 h 283535"/>
              <a:gd name="csX2" fmla="*/ 4025901 w 9772650"/>
              <a:gd name="csY2" fmla="*/ 0 h 283535"/>
              <a:gd name="csX3" fmla="*/ 5930665 w 9772650"/>
              <a:gd name="csY3" fmla="*/ 4984 h 283535"/>
              <a:gd name="csX4" fmla="*/ 9772650 w 9772650"/>
              <a:gd name="csY4" fmla="*/ 275915 h 283535"/>
              <a:gd name="csX0" fmla="*/ 9772650 w 9772650"/>
              <a:gd name="csY0" fmla="*/ 280274 h 287894"/>
              <a:gd name="csX1" fmla="*/ 0 w 9772650"/>
              <a:gd name="csY1" fmla="*/ 287894 h 287894"/>
              <a:gd name="csX2" fmla="*/ 4025901 w 9772650"/>
              <a:gd name="csY2" fmla="*/ 4359 h 287894"/>
              <a:gd name="csX3" fmla="*/ 5133218 w 9772650"/>
              <a:gd name="csY3" fmla="*/ 0 h 287894"/>
              <a:gd name="csX4" fmla="*/ 9772650 w 9772650"/>
              <a:gd name="csY4" fmla="*/ 280274 h 287894"/>
              <a:gd name="csX0" fmla="*/ 9772650 w 9772650"/>
              <a:gd name="csY0" fmla="*/ 275915 h 283535"/>
              <a:gd name="csX1" fmla="*/ 0 w 9772650"/>
              <a:gd name="csY1" fmla="*/ 283535 h 283535"/>
              <a:gd name="csX2" fmla="*/ 4025901 w 9772650"/>
              <a:gd name="csY2" fmla="*/ 0 h 283535"/>
              <a:gd name="csX3" fmla="*/ 5116251 w 9772650"/>
              <a:gd name="csY3" fmla="*/ 4983 h 283535"/>
              <a:gd name="csX4" fmla="*/ 9772650 w 9772650"/>
              <a:gd name="csY4" fmla="*/ 275915 h 283535"/>
              <a:gd name="csX0" fmla="*/ 9772650 w 9772650"/>
              <a:gd name="csY0" fmla="*/ 275915 h 283535"/>
              <a:gd name="csX1" fmla="*/ 0 w 9772650"/>
              <a:gd name="csY1" fmla="*/ 283535 h 283535"/>
              <a:gd name="csX2" fmla="*/ 4461387 w 9772650"/>
              <a:gd name="csY2" fmla="*/ 0 h 283535"/>
              <a:gd name="csX3" fmla="*/ 5116251 w 9772650"/>
              <a:gd name="csY3" fmla="*/ 4983 h 283535"/>
              <a:gd name="csX4" fmla="*/ 9772650 w 9772650"/>
              <a:gd name="csY4" fmla="*/ 275915 h 283535"/>
              <a:gd name="csX0" fmla="*/ 9772650 w 9772650"/>
              <a:gd name="csY0" fmla="*/ 275915 h 283535"/>
              <a:gd name="csX1" fmla="*/ 0 w 9772650"/>
              <a:gd name="csY1" fmla="*/ 283535 h 283535"/>
              <a:gd name="csX2" fmla="*/ 4461387 w 9772650"/>
              <a:gd name="csY2" fmla="*/ 0 h 283535"/>
              <a:gd name="csX3" fmla="*/ 5483868 w 9772650"/>
              <a:gd name="csY3" fmla="*/ 11211 h 283535"/>
              <a:gd name="csX4" fmla="*/ 9772650 w 9772650"/>
              <a:gd name="csY4" fmla="*/ 275915 h 283535"/>
              <a:gd name="csX0" fmla="*/ 9772650 w 9772650"/>
              <a:gd name="csY0" fmla="*/ 264704 h 272324"/>
              <a:gd name="csX1" fmla="*/ 0 w 9772650"/>
              <a:gd name="csY1" fmla="*/ 272324 h 272324"/>
              <a:gd name="csX2" fmla="*/ 4467042 w 9772650"/>
              <a:gd name="csY2" fmla="*/ 1246 h 272324"/>
              <a:gd name="csX3" fmla="*/ 5483868 w 9772650"/>
              <a:gd name="csY3" fmla="*/ 0 h 272324"/>
              <a:gd name="csX4" fmla="*/ 9772650 w 9772650"/>
              <a:gd name="csY4" fmla="*/ 264704 h 272324"/>
              <a:gd name="csX0" fmla="*/ 9772650 w 9772650"/>
              <a:gd name="csY0" fmla="*/ 264704 h 272324"/>
              <a:gd name="csX1" fmla="*/ 0 w 9772650"/>
              <a:gd name="csY1" fmla="*/ 272324 h 272324"/>
              <a:gd name="csX2" fmla="*/ 3714623 w 9772650"/>
              <a:gd name="csY2" fmla="*/ 6890 h 272324"/>
              <a:gd name="csX3" fmla="*/ 5483868 w 9772650"/>
              <a:gd name="csY3" fmla="*/ 0 h 272324"/>
              <a:gd name="csX4" fmla="*/ 9772650 w 9772650"/>
              <a:gd name="csY4" fmla="*/ 264704 h 272324"/>
              <a:gd name="csX0" fmla="*/ 9772650 w 9772650"/>
              <a:gd name="csY0" fmla="*/ 264704 h 272324"/>
              <a:gd name="csX1" fmla="*/ 0 w 9772650"/>
              <a:gd name="csY1" fmla="*/ 272324 h 272324"/>
              <a:gd name="csX2" fmla="*/ 3714623 w 9772650"/>
              <a:gd name="csY2" fmla="*/ 6890 h 272324"/>
              <a:gd name="csX3" fmla="*/ 5596888 w 9772650"/>
              <a:gd name="csY3" fmla="*/ 0 h 272324"/>
              <a:gd name="csX4" fmla="*/ 9772650 w 9772650"/>
              <a:gd name="csY4" fmla="*/ 264704 h 272324"/>
              <a:gd name="csX0" fmla="*/ 9772650 w 9772650"/>
              <a:gd name="csY0" fmla="*/ 264704 h 272324"/>
              <a:gd name="csX1" fmla="*/ 0 w 9772650"/>
              <a:gd name="csY1" fmla="*/ 272324 h 272324"/>
              <a:gd name="csX2" fmla="*/ 3760858 w 9772650"/>
              <a:gd name="csY2" fmla="*/ 4169 h 272324"/>
              <a:gd name="csX3" fmla="*/ 5596888 w 9772650"/>
              <a:gd name="csY3" fmla="*/ 0 h 272324"/>
              <a:gd name="csX4" fmla="*/ 9772650 w 9772650"/>
              <a:gd name="csY4" fmla="*/ 264704 h 272324"/>
              <a:gd name="csX0" fmla="*/ 9772650 w 9772650"/>
              <a:gd name="csY0" fmla="*/ 264704 h 272324"/>
              <a:gd name="csX1" fmla="*/ 0 w 9772650"/>
              <a:gd name="csY1" fmla="*/ 272324 h 272324"/>
              <a:gd name="csX2" fmla="*/ 3760858 w 9772650"/>
              <a:gd name="csY2" fmla="*/ 4169 h 272324"/>
              <a:gd name="csX3" fmla="*/ 5596888 w 9772650"/>
              <a:gd name="csY3" fmla="*/ 0 h 272324"/>
              <a:gd name="csX4" fmla="*/ 9772650 w 9772650"/>
              <a:gd name="csY4" fmla="*/ 264704 h 272324"/>
              <a:gd name="csX0" fmla="*/ 9772650 w 9772650"/>
              <a:gd name="csY0" fmla="*/ 260535 h 268155"/>
              <a:gd name="csX1" fmla="*/ 0 w 9772650"/>
              <a:gd name="csY1" fmla="*/ 268155 h 268155"/>
              <a:gd name="csX2" fmla="*/ 3760858 w 9772650"/>
              <a:gd name="csY2" fmla="*/ 0 h 268155"/>
              <a:gd name="csX3" fmla="*/ 5632848 w 9772650"/>
              <a:gd name="csY3" fmla="*/ 1272 h 268155"/>
              <a:gd name="csX4" fmla="*/ 9772650 w 9772650"/>
              <a:gd name="csY4" fmla="*/ 260535 h 2681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72650" h="268155">
                <a:moveTo>
                  <a:pt x="9772650" y="260535"/>
                </a:moveTo>
                <a:lnTo>
                  <a:pt x="0" y="268155"/>
                </a:lnTo>
                <a:lnTo>
                  <a:pt x="3760858" y="0"/>
                </a:lnTo>
                <a:lnTo>
                  <a:pt x="5632848" y="1272"/>
                </a:lnTo>
                <a:lnTo>
                  <a:pt x="9772650" y="260535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9525">
            <a:solidFill>
              <a:srgbClr val="C1DAF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286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op-accent">
            <a:extLst>
              <a:ext uri="{FF2B5EF4-FFF2-40B4-BE49-F238E27FC236}">
                <a16:creationId xmlns:a16="http://schemas.microsoft.com/office/drawing/2014/main" id="{D35F773E-5B1C-44AE-8EB4-349F6C2F54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02A3A29-8664-480B-A7EC-D2FEB4A29610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METHOD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4EB7187-804D-4C71-9C4F-82EF2AC5947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Placeness Factor Mapping Module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FB317E3-3E53-46F0-8B14-9598B4307AB6}"/>
              </a:ext>
            </a:extLst>
          </p:cNvPr>
          <p:cNvSpPr>
            <a:spLocks noGrp="1"/>
          </p:cNvSpPr>
          <p:nvPr/>
        </p:nvSpPr>
        <p:spPr>
          <a:xfrm>
            <a:off x="819150" y="15811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The GPT-4o-mini API is used to map review phrases to placeness factors through an instruction prompt.</a:t>
            </a:r>
          </a:p>
        </p:txBody>
      </p:sp>
      <p:sp>
        <p:nvSpPr>
          <p:cNvPr id="6" name="card">
            <a:extLst>
              <a:ext uri="{FF2B5EF4-FFF2-40B4-BE49-F238E27FC236}">
                <a16:creationId xmlns:a16="http://schemas.microsoft.com/office/drawing/2014/main" id="{92ED7B12-1EA9-42AB-BC03-FD9012E235A2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2952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7" name="card-accent">
            <a:extLst>
              <a:ext uri="{FF2B5EF4-FFF2-40B4-BE49-F238E27FC236}">
                <a16:creationId xmlns:a16="http://schemas.microsoft.com/office/drawing/2014/main" id="{E9E297C9-CDBF-40FD-AAE1-9968D8A135AD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66675" cy="125730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A18AB61-1083-4193-AB59-A61A2C8A0978}"/>
              </a:ext>
            </a:extLst>
          </p:cNvPr>
          <p:cNvSpPr>
            <a:spLocks noGrp="1"/>
          </p:cNvSpPr>
          <p:nvPr/>
        </p:nvSpPr>
        <p:spPr>
          <a:xfrm>
            <a:off x="1143000" y="30480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Task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6948A13-5956-4156-A23D-95177B5A30B9}"/>
              </a:ext>
            </a:extLst>
          </p:cNvPr>
          <p:cNvSpPr>
            <a:spLocks noGrp="1"/>
          </p:cNvSpPr>
          <p:nvPr/>
        </p:nvSpPr>
        <p:spPr>
          <a:xfrm>
            <a:off x="1143000" y="344805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Map review phrases to one or more placeness factors.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C0F1B08C-55CA-4A96-B474-16E24D8E77CF}"/>
              </a:ext>
            </a:extLst>
          </p:cNvPr>
          <p:cNvSpPr>
            <a:spLocks noGrp="1"/>
          </p:cNvSpPr>
          <p:nvPr/>
        </p:nvSpPr>
        <p:spPr>
          <a:xfrm>
            <a:off x="4552950" y="2819400"/>
            <a:ext cx="2952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240595BD-4F75-45E6-99D7-D17960DE5739}"/>
              </a:ext>
            </a:extLst>
          </p:cNvPr>
          <p:cNvSpPr>
            <a:spLocks noGrp="1"/>
          </p:cNvSpPr>
          <p:nvPr/>
        </p:nvSpPr>
        <p:spPr>
          <a:xfrm>
            <a:off x="4552950" y="2819400"/>
            <a:ext cx="66675" cy="125730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F193ACA-0AEF-425F-B267-A1267B8FD99A}"/>
              </a:ext>
            </a:extLst>
          </p:cNvPr>
          <p:cNvSpPr>
            <a:spLocks noGrp="1"/>
          </p:cNvSpPr>
          <p:nvPr/>
        </p:nvSpPr>
        <p:spPr>
          <a:xfrm>
            <a:off x="4781550" y="30480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Definitions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1A08FAE8-60C6-4A33-9899-CE1541F09A55}"/>
              </a:ext>
            </a:extLst>
          </p:cNvPr>
          <p:cNvSpPr>
            <a:spLocks noGrp="1"/>
          </p:cNvSpPr>
          <p:nvPr/>
        </p:nvSpPr>
        <p:spPr>
          <a:xfrm>
            <a:off x="4781550" y="344805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Provide definitions of the ten placeness factors.</a:t>
            </a:r>
          </a:p>
        </p:txBody>
      </p:sp>
      <p:sp>
        <p:nvSpPr>
          <p:cNvPr id="14" name="card">
            <a:extLst>
              <a:ext uri="{FF2B5EF4-FFF2-40B4-BE49-F238E27FC236}">
                <a16:creationId xmlns:a16="http://schemas.microsoft.com/office/drawing/2014/main" id="{34BD04E4-683B-40FE-978A-FF1F7F952A0C}"/>
              </a:ext>
            </a:extLst>
          </p:cNvPr>
          <p:cNvSpPr>
            <a:spLocks noGrp="1"/>
          </p:cNvSpPr>
          <p:nvPr/>
        </p:nvSpPr>
        <p:spPr>
          <a:xfrm>
            <a:off x="8191500" y="2819400"/>
            <a:ext cx="2952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5" name="card-accent">
            <a:extLst>
              <a:ext uri="{FF2B5EF4-FFF2-40B4-BE49-F238E27FC236}">
                <a16:creationId xmlns:a16="http://schemas.microsoft.com/office/drawing/2014/main" id="{E14A1274-3EC1-4E24-A709-4F12428429F4}"/>
              </a:ext>
            </a:extLst>
          </p:cNvPr>
          <p:cNvSpPr>
            <a:spLocks noGrp="1"/>
          </p:cNvSpPr>
          <p:nvPr/>
        </p:nvSpPr>
        <p:spPr>
          <a:xfrm>
            <a:off x="8191500" y="2819400"/>
            <a:ext cx="66675" cy="125730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152928C-437B-4B04-AE66-F5354E69B68C}"/>
              </a:ext>
            </a:extLst>
          </p:cNvPr>
          <p:cNvSpPr>
            <a:spLocks noGrp="1"/>
          </p:cNvSpPr>
          <p:nvPr/>
        </p:nvSpPr>
        <p:spPr>
          <a:xfrm>
            <a:off x="8420100" y="30480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Keywords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DB3077B9-5726-4246-9F3B-F722A3974F38}"/>
              </a:ext>
            </a:extLst>
          </p:cNvPr>
          <p:cNvSpPr>
            <a:spLocks noGrp="1"/>
          </p:cNvSpPr>
          <p:nvPr/>
        </p:nvSpPr>
        <p:spPr>
          <a:xfrm>
            <a:off x="8420100" y="344805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Provide keywords and review-observable expressions.</a:t>
            </a:r>
          </a:p>
        </p:txBody>
      </p:sp>
      <p:sp>
        <p:nvSpPr>
          <p:cNvPr id="18" name="card">
            <a:extLst>
              <a:ext uri="{FF2B5EF4-FFF2-40B4-BE49-F238E27FC236}">
                <a16:creationId xmlns:a16="http://schemas.microsoft.com/office/drawing/2014/main" id="{DB9F749E-E158-43CB-809B-1710FCE7E26E}"/>
              </a:ext>
            </a:extLst>
          </p:cNvPr>
          <p:cNvSpPr>
            <a:spLocks noGrp="1"/>
          </p:cNvSpPr>
          <p:nvPr/>
        </p:nvSpPr>
        <p:spPr>
          <a:xfrm>
            <a:off x="914400" y="4629150"/>
            <a:ext cx="2952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9" name="card-accent">
            <a:extLst>
              <a:ext uri="{FF2B5EF4-FFF2-40B4-BE49-F238E27FC236}">
                <a16:creationId xmlns:a16="http://schemas.microsoft.com/office/drawing/2014/main" id="{54A89002-8BCF-4373-ADF8-5ACAC48F6A0E}"/>
              </a:ext>
            </a:extLst>
          </p:cNvPr>
          <p:cNvSpPr>
            <a:spLocks noGrp="1"/>
          </p:cNvSpPr>
          <p:nvPr/>
        </p:nvSpPr>
        <p:spPr>
          <a:xfrm>
            <a:off x="914400" y="4629150"/>
            <a:ext cx="66675" cy="1257300"/>
          </a:xfrm>
          <a:prstGeom prst="rect">
            <a:avLst/>
          </a:prstGeom>
          <a:solidFill>
            <a:srgbClr val="F19C79"/>
          </a:solidFill>
          <a:ln w="0">
            <a:noFill/>
            <a:prstDash val="solid"/>
          </a:ln>
        </p:spPr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04BAEB6-FCEB-4524-9DFE-AAF16A031AE9}"/>
              </a:ext>
            </a:extLst>
          </p:cNvPr>
          <p:cNvSpPr>
            <a:spLocks noGrp="1"/>
          </p:cNvSpPr>
          <p:nvPr/>
        </p:nvSpPr>
        <p:spPr>
          <a:xfrm>
            <a:off x="1143000" y="48577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Examples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B5F056C8-872A-497C-B3E8-F412C26BC26D}"/>
              </a:ext>
            </a:extLst>
          </p:cNvPr>
          <p:cNvSpPr>
            <a:spLocks noGrp="1"/>
          </p:cNvSpPr>
          <p:nvPr/>
        </p:nvSpPr>
        <p:spPr>
          <a:xfrm>
            <a:off x="1143000" y="525780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Provide positive and negative examples for each factor.</a:t>
            </a:r>
          </a:p>
        </p:txBody>
      </p:sp>
      <p:sp>
        <p:nvSpPr>
          <p:cNvPr id="22" name="card">
            <a:extLst>
              <a:ext uri="{FF2B5EF4-FFF2-40B4-BE49-F238E27FC236}">
                <a16:creationId xmlns:a16="http://schemas.microsoft.com/office/drawing/2014/main" id="{E937F026-FBFC-49CF-8D89-47697225728A}"/>
              </a:ext>
            </a:extLst>
          </p:cNvPr>
          <p:cNvSpPr>
            <a:spLocks noGrp="1"/>
          </p:cNvSpPr>
          <p:nvPr/>
        </p:nvSpPr>
        <p:spPr>
          <a:xfrm>
            <a:off x="4552950" y="4629150"/>
            <a:ext cx="2952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23" name="card-accent">
            <a:extLst>
              <a:ext uri="{FF2B5EF4-FFF2-40B4-BE49-F238E27FC236}">
                <a16:creationId xmlns:a16="http://schemas.microsoft.com/office/drawing/2014/main" id="{16C15643-44F6-4C2D-9682-826F0B6C1C49}"/>
              </a:ext>
            </a:extLst>
          </p:cNvPr>
          <p:cNvSpPr>
            <a:spLocks noGrp="1"/>
          </p:cNvSpPr>
          <p:nvPr/>
        </p:nvSpPr>
        <p:spPr>
          <a:xfrm>
            <a:off x="4552950" y="4629150"/>
            <a:ext cx="66675" cy="1257300"/>
          </a:xfrm>
          <a:prstGeom prst="rect">
            <a:avLst/>
          </a:prstGeom>
          <a:solidFill>
            <a:srgbClr val="7BB8F0"/>
          </a:solidFill>
          <a:ln w="0">
            <a:noFill/>
            <a:prstDash val="solid"/>
          </a:ln>
        </p:spPr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A1B139F4-B90D-4615-AA9A-A4C8FBA3E615}"/>
              </a:ext>
            </a:extLst>
          </p:cNvPr>
          <p:cNvSpPr>
            <a:spLocks noGrp="1"/>
          </p:cNvSpPr>
          <p:nvPr/>
        </p:nvSpPr>
        <p:spPr>
          <a:xfrm>
            <a:off x="4781550" y="48577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40BEEDA4-26BD-4386-B7F6-12F48CA277AD}"/>
              </a:ext>
            </a:extLst>
          </p:cNvPr>
          <p:cNvSpPr>
            <a:spLocks noGrp="1"/>
          </p:cNvSpPr>
          <p:nvPr/>
        </p:nvSpPr>
        <p:spPr>
          <a:xfrm>
            <a:off x="4781550" y="525780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Return mapped factor and supporting phrase.</a:t>
            </a:r>
          </a:p>
        </p:txBody>
      </p:sp>
    </p:spTree>
    <p:extLst>
      <p:ext uri="{BB962C8B-B14F-4D97-AF65-F5344CB8AC3E}">
        <p14:creationId xmlns:p14="http://schemas.microsoft.com/office/powerpoint/2010/main" val="1856635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1A48F-A3DE-793D-471A-5A147986A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op-accent">
            <a:extLst>
              <a:ext uri="{FF2B5EF4-FFF2-40B4-BE49-F238E27FC236}">
                <a16:creationId xmlns:a16="http://schemas.microsoft.com/office/drawing/2014/main" id="{068415A8-CE19-691A-2DC2-FF33A86F47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DD9C9CF-AF45-61D2-3ED8-6693538605C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METHOD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D18100E-0610-DA30-8B47-28AB3E011EA9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4271513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 dirty="0">
                <a:solidFill>
                  <a:srgbClr val="172033"/>
                </a:solidFill>
              </a:rPr>
              <a:t>Placeness Factor Mapping Module</a:t>
            </a:r>
            <a:r>
              <a:rPr lang="en-US" sz="2700" b="1" dirty="0">
                <a:solidFill>
                  <a:srgbClr val="172033"/>
                </a:solidFill>
              </a:rPr>
              <a:t> Example</a:t>
            </a:r>
            <a:endParaRPr sz="2700" b="1" dirty="0">
              <a:solidFill>
                <a:srgbClr val="172033"/>
              </a:solidFill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916FB00-093E-A8C8-AED0-ACD0323ACD02}"/>
              </a:ext>
            </a:extLst>
          </p:cNvPr>
          <p:cNvSpPr>
            <a:spLocks noGrp="1"/>
          </p:cNvSpPr>
          <p:nvPr/>
        </p:nvSpPr>
        <p:spPr>
          <a:xfrm>
            <a:off x="758140" y="2075276"/>
            <a:ext cx="3775854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033"/>
                </a:solidFill>
              </a:defRPr>
            </a:pPr>
            <a:r>
              <a:rPr sz="2025" b="1" dirty="0">
                <a:solidFill>
                  <a:srgbClr val="172033"/>
                </a:solidFill>
              </a:rPr>
              <a:t>The GPT-4o-mini API is used to map review phrases to placeness factors through an instruction prompt.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BD0430-5409-9A97-3C66-37E8D9776652}"/>
              </a:ext>
            </a:extLst>
          </p:cNvPr>
          <p:cNvSpPr txBox="1"/>
          <p:nvPr/>
        </p:nvSpPr>
        <p:spPr>
          <a:xfrm>
            <a:off x="5666715" y="2052272"/>
            <a:ext cx="2305050" cy="8229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“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문장에서 다음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가지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중 어떤 요인을 언급하는지 다중 라벨로 매핑한다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…”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8C58D9-8624-F1F1-B074-0618DCA9BC65}"/>
              </a:ext>
            </a:extLst>
          </p:cNvPr>
          <p:cNvSpPr txBox="1"/>
          <p:nvPr/>
        </p:nvSpPr>
        <p:spPr>
          <a:xfrm>
            <a:off x="8067015" y="2052272"/>
            <a:ext cx="2395588" cy="8229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공간의 배치와 시야 구성이 외부 조망과 시각적 연결을 확보하여 확장감과 낮은 폐쇄감을 느끼게 하는 특성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…</a:t>
            </a:r>
            <a:endParaRPr lang="ko-KR" altLang="en-US" sz="1050" dirty="0">
              <a:solidFill>
                <a:schemeClr val="dk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79104C-BE5D-3A9D-5236-99A19427DB2C}"/>
              </a:ext>
            </a:extLst>
          </p:cNvPr>
          <p:cNvSpPr txBox="1"/>
          <p:nvPr/>
        </p:nvSpPr>
        <p:spPr>
          <a:xfrm>
            <a:off x="5666715" y="3341472"/>
            <a:ext cx="2314575" cy="11887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 배치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시야 연속성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채광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조망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 err="1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통창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넓다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답답하다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좌석 간격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…</a:t>
            </a:r>
            <a:endParaRPr lang="ko-KR" altLang="en-US" sz="1050" dirty="0">
              <a:solidFill>
                <a:schemeClr val="dk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482EBE-E9F7-80A4-D25D-8E7CCC7B6F66}"/>
              </a:ext>
            </a:extLst>
          </p:cNvPr>
          <p:cNvSpPr txBox="1"/>
          <p:nvPr/>
        </p:nvSpPr>
        <p:spPr>
          <a:xfrm>
            <a:off x="8067015" y="3341472"/>
            <a:ext cx="2395588" cy="11887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ko-KR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positive_examples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공간이 넓고 답답하지 않아서 좋다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.",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창이 커서 개방감이 좋고 외부 뷰가 잘 보인다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.“…,</a:t>
            </a:r>
          </a:p>
          <a:p>
            <a:r>
              <a:rPr lang="en-US" altLang="ko-KR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negative_examples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좌석 간격이 좁아서 답답하다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.",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창이 작고 내부가 폐쇄적으로 느껴진다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.“…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ECDB118-3C4A-28C6-3C7A-1E32C81FA89B}"/>
              </a:ext>
            </a:extLst>
          </p:cNvPr>
          <p:cNvSpPr/>
          <p:nvPr/>
        </p:nvSpPr>
        <p:spPr>
          <a:xfrm>
            <a:off x="5524502" y="1453626"/>
            <a:ext cx="5105400" cy="3224406"/>
          </a:xfrm>
          <a:prstGeom prst="roundRect">
            <a:avLst>
              <a:gd name="adj" fmla="val 6731"/>
            </a:avLst>
          </a:prstGeom>
          <a:noFill/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A189F4-7B77-E7BF-F98E-0E66A8C009F5}"/>
              </a:ext>
            </a:extLst>
          </p:cNvPr>
          <p:cNvSpPr txBox="1"/>
          <p:nvPr/>
        </p:nvSpPr>
        <p:spPr>
          <a:xfrm>
            <a:off x="7230914" y="1283367"/>
            <a:ext cx="1564073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BE3A25C-6630-DECC-D627-B8457FD92820}"/>
              </a:ext>
            </a:extLst>
          </p:cNvPr>
          <p:cNvSpPr/>
          <p:nvPr/>
        </p:nvSpPr>
        <p:spPr>
          <a:xfrm>
            <a:off x="6292765" y="5767849"/>
            <a:ext cx="3568487" cy="782852"/>
          </a:xfrm>
          <a:prstGeom prst="roundRect">
            <a:avLst/>
          </a:prstGeom>
          <a:solidFill>
            <a:srgbClr val="FCFEF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 요인 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1)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근거 구절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창이 커서 개방감이 좋고”</a:t>
            </a: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 요인 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2)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접근성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근거 구절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주차는 불편했다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”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093CA70-6F7F-7221-4021-A00050DEEDE5}"/>
              </a:ext>
            </a:extLst>
          </p:cNvPr>
          <p:cNvCxnSpPr>
            <a:cxnSpLocks/>
          </p:cNvCxnSpPr>
          <p:nvPr/>
        </p:nvCxnSpPr>
        <p:spPr>
          <a:xfrm>
            <a:off x="8077009" y="4834685"/>
            <a:ext cx="387" cy="291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92B3D1F-D3B4-B49F-4469-1B0149E02114}"/>
              </a:ext>
            </a:extLst>
          </p:cNvPr>
          <p:cNvSpPr/>
          <p:nvPr/>
        </p:nvSpPr>
        <p:spPr>
          <a:xfrm>
            <a:off x="5200652" y="563674"/>
            <a:ext cx="5753100" cy="4271011"/>
          </a:xfrm>
          <a:prstGeom prst="roundRect">
            <a:avLst>
              <a:gd name="adj" fmla="val 15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9E1EB82-0AE8-210B-A6DD-6CD0EAB5C452}"/>
              </a:ext>
            </a:extLst>
          </p:cNvPr>
          <p:cNvSpPr/>
          <p:nvPr/>
        </p:nvSpPr>
        <p:spPr>
          <a:xfrm>
            <a:off x="5796641" y="679756"/>
            <a:ext cx="4561122" cy="492728"/>
          </a:xfrm>
          <a:prstGeom prst="roundRect">
            <a:avLst/>
          </a:prstGeom>
          <a:solidFill>
            <a:srgbClr val="F0F8FE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100" b="1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Input</a:t>
            </a:r>
            <a:r>
              <a:rPr lang="en-US" altLang="ko-KR" sz="1100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“창이 커서 개방감이 좋고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주차는 불편했다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.”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4275FB-65BF-1562-D7CD-E8BD60DA04AF}"/>
              </a:ext>
            </a:extLst>
          </p:cNvPr>
          <p:cNvSpPr txBox="1"/>
          <p:nvPr/>
        </p:nvSpPr>
        <p:spPr>
          <a:xfrm>
            <a:off x="5786454" y="1778583"/>
            <a:ext cx="551817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FC961C-F1B0-465F-D849-7C991EF51324}"/>
              </a:ext>
            </a:extLst>
          </p:cNvPr>
          <p:cNvSpPr txBox="1"/>
          <p:nvPr/>
        </p:nvSpPr>
        <p:spPr>
          <a:xfrm>
            <a:off x="8162421" y="1778583"/>
            <a:ext cx="948799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591852-F257-ACE5-3317-3042F21296F0}"/>
              </a:ext>
            </a:extLst>
          </p:cNvPr>
          <p:cNvSpPr txBox="1"/>
          <p:nvPr/>
        </p:nvSpPr>
        <p:spPr>
          <a:xfrm>
            <a:off x="5786454" y="3076916"/>
            <a:ext cx="866141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Kewords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007889-0A03-1778-2A8E-42B88E522904}"/>
              </a:ext>
            </a:extLst>
          </p:cNvPr>
          <p:cNvSpPr txBox="1"/>
          <p:nvPr/>
        </p:nvSpPr>
        <p:spPr>
          <a:xfrm>
            <a:off x="8162421" y="3076916"/>
            <a:ext cx="919108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AF88521-4B50-21E9-8B85-189BC1062DAE}"/>
              </a:ext>
            </a:extLst>
          </p:cNvPr>
          <p:cNvSpPr/>
          <p:nvPr/>
        </p:nvSpPr>
        <p:spPr>
          <a:xfrm>
            <a:off x="7230527" y="5125848"/>
            <a:ext cx="1693351" cy="384355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LLM(GPT-4o-mini)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D723300-8B94-AEA2-127A-32DCFCE86A95}"/>
              </a:ext>
            </a:extLst>
          </p:cNvPr>
          <p:cNvCxnSpPr>
            <a:cxnSpLocks/>
          </p:cNvCxnSpPr>
          <p:nvPr/>
        </p:nvCxnSpPr>
        <p:spPr>
          <a:xfrm>
            <a:off x="8077009" y="5510203"/>
            <a:ext cx="0" cy="247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473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op-accent">
            <a:extLst>
              <a:ext uri="{FF2B5EF4-FFF2-40B4-BE49-F238E27FC236}">
                <a16:creationId xmlns:a16="http://schemas.microsoft.com/office/drawing/2014/main" id="{8C9C77E0-A0A7-498C-8094-791DD3FC67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E9BF584-C8C9-408E-82ED-10CE07F0BA07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METHOD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B32F618-BB64-4AE1-BAD6-402990C70571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Placeness Factor Scoring Module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0EA2E79D-D047-4F9C-B2F0-77B1B8FED773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3238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6" name="card-accent">
            <a:extLst>
              <a:ext uri="{FF2B5EF4-FFF2-40B4-BE49-F238E27FC236}">
                <a16:creationId xmlns:a16="http://schemas.microsoft.com/office/drawing/2014/main" id="{8DC3C095-4634-4E34-86FE-0AEFC10835E1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66675" cy="20002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993F6E6-A74F-475A-BDBF-0F4C528E23E1}"/>
              </a:ext>
            </a:extLst>
          </p:cNvPr>
          <p:cNvSpPr>
            <a:spLocks noGrp="1"/>
          </p:cNvSpPr>
          <p:nvPr/>
        </p:nvSpPr>
        <p:spPr>
          <a:xfrm>
            <a:off x="106680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Phrase-level score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68FD7A8-E2B1-41DA-8BD1-17EFCF8118A3}"/>
              </a:ext>
            </a:extLst>
          </p:cNvPr>
          <p:cNvSpPr>
            <a:spLocks noGrp="1"/>
          </p:cNvSpPr>
          <p:nvPr/>
        </p:nvSpPr>
        <p:spPr>
          <a:xfrm>
            <a:off x="1066800" y="2628900"/>
            <a:ext cx="28194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Positive phrase: +1</a:t>
            </a:r>
          </a:p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Neutral or mixed phrase: 0</a:t>
            </a:r>
          </a:p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Negative phrase: -1</a:t>
            </a:r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9E0929F8-5C44-4A19-8399-8D794B112082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3238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0" name="card-accent">
            <a:extLst>
              <a:ext uri="{FF2B5EF4-FFF2-40B4-BE49-F238E27FC236}">
                <a16:creationId xmlns:a16="http://schemas.microsoft.com/office/drawing/2014/main" id="{451AC0D1-8700-4C24-9798-42D91B222B91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66675" cy="200025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886B2C4-9E65-4AB1-A224-4F825C893B1F}"/>
              </a:ext>
            </a:extLst>
          </p:cNvPr>
          <p:cNvSpPr>
            <a:spLocks noGrp="1"/>
          </p:cNvSpPr>
          <p:nvPr/>
        </p:nvSpPr>
        <p:spPr>
          <a:xfrm>
            <a:off x="470535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Factor score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4914605-ED93-453D-95CF-8B6280F2BE20}"/>
              </a:ext>
            </a:extLst>
          </p:cNvPr>
          <p:cNvSpPr>
            <a:spLocks noGrp="1"/>
          </p:cNvSpPr>
          <p:nvPr/>
        </p:nvSpPr>
        <p:spPr>
          <a:xfrm>
            <a:off x="4705350" y="2628900"/>
            <a:ext cx="28194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(positive evidence count - negative evidence count) / total evidence count for the factor</a:t>
            </a:r>
          </a:p>
        </p:txBody>
      </p:sp>
      <p:sp>
        <p:nvSpPr>
          <p:cNvPr id="13" name="card">
            <a:extLst>
              <a:ext uri="{FF2B5EF4-FFF2-40B4-BE49-F238E27FC236}">
                <a16:creationId xmlns:a16="http://schemas.microsoft.com/office/drawing/2014/main" id="{AA15908A-4725-4DD7-AA98-CEA679F9BBF8}"/>
              </a:ext>
            </a:extLst>
          </p:cNvPr>
          <p:cNvSpPr>
            <a:spLocks noGrp="1"/>
          </p:cNvSpPr>
          <p:nvPr/>
        </p:nvSpPr>
        <p:spPr>
          <a:xfrm>
            <a:off x="8115300" y="2000250"/>
            <a:ext cx="3238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4" name="card-accent">
            <a:extLst>
              <a:ext uri="{FF2B5EF4-FFF2-40B4-BE49-F238E27FC236}">
                <a16:creationId xmlns:a16="http://schemas.microsoft.com/office/drawing/2014/main" id="{3C8024B9-4CB2-4EF0-AADC-E22DBD13E30F}"/>
              </a:ext>
            </a:extLst>
          </p:cNvPr>
          <p:cNvSpPr>
            <a:spLocks noGrp="1"/>
          </p:cNvSpPr>
          <p:nvPr/>
        </p:nvSpPr>
        <p:spPr>
          <a:xfrm>
            <a:off x="8115300" y="2000250"/>
            <a:ext cx="66675" cy="200025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850CEC9-3124-4030-8308-D0AC9B33A546}"/>
              </a:ext>
            </a:extLst>
          </p:cNvPr>
          <p:cNvSpPr>
            <a:spLocks noGrp="1"/>
          </p:cNvSpPr>
          <p:nvPr/>
        </p:nvSpPr>
        <p:spPr>
          <a:xfrm>
            <a:off x="834390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 dirty="0">
                <a:solidFill>
                  <a:srgbClr val="172033"/>
                </a:solidFill>
              </a:rPr>
              <a:t>Mention share</a:t>
            </a:r>
            <a:r>
              <a:rPr lang="en-US" sz="1500" b="1" dirty="0">
                <a:solidFill>
                  <a:srgbClr val="172033"/>
                </a:solidFill>
              </a:rPr>
              <a:t> -&gt; Weight</a:t>
            </a:r>
            <a:endParaRPr sz="1500" b="1" dirty="0">
              <a:solidFill>
                <a:srgbClr val="172033"/>
              </a:solidFill>
            </a:endParaRP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1D282620-DFA0-479C-BC0C-DC4662D104B4}"/>
              </a:ext>
            </a:extLst>
          </p:cNvPr>
          <p:cNvSpPr>
            <a:spLocks noGrp="1"/>
          </p:cNvSpPr>
          <p:nvPr/>
        </p:nvSpPr>
        <p:spPr>
          <a:xfrm>
            <a:off x="8343900" y="2628900"/>
            <a:ext cx="28194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 dirty="0">
                <a:solidFill>
                  <a:srgbClr val="556173"/>
                </a:solidFill>
              </a:rPr>
              <a:t>Evidence count for each factor / all placeness evidence for the place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88141B2F-9E8C-463C-B87B-9B964F91B998}"/>
              </a:ext>
            </a:extLst>
          </p:cNvPr>
          <p:cNvSpPr>
            <a:spLocks noGrp="1"/>
          </p:cNvSpPr>
          <p:nvPr/>
        </p:nvSpPr>
        <p:spPr>
          <a:xfrm>
            <a:off x="1676400" y="4857750"/>
            <a:ext cx="8839200" cy="819150"/>
          </a:xfrm>
          <a:prstGeom prst="roundRect">
            <a:avLst>
              <a:gd name="adj" fmla="val 13953"/>
            </a:avLst>
          </a:prstGeom>
          <a:solidFill>
            <a:srgbClr val="E8F3FF"/>
          </a:solidFill>
          <a:ln w="9525">
            <a:solidFill>
              <a:srgbClr val="9DC6EA"/>
            </a:solidFill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27BF70B2-AA7D-44BE-97AC-758948703BEF}"/>
              </a:ext>
            </a:extLst>
          </p:cNvPr>
          <p:cNvSpPr>
            <a:spLocks noGrp="1"/>
          </p:cNvSpPr>
          <p:nvPr/>
        </p:nvSpPr>
        <p:spPr>
          <a:xfrm>
            <a:off x="2095500" y="5124450"/>
            <a:ext cx="800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F6EA6"/>
                </a:solidFill>
              </a:defRPr>
            </a:pPr>
            <a:r>
              <a:rPr sz="1650" b="1">
                <a:solidFill>
                  <a:srgbClr val="2F6EA6"/>
                </a:solidFill>
              </a:rPr>
              <a:t>Score range: -1 to +1. Negative values are preserved when negative evidence is dominant.</a:t>
            </a:r>
          </a:p>
        </p:txBody>
      </p:sp>
    </p:spTree>
    <p:extLst>
      <p:ext uri="{BB962C8B-B14F-4D97-AF65-F5344CB8AC3E}">
        <p14:creationId xmlns:p14="http://schemas.microsoft.com/office/powerpoint/2010/main" val="1646594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op-accent">
            <a:extLst>
              <a:ext uri="{FF2B5EF4-FFF2-40B4-BE49-F238E27FC236}">
                <a16:creationId xmlns:a16="http://schemas.microsoft.com/office/drawing/2014/main" id="{F9379442-D54E-43AF-AB41-1C4C1AA6E3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7483F4F-DE72-4FD6-AEEE-3A91D813F09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DATA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6EA6D9E-4A44-4268-80C8-670ABB44F17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Data Used in This Study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2BDC6C96-34DF-4B62-B7B6-D6E3DE7AFEF8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24955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6" name="card-accent">
            <a:extLst>
              <a:ext uri="{FF2B5EF4-FFF2-40B4-BE49-F238E27FC236}">
                <a16:creationId xmlns:a16="http://schemas.microsoft.com/office/drawing/2014/main" id="{E9164978-74F6-4D15-A4FB-C3E14973B991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66675" cy="171450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2565EFB-F97F-4E8F-8073-BF473C2B4B0D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1. Public commercial data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EA8FF72-1D31-425C-A91F-172B3F5AE462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20764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 dirty="0">
                <a:solidFill>
                  <a:srgbClr val="556173"/>
                </a:solidFill>
              </a:rPr>
              <a:t>Café and bakery/donut businesses in Seoul were filtered from public commercial district data.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BB725A2-B488-483E-B93B-85B82B3C333F}"/>
              </a:ext>
            </a:extLst>
          </p:cNvPr>
          <p:cNvSpPr>
            <a:spLocks noGrp="1"/>
          </p:cNvSpPr>
          <p:nvPr/>
        </p:nvSpPr>
        <p:spPr>
          <a:xfrm>
            <a:off x="3333750" y="2724150"/>
            <a:ext cx="38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8EA2B8"/>
                </a:solidFill>
              </a:defRPr>
            </a:pPr>
            <a:r>
              <a:rPr sz="2400" b="1">
                <a:solidFill>
                  <a:srgbClr val="8EA2B8"/>
                </a:solidFill>
              </a:rPr>
              <a:t>→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CC8B2DAA-EBFF-45FC-8616-03F706FE92A2}"/>
              </a:ext>
            </a:extLst>
          </p:cNvPr>
          <p:cNvSpPr>
            <a:spLocks noGrp="1"/>
          </p:cNvSpPr>
          <p:nvPr/>
        </p:nvSpPr>
        <p:spPr>
          <a:xfrm>
            <a:off x="3714750" y="2152650"/>
            <a:ext cx="24955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1" name="card-accent">
            <a:extLst>
              <a:ext uri="{FF2B5EF4-FFF2-40B4-BE49-F238E27FC236}">
                <a16:creationId xmlns:a16="http://schemas.microsoft.com/office/drawing/2014/main" id="{FB4F4EE4-08A0-4808-835D-04293B43A6C5}"/>
              </a:ext>
            </a:extLst>
          </p:cNvPr>
          <p:cNvSpPr>
            <a:spLocks noGrp="1"/>
          </p:cNvSpPr>
          <p:nvPr/>
        </p:nvSpPr>
        <p:spPr>
          <a:xfrm>
            <a:off x="3714750" y="2152650"/>
            <a:ext cx="66675" cy="1714500"/>
          </a:xfrm>
          <a:prstGeom prst="rect">
            <a:avLst/>
          </a:prstGeom>
          <a:solidFill>
            <a:srgbClr val="9AD35B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EBBD9531-BA88-4D19-BED4-162294444545}"/>
              </a:ext>
            </a:extLst>
          </p:cNvPr>
          <p:cNvSpPr>
            <a:spLocks noGrp="1"/>
          </p:cNvSpPr>
          <p:nvPr/>
        </p:nvSpPr>
        <p:spPr>
          <a:xfrm>
            <a:off x="3943350" y="23812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2. Sample places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BEA0840-8500-49A6-AA3E-0FB34260B418}"/>
              </a:ext>
            </a:extLst>
          </p:cNvPr>
          <p:cNvSpPr>
            <a:spLocks noGrp="1"/>
          </p:cNvSpPr>
          <p:nvPr/>
        </p:nvSpPr>
        <p:spPr>
          <a:xfrm>
            <a:off x="3943350" y="2781300"/>
            <a:ext cx="2076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 dirty="0">
                <a:solidFill>
                  <a:srgbClr val="556173"/>
                </a:solidFill>
              </a:rPr>
              <a:t>2,500 cafés were sampled by selecting 100 places from each of Seoul’s 25 districts.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EDE1FC53-713A-4D79-AF00-24F065601BE9}"/>
              </a:ext>
            </a:extLst>
          </p:cNvPr>
          <p:cNvSpPr>
            <a:spLocks noGrp="1"/>
          </p:cNvSpPr>
          <p:nvPr/>
        </p:nvSpPr>
        <p:spPr>
          <a:xfrm>
            <a:off x="6324600" y="2724150"/>
            <a:ext cx="38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8EA2B8"/>
                </a:solidFill>
              </a:defRPr>
            </a:pPr>
            <a:r>
              <a:rPr sz="2400" b="1">
                <a:solidFill>
                  <a:srgbClr val="8EA2B8"/>
                </a:solidFill>
              </a:rPr>
              <a:t>→</a:t>
            </a:r>
          </a:p>
        </p:txBody>
      </p:sp>
      <p:sp>
        <p:nvSpPr>
          <p:cNvPr id="15" name="card">
            <a:extLst>
              <a:ext uri="{FF2B5EF4-FFF2-40B4-BE49-F238E27FC236}">
                <a16:creationId xmlns:a16="http://schemas.microsoft.com/office/drawing/2014/main" id="{7062C986-733C-4F57-8BA8-7C165E37F597}"/>
              </a:ext>
            </a:extLst>
          </p:cNvPr>
          <p:cNvSpPr>
            <a:spLocks noGrp="1"/>
          </p:cNvSpPr>
          <p:nvPr/>
        </p:nvSpPr>
        <p:spPr>
          <a:xfrm>
            <a:off x="6705600" y="2152650"/>
            <a:ext cx="24955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16" name="card-accent">
            <a:extLst>
              <a:ext uri="{FF2B5EF4-FFF2-40B4-BE49-F238E27FC236}">
                <a16:creationId xmlns:a16="http://schemas.microsoft.com/office/drawing/2014/main" id="{37C40453-529E-4A20-8C25-37264B469284}"/>
              </a:ext>
            </a:extLst>
          </p:cNvPr>
          <p:cNvSpPr>
            <a:spLocks noGrp="1"/>
          </p:cNvSpPr>
          <p:nvPr/>
        </p:nvSpPr>
        <p:spPr>
          <a:xfrm>
            <a:off x="6705600" y="2152650"/>
            <a:ext cx="66675" cy="1714500"/>
          </a:xfrm>
          <a:prstGeom prst="rect">
            <a:avLst/>
          </a:prstGeom>
          <a:solidFill>
            <a:srgbClr val="F5BE4B"/>
          </a:solidFill>
          <a:ln w="0">
            <a:noFill/>
            <a:prstDash val="solid"/>
          </a:ln>
        </p:spPr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4C859E26-536D-47B4-B853-6F110176AE6F}"/>
              </a:ext>
            </a:extLst>
          </p:cNvPr>
          <p:cNvSpPr>
            <a:spLocks noGrp="1"/>
          </p:cNvSpPr>
          <p:nvPr/>
        </p:nvSpPr>
        <p:spPr>
          <a:xfrm>
            <a:off x="6934200" y="23812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3. Google Maps reviews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979595D1-1016-4E59-9A54-4519A4278FCF}"/>
              </a:ext>
            </a:extLst>
          </p:cNvPr>
          <p:cNvSpPr>
            <a:spLocks noGrp="1"/>
          </p:cNvSpPr>
          <p:nvPr/>
        </p:nvSpPr>
        <p:spPr>
          <a:xfrm>
            <a:off x="6934200" y="2781300"/>
            <a:ext cx="2076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>
                <a:solidFill>
                  <a:srgbClr val="556173"/>
                </a:solidFill>
              </a:rPr>
              <a:t>34,671 reviews were collected from places with available reviews.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35370A1C-65D9-45EA-AA21-13A277F14131}"/>
              </a:ext>
            </a:extLst>
          </p:cNvPr>
          <p:cNvSpPr>
            <a:spLocks noGrp="1"/>
          </p:cNvSpPr>
          <p:nvPr/>
        </p:nvSpPr>
        <p:spPr>
          <a:xfrm>
            <a:off x="9315450" y="2724150"/>
            <a:ext cx="38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8EA2B8"/>
                </a:solidFill>
              </a:defRPr>
            </a:pPr>
            <a:r>
              <a:rPr sz="2400" b="1">
                <a:solidFill>
                  <a:srgbClr val="8EA2B8"/>
                </a:solidFill>
              </a:rPr>
              <a:t>→</a:t>
            </a:r>
          </a:p>
        </p:txBody>
      </p:sp>
      <p:sp>
        <p:nvSpPr>
          <p:cNvPr id="20" name="card">
            <a:extLst>
              <a:ext uri="{FF2B5EF4-FFF2-40B4-BE49-F238E27FC236}">
                <a16:creationId xmlns:a16="http://schemas.microsoft.com/office/drawing/2014/main" id="{EDD090DA-786F-4B53-9FFC-FF3D257DEF79}"/>
              </a:ext>
            </a:extLst>
          </p:cNvPr>
          <p:cNvSpPr>
            <a:spLocks noGrp="1"/>
          </p:cNvSpPr>
          <p:nvPr/>
        </p:nvSpPr>
        <p:spPr>
          <a:xfrm>
            <a:off x="9658350" y="2152650"/>
            <a:ext cx="180975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3EF"/>
            </a:solidFill>
            <a:prstDash val="solid"/>
          </a:ln>
        </p:spPr>
      </p:sp>
      <p:sp>
        <p:nvSpPr>
          <p:cNvPr id="21" name="card-accent">
            <a:extLst>
              <a:ext uri="{FF2B5EF4-FFF2-40B4-BE49-F238E27FC236}">
                <a16:creationId xmlns:a16="http://schemas.microsoft.com/office/drawing/2014/main" id="{31E42C52-367A-45F6-9018-1F11971A94AA}"/>
              </a:ext>
            </a:extLst>
          </p:cNvPr>
          <p:cNvSpPr>
            <a:spLocks noGrp="1"/>
          </p:cNvSpPr>
          <p:nvPr/>
        </p:nvSpPr>
        <p:spPr>
          <a:xfrm>
            <a:off x="9658350" y="2152650"/>
            <a:ext cx="66675" cy="1714500"/>
          </a:xfrm>
          <a:prstGeom prst="rect">
            <a:avLst/>
          </a:prstGeom>
          <a:solidFill>
            <a:srgbClr val="F19C79"/>
          </a:solidFill>
          <a:ln w="0">
            <a:noFill/>
            <a:prstDash val="solid"/>
          </a:ln>
        </p:spPr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7F70B034-4C7E-4E3D-8EA5-0F6B2C49ED42}"/>
              </a:ext>
            </a:extLst>
          </p:cNvPr>
          <p:cNvSpPr>
            <a:spLocks noGrp="1"/>
          </p:cNvSpPr>
          <p:nvPr/>
        </p:nvSpPr>
        <p:spPr>
          <a:xfrm>
            <a:off x="9886950" y="23812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rPr sz="1500" b="1" dirty="0">
                <a:solidFill>
                  <a:srgbClr val="172033"/>
                </a:solidFill>
              </a:rPr>
              <a:t>4. Placeness mappings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E24A53C7-6512-43E0-B59E-E0353D65E0A7}"/>
              </a:ext>
            </a:extLst>
          </p:cNvPr>
          <p:cNvSpPr>
            <a:spLocks noGrp="1"/>
          </p:cNvSpPr>
          <p:nvPr/>
        </p:nvSpPr>
        <p:spPr>
          <a:xfrm>
            <a:off x="9877425" y="2880144"/>
            <a:ext cx="15811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173"/>
                </a:solidFill>
              </a:defRPr>
            </a:pPr>
            <a:r>
              <a:rPr sz="1275" b="0" dirty="0">
                <a:solidFill>
                  <a:srgbClr val="556173"/>
                </a:solidFill>
              </a:rPr>
              <a:t>17,641 reviews were mapped to placeness factors across 1,486 places.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9E64EB46-4D87-40EB-BA02-5EBC86811507}"/>
              </a:ext>
            </a:extLst>
          </p:cNvPr>
          <p:cNvSpPr>
            <a:spLocks noGrp="1"/>
          </p:cNvSpPr>
          <p:nvPr/>
        </p:nvSpPr>
        <p:spPr>
          <a:xfrm>
            <a:off x="1104900" y="53340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556173"/>
                </a:solidFill>
              </a:defRPr>
            </a:pPr>
            <a:r>
              <a:rPr sz="1500" b="0" dirty="0">
                <a:solidFill>
                  <a:srgbClr val="556173"/>
                </a:solidFill>
              </a:rPr>
              <a:t>Data may be updated as review collection expands.</a:t>
            </a:r>
          </a:p>
        </p:txBody>
      </p:sp>
    </p:spTree>
    <p:extLst>
      <p:ext uri="{BB962C8B-B14F-4D97-AF65-F5344CB8AC3E}">
        <p14:creationId xmlns:p14="http://schemas.microsoft.com/office/powerpoint/2010/main" val="1581698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-accent">
            <a:extLst>
              <a:ext uri="{FF2B5EF4-FFF2-40B4-BE49-F238E27FC236}">
                <a16:creationId xmlns:a16="http://schemas.microsoft.com/office/drawing/2014/main" id="{D5178706-9B6B-4C34-AD4B-23C61137B4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261B90D-D999-4E78-BC01-5D926503EC4F}"/>
              </a:ext>
            </a:extLst>
          </p:cNvPr>
          <p:cNvSpPr>
            <a:spLocks noGrp="1"/>
          </p:cNvSpPr>
          <p:nvPr/>
        </p:nvSpPr>
        <p:spPr>
          <a:xfrm>
            <a:off x="565029" y="504642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Demo and Application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5DE1C5E-C6F3-48BB-84A4-A4BF4703BE5D}"/>
              </a:ext>
            </a:extLst>
          </p:cNvPr>
          <p:cNvSpPr>
            <a:spLocks noGrp="1"/>
          </p:cNvSpPr>
          <p:nvPr/>
        </p:nvSpPr>
        <p:spPr>
          <a:xfrm>
            <a:off x="565029" y="968376"/>
            <a:ext cx="609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6173"/>
                </a:solidFill>
              </a:defRPr>
            </a:pPr>
            <a:r>
              <a:rPr sz="1500" b="0" dirty="0">
                <a:solidFill>
                  <a:srgbClr val="556173"/>
                </a:solidFill>
              </a:rPr>
              <a:t>https://space-agent.streamlit.app/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D9D1AE9-5F36-4271-A139-860200674FAA}"/>
              </a:ext>
            </a:extLst>
          </p:cNvPr>
          <p:cNvSpPr>
            <a:spLocks noGrp="1"/>
          </p:cNvSpPr>
          <p:nvPr/>
        </p:nvSpPr>
        <p:spPr>
          <a:xfrm>
            <a:off x="9571726" y="1570659"/>
            <a:ext cx="237873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 dirty="0">
                <a:solidFill>
                  <a:srgbClr val="172033"/>
                </a:solidFill>
              </a:rPr>
              <a:t>• Shows the process from the placeness factor framework to review mapping results and score calculation.</a:t>
            </a: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 dirty="0">
                <a:solidFill>
                  <a:srgbClr val="172033"/>
                </a:solidFill>
              </a:rPr>
              <a:t>• Allows users to examine which review phrases support each factor score.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9B0A1C2E-BC58-765E-4CA6-06A1DD6F0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85" y="1428384"/>
            <a:ext cx="8564113" cy="492497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76663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8758B-6AFA-2E23-488C-CDA8AFFD1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-accent">
            <a:extLst>
              <a:ext uri="{FF2B5EF4-FFF2-40B4-BE49-F238E27FC236}">
                <a16:creationId xmlns:a16="http://schemas.microsoft.com/office/drawing/2014/main" id="{D785A436-84F3-D1F7-46D7-9AED4EABDC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A70736B-0E15-A62A-74AE-FFBB335E8156}"/>
              </a:ext>
            </a:extLst>
          </p:cNvPr>
          <p:cNvSpPr>
            <a:spLocks noGrp="1"/>
          </p:cNvSpPr>
          <p:nvPr/>
        </p:nvSpPr>
        <p:spPr>
          <a:xfrm>
            <a:off x="565029" y="504642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Demo and Application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F8DCC61-EF63-9ED4-A3D8-33D73DE2B44D}"/>
              </a:ext>
            </a:extLst>
          </p:cNvPr>
          <p:cNvSpPr>
            <a:spLocks noGrp="1"/>
          </p:cNvSpPr>
          <p:nvPr/>
        </p:nvSpPr>
        <p:spPr>
          <a:xfrm>
            <a:off x="565029" y="968376"/>
            <a:ext cx="609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6173"/>
                </a:solidFill>
              </a:defRPr>
            </a:pPr>
            <a:r>
              <a:rPr sz="1500" b="0" dirty="0">
                <a:solidFill>
                  <a:srgbClr val="556173"/>
                </a:solidFill>
              </a:rPr>
              <a:t>https://space-agent.streamlit.app/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889A76B-0FA2-A43F-3764-851A6AB53878}"/>
              </a:ext>
            </a:extLst>
          </p:cNvPr>
          <p:cNvSpPr>
            <a:spLocks noGrp="1"/>
          </p:cNvSpPr>
          <p:nvPr/>
        </p:nvSpPr>
        <p:spPr>
          <a:xfrm>
            <a:off x="7501385" y="1623828"/>
            <a:ext cx="400481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 dirty="0">
                <a:solidFill>
                  <a:srgbClr val="172033"/>
                </a:solidFill>
              </a:rPr>
              <a:t>• Shows the process from the placeness factor framework to review mapping results and score calculation.</a:t>
            </a: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 dirty="0">
                <a:solidFill>
                  <a:srgbClr val="172033"/>
                </a:solidFill>
              </a:rPr>
              <a:t>• Allows users to examine which review phrases support each factor score.</a:t>
            </a: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 dirty="0">
                <a:solidFill>
                  <a:srgbClr val="172033"/>
                </a:solidFill>
              </a:rPr>
              <a:t>• Can be extended to place comparison, spatial search, and personalized recommendation.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16E54E0-CFE2-06BC-426A-65D2E7CE5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029" y="180181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6" name="_x413917952">
            <a:extLst>
              <a:ext uri="{FF2B5EF4-FFF2-40B4-BE49-F238E27FC236}">
                <a16:creationId xmlns:a16="http://schemas.microsoft.com/office/drawing/2014/main" id="{B3BAA197-F3F2-1C8E-F752-C22DE28D6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78" y="2127849"/>
            <a:ext cx="5983567" cy="436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_x413917880">
            <a:extLst>
              <a:ext uri="{FF2B5EF4-FFF2-40B4-BE49-F238E27FC236}">
                <a16:creationId xmlns:a16="http://schemas.microsoft.com/office/drawing/2014/main" id="{8C4768D4-5D3B-F608-D34C-AB4B4E9C2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78" y="1561113"/>
            <a:ext cx="6525691" cy="51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893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op-accent">
            <a:extLst>
              <a:ext uri="{FF2B5EF4-FFF2-40B4-BE49-F238E27FC236}">
                <a16:creationId xmlns:a16="http://schemas.microsoft.com/office/drawing/2014/main" id="{641762D4-0D6C-4AFE-B8A5-09C8E02245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3FC7052-E8F7-4111-AA18-FAC9AA368BA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sz="1050" b="1">
                <a:solidFill>
                  <a:srgbClr val="2F6EA6"/>
                </a:solidFill>
              </a:rPr>
              <a:t>CONCLUSION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24677DB-BFA4-4F75-88CE-B983C8FFAE5F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Conclusion and Limitations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CCC2DEA-F505-4D38-9A85-8068359D9FDD}"/>
              </a:ext>
            </a:extLst>
          </p:cNvPr>
          <p:cNvSpPr>
            <a:spLocks noGrp="1"/>
          </p:cNvSpPr>
          <p:nvPr/>
        </p:nvSpPr>
        <p:spPr>
          <a:xfrm>
            <a:off x="914400" y="1619250"/>
            <a:ext cx="9906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This study confirmed that placeness can be quantified using user-generated text review data.</a:t>
            </a:r>
          </a:p>
          <a:p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The proposed scoring framework produces comparable indicators based on placeness factors.</a:t>
            </a:r>
          </a:p>
          <a:p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Review-based quantification can complement fieldwork- and survey-based evaluation methods.</a:t>
            </a:r>
          </a:p>
          <a:p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The system can be extended to place recommendation, spatial search, and place comparison.</a:t>
            </a:r>
          </a:p>
          <a:p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Limitations remain because the empirical target is cafés in Seoul and online reviews do not represent every user experience.</a:t>
            </a:r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1376A093-8C27-46FD-A5A2-036C7831510A}"/>
              </a:ext>
            </a:extLst>
          </p:cNvPr>
          <p:cNvSpPr>
            <a:spLocks noGrp="1"/>
          </p:cNvSpPr>
          <p:nvPr/>
        </p:nvSpPr>
        <p:spPr>
          <a:xfrm>
            <a:off x="1619250" y="5334000"/>
            <a:ext cx="8953500" cy="723900"/>
          </a:xfrm>
          <a:prstGeom prst="roundRect">
            <a:avLst>
              <a:gd name="adj" fmla="val 15789"/>
            </a:avLst>
          </a:prstGeom>
          <a:solidFill>
            <a:srgbClr val="FFF4DC"/>
          </a:solidFill>
          <a:ln w="9525">
            <a:solidFill>
              <a:srgbClr val="F4D38C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2AAF268-2CD9-46D4-9170-101F19BD0502}"/>
              </a:ext>
            </a:extLst>
          </p:cNvPr>
          <p:cNvSpPr>
            <a:spLocks noGrp="1"/>
          </p:cNvSpPr>
          <p:nvPr/>
        </p:nvSpPr>
        <p:spPr>
          <a:xfrm>
            <a:off x="2076450" y="5562600"/>
            <a:ext cx="803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9A6500"/>
                </a:solidFill>
              </a:defRPr>
            </a:pPr>
            <a:r>
              <a:rPr sz="1800" b="1">
                <a:solidFill>
                  <a:srgbClr val="9A6500"/>
                </a:solidFill>
              </a:rPr>
              <a:t>From qualitative place experience to comparable quantitative placeness indicators</a:t>
            </a:r>
          </a:p>
        </p:txBody>
      </p:sp>
    </p:spTree>
    <p:extLst>
      <p:ext uri="{BB962C8B-B14F-4D97-AF65-F5344CB8AC3E}">
        <p14:creationId xmlns:p14="http://schemas.microsoft.com/office/powerpoint/2010/main" val="33970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683DB-490D-5A0D-6634-C43BB9EA6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op-accent">
            <a:extLst>
              <a:ext uri="{FF2B5EF4-FFF2-40B4-BE49-F238E27FC236}">
                <a16:creationId xmlns:a16="http://schemas.microsoft.com/office/drawing/2014/main" id="{F0555E8A-74AC-480D-0596-4F533AB2EF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F6EA6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8E927AE-A289-1DA7-5FE1-4EF5AE40B0B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6EA6"/>
                </a:solidFill>
              </a:defRPr>
            </a:pPr>
            <a:r>
              <a:rPr lang="en-US" sz="1050" b="1" dirty="0">
                <a:solidFill>
                  <a:srgbClr val="2F6EA6"/>
                </a:solidFill>
              </a:rPr>
              <a:t>References</a:t>
            </a:r>
            <a:endParaRPr sz="1050" b="1" dirty="0">
              <a:solidFill>
                <a:srgbClr val="2F6EA6"/>
              </a:solidFill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127D894-2BB3-7583-4287-66F7552E2EE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lang="en-US" sz="2700" b="1" dirty="0">
                <a:solidFill>
                  <a:srgbClr val="172033"/>
                </a:solidFill>
              </a:rPr>
              <a:t>References</a:t>
            </a:r>
            <a:endParaRPr sz="2700" b="1" dirty="0">
              <a:solidFill>
                <a:srgbClr val="172033"/>
              </a:solidFill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B515B41-08BB-7ADE-0A15-A0361C9E8016}"/>
              </a:ext>
            </a:extLst>
          </p:cNvPr>
          <p:cNvSpPr>
            <a:spLocks noGrp="1"/>
          </p:cNvSpPr>
          <p:nvPr/>
        </p:nvSpPr>
        <p:spPr>
          <a:xfrm>
            <a:off x="741870" y="1310137"/>
            <a:ext cx="11231594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Relph, E. (1976).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and placelessness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Pion.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Tuan, Y. F. (1977).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and place: The perspective of experience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University of Minnesota Press.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Norberg-Schulz, C. (1971).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Existence, space and architecture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Praeger.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Lukermann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 (1964). Geography as a formal intellectual discipline and the way in which it contributes to human knowledge.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Canadian Geographer, 8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(4), 167–172.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Trancik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(1986).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lost space: Theories of urban design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Van Nostrand Reinhold.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Canter, David. (1977). The Psychology of Place.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Oldenburg, R. (1989). The great good place: Cafés, coffee shops, community centers, beauty parlors, general stores, bars, hangouts, and how they get you through the day. Paragon House.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Yoo, Y., &amp; Lee, J.-K. (2025). Quantification and analysis methods of architectural styles using image-text AI models.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Architectural Institute of Korea, 41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93–101.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Na, H., Lee, D., &amp; Lee, S. (2025). Analysis of placeness of major places in Seoul, Korea using text mining and large language models.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Korea Planning Association, 60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21–42.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Lee, J., &amp; Son, Y. (2021). Perception and appraisal of urban park users using text mining of Google Maps reviews: Cases of Seoul Forest,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Boramae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and Olympic Park.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Korean Institute of Landscape Architecture, 49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(4), 15–29.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Hwang, H., Lee, J., &amp; Son, Y. (2025). User perception and spatial attractiveness of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Hangang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parks using Google Maps reviews: Focused on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Mangwon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Hangang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Banpo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Hangang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Yeouido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Hangang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and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Jamsil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Hangang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Korean Institute of Landscape Architecture, 53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16–30.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Sun, S., &amp; Yu, Y. (2021). Dimension and formation of placeness of commercial public space in city center: A case study of Deji Plaza in Nanjing.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of Architectural Research, 10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229–239.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Lyu, H. (1996). A study on the embodiment factors of the sense of place in interior space focused on residential environment.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Korean Institute of Interior Design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(7), 56–63.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Guo, F., Hwang, Y., &amp; Lee, J. (2025). User perception analysis of museum spatial design based on place characteristics.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Korea Institute of Spatial Design, 20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181–190.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Hwang, Y., &amp; Hwang, Y. (2025). A case study of culturally regenerated idle spaces applying the formative factors of placeness.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Korean Institute of Interior Design Conference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363–366.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 Choi, S., &amp; Lee, K. (2023). A study on the user perception of the place of space expression.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Architectural Institute of Korea, 39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(6), 3–14.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 Hong, S., Park, J., &amp; Lim, S. (2011). Study on the definition and concept for sense of place.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Korea Landscape Council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2011(1), 39–52.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 Kwon, Y., &amp;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(2014). A Type Classification of Representative Places’ Sense of Place in Seoul through the Adjective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Indexs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Measuring the Sense of Place. Journal of the Urban Design Institute of Korea Urban Design, 15(3), 135-150.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19. Lee, Jihye and Kim Jihyun. (2025). A Study on Spatial Design Strategies for Large-Scale Cafes from the Perspective of Complex Cultural Spaces. Journal of Korea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Intitute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Spatial Design, 20(8), 415-428.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 Waxman, L. (2006).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coffee shop: Social and physical factors influencing place attachment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Journal of Interior Design, 31(3), 35–53.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21. Steele, F. (1981).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sense of place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CBI Publishing Company.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22. Shamai, S. (1991).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Sense of place: An empirical measurement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Geoforum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22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347–358. 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https://doi.org/10.1016/0016-7185(91)90017-K</a:t>
            </a:r>
            <a:endParaRPr lang="en-US" altLang="ko-KR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 Stedman, R. C. (2003).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really just a social construction? The contribution of the physical environment to sense of place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Society &amp; Natural Resources, 16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(8), 671–685. 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https://doi.org/10.1080/08941920309189</a:t>
            </a:r>
            <a:endParaRPr lang="en-US" altLang="ko-KR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24. Zhang, F., Zhou, B., Liu, L., Fung, H. H., Lin, H., &amp; Ratti, C. (2018).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human perceptions of a large-scale urban region using machine learning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Landscape and Urban Planning, 180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148–160. 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https://doi.org/10.1016/j.landurbplan.2018.08.020</a:t>
            </a:r>
            <a:endParaRPr lang="en-US" altLang="ko-KR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25. Kwon, Y. K., Jeung, Y. H., &amp;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B. (2011).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study on the structural equation modeling of Insa-dong street’s sense of place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Korea Planning Association, 46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139–151.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26.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B., Jeong, Y. H., Hue, Y. S., Kwon, Y. K., Byeon, J.-S., &amp; Choi, H. S. (2011).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study on the types of experiences related to sense of place in cities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Korean Institute of Landscape Architecture, 39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(6), 46–56.</a:t>
            </a: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27. Gilardi, F., Alizadeh, M., &amp; Kubli, M. (2023). ChatGPT outperforms crowd workers for text-annotation tasks.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National Academy of Sciences, 120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(30), e2305016120. 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https://doi.org/10.1073/pnas.2305016120</a:t>
            </a:r>
            <a:endParaRPr lang="en-US" altLang="ko-KR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28.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Pangakis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N., &amp; Wolken, S. (2024).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distillation in automated annotation: Supervised text classification with LLM-generated training labels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Sixth Workshop on Natural Language Processing and Computational Social Science. 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https://doi.org/10.48550/arXiv.2406.17633</a:t>
            </a:r>
            <a:endParaRPr lang="en-US" altLang="ko-KR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29. Wang, Z., Xie, Q., Feng, Y., Ding, Z., Yang, Z., &amp; Xia, R. (2023). </a:t>
            </a:r>
            <a:r>
              <a:rPr lang="en-US" altLang="ko-KR" sz="9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ChatGPT a good sentiment analyzer? A preliminary study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https://doi.org/10.48550/arXiv.2304.04339</a:t>
            </a:r>
            <a:endParaRPr lang="en-US" altLang="ko-KR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 latinLnBrk="1"/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30. </a:t>
            </a:r>
            <a:r>
              <a:rPr lang="ko-KR" alt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소상공인시장진흥공단</a:t>
            </a:r>
            <a:r>
              <a:rPr lang="en-US" altLang="ko-KR" sz="950" dirty="0">
                <a:latin typeface="Arial" panose="020B0604020202020204" pitchFamily="34" charset="0"/>
                <a:cs typeface="Arial" panose="020B0604020202020204" pitchFamily="34" charset="0"/>
              </a:rPr>
              <a:t>. (n.d.). </a:t>
            </a:r>
            <a:r>
              <a:rPr lang="ko-KR" altLang="en-US" sz="950" i="1" dirty="0">
                <a:latin typeface="Arial" panose="020B0604020202020204" pitchFamily="34" charset="0"/>
                <a:cs typeface="Arial" panose="020B0604020202020204" pitchFamily="34" charset="0"/>
              </a:rPr>
              <a:t>상권정보데이터</a:t>
            </a:r>
            <a:r>
              <a:rPr lang="en-US" altLang="ko-KR" sz="95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ko-KR" altLang="en-US" sz="950" dirty="0">
                <a:latin typeface="Arial" panose="020B0604020202020204" pitchFamily="34" charset="0"/>
                <a:cs typeface="Arial" panose="020B0604020202020204" pitchFamily="34" charset="0"/>
              </a:rPr>
              <a:t>데이터셋</a:t>
            </a:r>
            <a:r>
              <a:rPr lang="en-US" altLang="ko-KR" sz="950" dirty="0">
                <a:latin typeface="Arial" panose="020B0604020202020204" pitchFamily="34" charset="0"/>
                <a:cs typeface="Arial" panose="020B0604020202020204" pitchFamily="34" charset="0"/>
              </a:rPr>
              <a:t>]. </a:t>
            </a:r>
            <a:r>
              <a:rPr lang="ko-KR" alt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공공데이터포털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sz="95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https://www.data.go.kr/data/15083033/fileData.do</a:t>
            </a:r>
            <a:endParaRPr lang="en-US" altLang="ko-KR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650" b="0">
                <a:solidFill>
                  <a:srgbClr val="172033"/>
                </a:solidFill>
              </a:defRPr>
            </a:pPr>
            <a:endParaRPr sz="950" b="0" dirty="0">
              <a:solidFill>
                <a:srgbClr val="1720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1532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2819</Words>
  <Application>Microsoft Office PowerPoint</Application>
  <DocSecurity>0</DocSecurity>
  <PresentationFormat>와이드스크린</PresentationFormat>
  <Paragraphs>355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Pretendard</vt:lpstr>
      <vt:lpstr>나눔바른고딕</vt:lpstr>
      <vt:lpstr>Arial</vt:lpstr>
      <vt:lpstr>Calibri</vt:lpstr>
      <vt:lpstr>Times New Roman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Jiwon Shin</cp:lastModifiedBy>
  <cp:revision>13</cp:revision>
  <dcterms:created xsi:type="dcterms:W3CDTF">2026-06-21T10:36:47Z</dcterms:created>
  <dcterms:modified xsi:type="dcterms:W3CDTF">2026-06-21T11:51:16Z</dcterms:modified>
</cp:coreProperties>
</file>