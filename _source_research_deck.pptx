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4787" r:id="rId3"/>
    <p:sldId id="4788" r:id="rId4"/>
    <p:sldId id="261" r:id="rId5"/>
    <p:sldId id="264" r:id="rId6"/>
    <p:sldId id="361" r:id="rId7"/>
    <p:sldId id="287" r:id="rId8"/>
    <p:sldId id="4782" r:id="rId9"/>
    <p:sldId id="4783" r:id="rId10"/>
    <p:sldId id="358" r:id="rId11"/>
    <p:sldId id="359" r:id="rId12"/>
    <p:sldId id="327" r:id="rId13"/>
    <p:sldId id="4772" r:id="rId14"/>
    <p:sldId id="278" r:id="rId15"/>
    <p:sldId id="4755" r:id="rId16"/>
    <p:sldId id="4756" r:id="rId17"/>
    <p:sldId id="4760" r:id="rId18"/>
    <p:sldId id="4765" r:id="rId19"/>
    <p:sldId id="4784" r:id="rId20"/>
    <p:sldId id="4786" r:id="rId21"/>
    <p:sldId id="4785" r:id="rId22"/>
    <p:sldId id="279" r:id="rId23"/>
    <p:sldId id="4790" r:id="rId24"/>
    <p:sldId id="307" r:id="rId25"/>
    <p:sldId id="4789" r:id="rId26"/>
    <p:sldId id="317" r:id="rId27"/>
    <p:sldId id="340" r:id="rId28"/>
    <p:sldId id="349" r:id="rId29"/>
    <p:sldId id="4757" r:id="rId30"/>
    <p:sldId id="4724" r:id="rId31"/>
    <p:sldId id="4780" r:id="rId32"/>
    <p:sldId id="4776" r:id="rId33"/>
    <p:sldId id="4778" r:id="rId34"/>
    <p:sldId id="4769" r:id="rId35"/>
    <p:sldId id="4791" r:id="rId36"/>
    <p:sldId id="4726" r:id="rId3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DCBDC548-2CB7-4D24-89B3-F2D2B329A0EF}">
          <p14:sldIdLst>
            <p14:sldId id="256"/>
            <p14:sldId id="4787"/>
            <p14:sldId id="4788"/>
            <p14:sldId id="261"/>
            <p14:sldId id="264"/>
            <p14:sldId id="361"/>
            <p14:sldId id="287"/>
            <p14:sldId id="4782"/>
            <p14:sldId id="4783"/>
            <p14:sldId id="358"/>
            <p14:sldId id="359"/>
            <p14:sldId id="327"/>
            <p14:sldId id="4772"/>
            <p14:sldId id="278"/>
            <p14:sldId id="4755"/>
            <p14:sldId id="4756"/>
            <p14:sldId id="4760"/>
            <p14:sldId id="4765"/>
            <p14:sldId id="4784"/>
            <p14:sldId id="4786"/>
            <p14:sldId id="4785"/>
            <p14:sldId id="279"/>
            <p14:sldId id="4790"/>
            <p14:sldId id="307"/>
            <p14:sldId id="4789"/>
            <p14:sldId id="317"/>
            <p14:sldId id="340"/>
            <p14:sldId id="349"/>
            <p14:sldId id="4757"/>
          </p14:sldIdLst>
        </p14:section>
        <p14:section name="backup" id="{36A24C61-E5E4-44DD-A1C8-F2AD19CC0908}">
          <p14:sldIdLst>
            <p14:sldId id="4724"/>
            <p14:sldId id="4780"/>
            <p14:sldId id="4776"/>
            <p14:sldId id="4778"/>
            <p14:sldId id="4769"/>
            <p14:sldId id="4791"/>
            <p14:sldId id="472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in" initials="S" lastIdx="2" clrIdx="0">
    <p:extLst>
      <p:ext uri="{19B8F6BF-5375-455C-9EA6-DF929625EA0E}">
        <p15:presenceInfo xmlns:p15="http://schemas.microsoft.com/office/powerpoint/2012/main" userId="Sh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1E1"/>
    <a:srgbClr val="FFCCCC"/>
    <a:srgbClr val="F3FFFE"/>
    <a:srgbClr val="E5FFFD"/>
    <a:srgbClr val="E6FEF8"/>
    <a:srgbClr val="E0FCED"/>
    <a:srgbClr val="E8FFDD"/>
    <a:srgbClr val="F2FFE5"/>
    <a:srgbClr val="CCFF99"/>
    <a:srgbClr val="FCFE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50" autoAdjust="0"/>
    <p:restoredTop sz="91636" autoAdjust="0"/>
  </p:normalViewPr>
  <p:slideViewPr>
    <p:cSldViewPr snapToGrid="0">
      <p:cViewPr>
        <p:scale>
          <a:sx n="100" d="100"/>
          <a:sy n="100" d="100"/>
        </p:scale>
        <p:origin x="78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742A3E-7630-40A4-8A65-176EF8EEAAD5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0BBF88-F102-4757-A9B3-0A8D904BC9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695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BF88-F102-4757-A9B3-0A8D904BC90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7517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BF88-F102-4757-A9B3-0A8D904BC90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1464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BF88-F102-4757-A9B3-0A8D904BC90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78033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EBE63-7779-E3F6-E448-54495C4F6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51F498-345F-DA3E-3614-0D26687101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C73823-A9E4-9525-B8F8-395D82628D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3BD0DD-704A-211D-6766-562FEA898E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BF88-F102-4757-A9B3-0A8D904BC90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8893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BF88-F102-4757-A9B3-0A8D904BC90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403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한줄요약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이 연구에 대한 메타인지</a:t>
            </a:r>
          </a:p>
          <a:p>
            <a:endParaRPr lang="ko-KR" altLang="en-US" dirty="0"/>
          </a:p>
          <a:p>
            <a:r>
              <a:rPr lang="en-US" altLang="ko-KR" dirty="0"/>
              <a:t>: </a:t>
            </a:r>
            <a:r>
              <a:rPr lang="ko-KR" altLang="en-US" dirty="0"/>
              <a:t>장소성은 물리적 공간에 주관적인 의미가 부여된 특성 또는 정체성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본 연구에서 제안하는 것은 주관적이고 정성적인 장소성이라는 개념을 </a:t>
            </a:r>
            <a:r>
              <a:rPr lang="ko-KR" altLang="en-US" dirty="0" err="1"/>
              <a:t>수치화하는</a:t>
            </a:r>
            <a:r>
              <a:rPr lang="ko-KR" altLang="en-US" dirty="0"/>
              <a:t> 시스템</a:t>
            </a:r>
            <a:r>
              <a:rPr lang="en-US" altLang="ko-KR" dirty="0"/>
              <a:t>. </a:t>
            </a:r>
            <a:r>
              <a:rPr lang="ko-KR" altLang="en-US" dirty="0"/>
              <a:t>이 시스템을 통해서 사용자들이 작성한 텍스트 리뷰 데이터</a:t>
            </a:r>
            <a:r>
              <a:rPr lang="en-US" altLang="ko-KR" dirty="0"/>
              <a:t>(input)</a:t>
            </a:r>
            <a:r>
              <a:rPr lang="ko-KR" altLang="en-US" dirty="0"/>
              <a:t>를 가지고 장소별 </a:t>
            </a:r>
            <a:r>
              <a:rPr lang="ko-KR" altLang="en-US" dirty="0" err="1"/>
              <a:t>장소성</a:t>
            </a:r>
            <a:r>
              <a:rPr lang="ko-KR" altLang="en-US" dirty="0"/>
              <a:t> 점수</a:t>
            </a:r>
            <a:r>
              <a:rPr lang="en-US" altLang="ko-KR" dirty="0"/>
              <a:t>(output)</a:t>
            </a:r>
            <a:r>
              <a:rPr lang="ko-KR" altLang="en-US" dirty="0"/>
              <a:t>를 산출할 수 있음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BF88-F102-4757-A9B3-0A8D904BC90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25047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인풋 정의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BF88-F102-4757-A9B3-0A8D904BC90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586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CDC76-8B52-5DFF-7D8F-6705964DB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54B98C-A2EB-156B-C2F4-370724CF21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8BF3A1D-9C48-9DE6-32C8-247EE9FCB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아웃풋 정의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0A6CD9-072D-0349-7700-71921D2F3D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BF88-F102-4757-A9B3-0A8D904BC90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73443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451FD-3CFE-D2AF-3E6D-9BF4A4437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137A19-9CAB-9CC1-2A57-0B45FC7FB7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C8B976-1DDF-BA99-6D0E-58C9175D81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단순하게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모듈과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외부 데이터 참조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194FA6-8B61-9A7B-23FC-039A1966A3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BF88-F102-4757-A9B3-0A8D904BC90B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1700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1A3FA-1EB0-E25B-ECA1-FB64E77DE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338BDA-91D9-0353-2F85-EA918094B1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17FEE0-1279-1151-9902-675E75EC0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1)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요인 매핑 모듈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 LLM(API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혹은 로컬 모델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prompt instruction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줘서 리뷰 문장과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 매핑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리뷰에서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원문 근거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긍정 및 부정 방향 추출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indent="0">
              <a:buFontTx/>
              <a:buNone/>
            </a:pP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2)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점수화 모듈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 BERT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기반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Aspect-Based Sentiment Analysis(ABSA)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기법 활용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Aspect(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여기서는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별 긍정인가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?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부정인가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?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판별하고 확률적으로 계산하는 딥러닝 모델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1507B4-9D19-8CDC-DFFB-9B53F58982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BF88-F102-4757-A9B3-0A8D904BC90B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92604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BF88-F102-4757-A9B3-0A8D904BC90B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880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BF88-F102-4757-A9B3-0A8D904BC90B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6356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72CE3-7085-0066-C79D-AFE7214BB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99DD2A-4794-C2B6-8EB4-E40E268EE2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F5E8BC-3033-817D-45FF-E00CDDF175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D7C590-70DC-3424-D8C5-E7699244A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BF88-F102-4757-A9B3-0A8D904BC90B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41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E44FD-E100-2029-22B7-046ABC5E1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ACDA98-DCD7-0FA4-C6E3-070DE55C81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D17C15-FB7B-5A7E-47B1-F203564BE4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1)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요인 매핑 모듈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 LLM(API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혹은 로컬 모델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으로 가이드를 해서 리뷰 문장과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 매핑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리뷰에서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원문 근거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긍정 및 부정 방향 추출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indent="0">
              <a:buFontTx/>
              <a:buNone/>
            </a:pP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2)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점수화 모듈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 Aspect-Based Sentiment Analysis(ABSA)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기법 활용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Aspect(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여기서는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별 긍정인가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?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부정인가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?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판별하고 확률적으로 계산하는 모델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8F945D-5A19-E85A-365D-213ECD2F47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BF88-F102-4757-A9B3-0A8D904BC90B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87429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53514-A508-8F5E-C9B6-EC501D90C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97AFE9-00FE-7E7B-B520-824E3B3A3D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9DE6AA-10B3-5BD6-ECA0-B6A1ADF81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dirty="0"/>
              <a:t>2</a:t>
            </a:r>
            <a:r>
              <a:rPr lang="ko-KR" altLang="en-US" dirty="0"/>
              <a:t>개 모듈 쉬운 말로</a:t>
            </a:r>
            <a:endParaRPr lang="en-US" altLang="ko-KR" dirty="0"/>
          </a:p>
          <a:p>
            <a:pPr marL="228600" indent="-228600">
              <a:buFontTx/>
              <a:buAutoNum type="arabicParenR"/>
            </a:pPr>
            <a:r>
              <a:rPr lang="ko-KR" altLang="en-US" dirty="0"/>
              <a:t>매핑 모듈</a:t>
            </a:r>
            <a:r>
              <a:rPr lang="en-US" altLang="ko-KR" dirty="0"/>
              <a:t>-&gt; </a:t>
            </a:r>
            <a:r>
              <a:rPr lang="ko-KR" altLang="en-US" dirty="0"/>
              <a:t>선행연구를 통해 </a:t>
            </a:r>
            <a:r>
              <a:rPr lang="ko-KR" altLang="en-US" dirty="0" err="1"/>
              <a:t>장소성</a:t>
            </a:r>
            <a:r>
              <a:rPr lang="ko-KR" altLang="en-US" dirty="0"/>
              <a:t> 요인을 설명하는 표준 문장들을 구축해놓고</a:t>
            </a:r>
            <a:r>
              <a:rPr lang="en-US" altLang="ko-KR" dirty="0"/>
              <a:t>, input</a:t>
            </a:r>
            <a:r>
              <a:rPr lang="ko-KR" altLang="en-US" dirty="0"/>
              <a:t> 리뷰 문장이 이들 중 어떤 요인과 가장 가까운지를 비교하여 관련성 높은 요인들을 매핑한다</a:t>
            </a:r>
            <a:r>
              <a:rPr lang="en-US" altLang="ko-KR" dirty="0"/>
              <a:t>. </a:t>
            </a:r>
          </a:p>
          <a:p>
            <a:pPr marL="228600" indent="-228600">
              <a:buFontTx/>
              <a:buAutoNum type="arabicParenR"/>
            </a:pPr>
            <a:r>
              <a:rPr lang="ko-KR" altLang="en-US" dirty="0"/>
              <a:t>점수화 모듈</a:t>
            </a:r>
            <a:r>
              <a:rPr lang="en-US" altLang="ko-KR" dirty="0"/>
              <a:t>-&gt; </a:t>
            </a:r>
            <a:r>
              <a:rPr lang="ko-KR" altLang="en-US" dirty="0"/>
              <a:t>이후 </a:t>
            </a:r>
            <a:r>
              <a:rPr lang="ko-KR" altLang="en-US" dirty="0" err="1"/>
              <a:t>매핑된</a:t>
            </a:r>
            <a:r>
              <a:rPr lang="ko-KR" altLang="en-US" dirty="0"/>
              <a:t> 문장이 해당 요인을 긍정적으로 평가하는지 부정적으로 평가하는지를 판단하고 여러 문장을 합쳐 최종 점수로 합산한다</a:t>
            </a:r>
            <a:r>
              <a:rPr lang="en-US" altLang="ko-KR" dirty="0"/>
              <a:t>.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C864DD-1EC5-6B82-09E2-A026A2739C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BF88-F102-4757-A9B3-0A8D904BC90B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48733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494F4-D954-5C5F-998F-89C3CE6E4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FBBA97-F1BD-EC21-9CB1-632C7C65AD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B88973-A1E7-EEEB-5074-5CE004BA2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흐름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건축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공간 이론 레퍼런스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-&gt; 3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차원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10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요인 구조화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-&gt;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각 요인에서 나타날 수 있는 언어 표현 규칙 설정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-&gt;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모델 활용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(Sentence BERT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유사도 비교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+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BERT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점수화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lang="ko-KR" alt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DF7BB5-A82D-6CD5-B026-46E01E553A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BF88-F102-4757-A9B3-0A8D904BC90B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20567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DAB22-C9D7-807A-FC19-D3E1E8540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31B7C-8557-B070-836F-A0078EE06C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5AD7D3-656F-E58A-432A-C5CE607350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단순하게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모듈과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외부 데이터 참조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외부 데이터 참조에서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Knowledge base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는 과장된 개념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-&gt; Taxonomy(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분류 체계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혹은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Ontology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 맞음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2686DE-6728-AAE2-CAA0-1E4E815779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BF88-F102-4757-A9B3-0A8D904BC90B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95701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ACA4A-7A03-5DE9-AD0E-D893BFA37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71D1A7-6BDD-ECCB-CCD4-A9D408DEAB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FA8C36-9E10-79E4-D4AC-FAC7DF9D0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단순하게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모듈과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외부 데이터 참조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9E685F-9814-0968-2969-EA17A034FB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BF88-F102-4757-A9B3-0A8D904BC90B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444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EBC1D8-BD92-BCF6-EDF9-42B52BD515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F727E11-0B74-1BF4-FC2C-1DC3A6C76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24E911-4F0F-E6BF-F8E5-E56825C3E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EAA4C-E687-4DFF-A7F7-C0CD0D3797DE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1EE3A4-FB4A-2DD6-E630-E6675080A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79AC8B-81EA-F347-19CA-3E5F12DF9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B02F-A5A4-4B54-BBE7-7F78AAD43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2805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4C5A22-75DF-80EF-B109-A27799C88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AB847F-3CD4-AD87-F991-42B838F9B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648DFF-7C85-70D5-755B-14A5397F0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EAA4C-E687-4DFF-A7F7-C0CD0D3797DE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6A28A7-9D63-3C8C-499B-C8E730874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A25BB8-3225-607C-9096-541945AC7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B02F-A5A4-4B54-BBE7-7F78AAD43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1790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D586CE-A151-994B-9A5E-C4F0F7DFA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077CA2-8B8A-3E0F-C37F-285426CE2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11" indent="0">
              <a:buNone/>
              <a:defRPr sz="1801">
                <a:solidFill>
                  <a:schemeClr val="tx1">
                    <a:tint val="82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43CE60-6052-DD4F-1351-48522601D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EAA4C-E687-4DFF-A7F7-C0CD0D3797DE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3B52E7-158F-6417-BD63-5C44EAB27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67CBDF-8C3F-F904-8438-06B456BC2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B02F-A5A4-4B54-BBE7-7F78AAD43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6880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A8F04C-CB34-1A97-8756-090BF65B2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B875F0-69B1-54AD-AA1C-4945D033BA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25BF5E-D5C0-6377-5F73-0683BB2F57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125AB3D-7E10-67B5-B09B-F95B65CB3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EAA4C-E687-4DFF-A7F7-C0CD0D3797DE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399E66-C80E-3F87-40B4-D974EA1B2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B4ACA2-F522-B28E-B19F-8B905EA0C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B02F-A5A4-4B54-BBE7-7F78AAD43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9989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EEB4E9-3BBA-92AE-4D40-A57E6E623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7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0F81AF-BF1F-092D-710F-6BF21356C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1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3BD7392-9877-9A4A-CB9F-F9FD7B44C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1" y="2505076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EF4BE67-D25C-03E2-65D7-7328B2CAFF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6C846EA-C1B7-68F4-0FA8-ADAC3D8A19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64BF232-0FEC-E137-FB82-322CFF7F1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EAA4C-E687-4DFF-A7F7-C0CD0D3797DE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5C5E009-0732-C13A-7C8D-174ED81E2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DD00EE0-51B5-9ED5-BBCA-D9D788046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B02F-A5A4-4B54-BBE7-7F78AAD43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1689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120097-E179-17FF-A198-B808C4218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D26EB63-1DA8-9A93-1BA8-FF60B7685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EAA4C-E687-4DFF-A7F7-C0CD0D3797DE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A4EF1AE-DAB6-35BA-B33C-2AA6D6451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FC23F09-2A93-06CC-E846-025BC37AE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B02F-A5A4-4B54-BBE7-7F78AAD43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392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75D5225-FF8D-2953-8765-814A67CC6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EAA4C-E687-4DFF-A7F7-C0CD0D3797DE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242137D-D353-145D-B1A1-637FBC8DE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C37936-1FF0-926A-27AF-407D41F94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B02F-A5A4-4B54-BBE7-7F78AAD43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7042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08B6A1-228B-9AA8-97BE-215F3E468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EBD83F-999B-E587-499B-BD41650A7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FA0A17-10F1-D59F-C35B-3166B560F1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2FA094-0233-C9A5-D81B-1B64D1D65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EAA4C-E687-4DFF-A7F7-C0CD0D3797DE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D6035F-97DD-A630-3DB2-21C45436A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AD44DB-D95C-EC2A-A8D6-D6E7867DB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B02F-A5A4-4B54-BBE7-7F78AAD43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591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65EC9F-68AA-AB82-4EF4-0204E4303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E7550B7-886E-1B3D-0FB9-C30B44D7E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20C643C-EC54-BC64-5401-F08C82A272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D63F4C-E4DB-A013-CAE5-EF8FBACFD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EAA4C-E687-4DFF-A7F7-C0CD0D3797DE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FA23C1-FED2-84AC-B55C-889746B4E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61CD1B7-903A-1E40-5B38-E3BC6B7C6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B02F-A5A4-4B54-BBE7-7F78AAD43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3151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58671A-CFC4-4C42-33EE-7B67BBD86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CF2F1EA-0214-5CEB-025C-C5DB9F629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33110E-79F4-E193-7411-D542F3837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EAA4C-E687-4DFF-A7F7-C0CD0D3797DE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1E9671-6FD3-4695-FBD9-D3B1C50A6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8556D4-E8BE-5C85-BC66-3E371528D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B02F-A5A4-4B54-BBE7-7F78AAD43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1543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37FC5CD-FD87-DDBA-782C-B77223658F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9FA2118-9474-A814-44A2-97DCEF4A7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DE5238-E844-159F-1E5E-7AD0A364F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EAA4C-E687-4DFF-A7F7-C0CD0D3797DE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3F44AC-CD23-BF0E-C719-64493948A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F1D887-8E84-DB7B-AD03-9C26F25D1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B02F-A5A4-4B54-BBE7-7F78AAD43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8919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570375B-811F-CC07-4D5E-A8C0019BB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326874-C670-F992-53AB-19A710FE6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D8EFC1-FD24-13FE-239C-6790AE27F3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7EAA4C-E687-4DFF-A7F7-C0CD0D3797DE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1D8F0F-C4B8-43D0-D07D-683F1029B0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5B4150-2FCF-B410-E95E-CA57EF25ED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2AB02F-A5A4-4B54-BBE7-7F78AAD43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3999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1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1" rtl="0" eaLnBrk="1" latinLnBrk="1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120.png"/><Relationship Id="rId7" Type="http://schemas.openxmlformats.org/officeDocument/2006/relationships/image" Target="../media/image16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image" Target="../media/image140.png"/><Relationship Id="rId10" Type="http://schemas.openxmlformats.org/officeDocument/2006/relationships/image" Target="../media/image17.png"/><Relationship Id="rId4" Type="http://schemas.openxmlformats.org/officeDocument/2006/relationships/image" Target="../media/image130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D20685-6C17-0D2F-65B7-3D07718E580A}"/>
              </a:ext>
            </a:extLst>
          </p:cNvPr>
          <p:cNvSpPr txBox="1"/>
          <p:nvPr/>
        </p:nvSpPr>
        <p:spPr>
          <a:xfrm>
            <a:off x="783770" y="2775857"/>
            <a:ext cx="10624457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4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공간 리뷰 텍스트 기반 </a:t>
            </a:r>
            <a:r>
              <a:rPr lang="ko-KR" altLang="en-US" sz="2400" b="1" spc="-149" dirty="0" err="1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장소성</a:t>
            </a:r>
            <a:r>
              <a:rPr lang="ko-KR" altLang="en-US" sz="24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 정량화 접근 방법</a:t>
            </a:r>
            <a:endParaRPr lang="en-US" altLang="ko-KR" sz="2400" b="1" spc="-149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  <a:sym typeface="Wingdings" panose="05000000000000000000" pitchFamily="2" charset="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FF452F-F3E9-DA81-7E15-22D757CAD1D4}"/>
              </a:ext>
            </a:extLst>
          </p:cNvPr>
          <p:cNvSpPr txBox="1"/>
          <p:nvPr/>
        </p:nvSpPr>
        <p:spPr>
          <a:xfrm>
            <a:off x="783770" y="3350825"/>
            <a:ext cx="106244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600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-</a:t>
            </a:r>
            <a:r>
              <a:rPr lang="ko-KR" altLang="en-US" sz="1600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 서울시 휴게음식점 중 커피전문점 사용자 리뷰를 활용하여 </a:t>
            </a:r>
            <a:r>
              <a:rPr lang="en-US" altLang="ko-KR" sz="1600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-</a:t>
            </a: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8758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C37AB-EC5E-2006-C606-39CD8DEA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60559E22-14CF-F52D-0DB0-8115B3C07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63" y="170767"/>
            <a:ext cx="10515600" cy="810532"/>
          </a:xfrm>
        </p:spPr>
        <p:txBody>
          <a:bodyPr>
            <a:normAutofit/>
          </a:bodyPr>
          <a:lstStyle/>
          <a:p>
            <a:r>
              <a:rPr lang="en-US" altLang="ko-KR" sz="24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Demo</a:t>
            </a:r>
            <a:endParaRPr kumimoji="1" lang="ko-KR" altLang="en-US" sz="2400" spc="-149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D82F570-7E8D-FD0B-2D67-BA72BCFF7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261" y="1387476"/>
            <a:ext cx="8559477" cy="52584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C4299F1-99C2-C088-D47E-809D0A423A03}"/>
              </a:ext>
            </a:extLst>
          </p:cNvPr>
          <p:cNvSpPr txBox="1">
            <a:spLocks/>
          </p:cNvSpPr>
          <p:nvPr/>
        </p:nvSpPr>
        <p:spPr>
          <a:xfrm>
            <a:off x="352053" y="721399"/>
            <a:ext cx="10515600" cy="8105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11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401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  <a:sym typeface="Wingdings" panose="05000000000000000000" pitchFamily="2" charset="2"/>
              </a:rPr>
              <a:t>https://space-agent.streamlit.app/</a:t>
            </a:r>
            <a:endParaRPr kumimoji="1" lang="ko-KR" altLang="en-US" sz="140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352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9111D-BD2F-B70C-0850-3C1812E7D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3B6D90-3A7C-9EAB-6B36-CC1325524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63" y="170767"/>
            <a:ext cx="10515600" cy="810532"/>
          </a:xfrm>
        </p:spPr>
        <p:txBody>
          <a:bodyPr>
            <a:normAutofit/>
          </a:bodyPr>
          <a:lstStyle/>
          <a:p>
            <a:r>
              <a:rPr lang="en-US" altLang="ko-KR" sz="24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Demo</a:t>
            </a:r>
            <a:endParaRPr kumimoji="1" lang="ko-KR" altLang="en-US" sz="2400" spc="-149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E0453A8-E3DB-376E-1458-3D0F5F92C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431" y="452204"/>
            <a:ext cx="6626568" cy="135049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5FFCECF-6010-200A-2730-30582C2C4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4890" y="1802702"/>
            <a:ext cx="6529109" cy="5055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092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5E063-9BC5-A60B-D836-55BE0426F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63" y="170767"/>
            <a:ext cx="10515600" cy="810532"/>
          </a:xfrm>
        </p:spPr>
        <p:txBody>
          <a:bodyPr>
            <a:normAutofit/>
          </a:bodyPr>
          <a:lstStyle/>
          <a:p>
            <a:r>
              <a:rPr lang="en-US" altLang="ko-KR" sz="24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1. </a:t>
            </a:r>
            <a:r>
              <a:rPr lang="ko-KR" altLang="en-US" sz="24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연구 배경 및 목적</a:t>
            </a:r>
            <a:endParaRPr kumimoji="1" lang="ko-KR" altLang="en-US" sz="2400" spc="-149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1195F5-0066-168A-2B8E-4CBB2EB74B81}"/>
              </a:ext>
            </a:extLst>
          </p:cNvPr>
          <p:cNvSpPr txBox="1"/>
          <p:nvPr/>
        </p:nvSpPr>
        <p:spPr>
          <a:xfrm>
            <a:off x="700170" y="1177256"/>
            <a:ext cx="9815430" cy="2698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Highlights</a:t>
            </a:r>
          </a:p>
          <a:p>
            <a:pPr>
              <a:lnSpc>
                <a:spcPct val="150000"/>
              </a:lnSpc>
            </a:pP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1.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﻿장소성은 정성적인 개념으로 설문조사나 관찰에 기반한 주관적 평가로만 이루어져 왔으며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이에 데이터 기반 및 대형언어모델을 활용한 정량적 분석 및 활용이 필요함</a:t>
            </a:r>
          </a:p>
          <a:p>
            <a:pPr>
              <a:lnSpc>
                <a:spcPct val="150000"/>
              </a:lnSpc>
            </a:pP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2.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기존 이론 및 선행연구를 바탕으로 장소성의 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3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가지 차원과 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10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개의 세부 요인 도출</a:t>
            </a:r>
          </a:p>
          <a:p>
            <a:pPr>
              <a:lnSpc>
                <a:spcPct val="150000"/>
              </a:lnSpc>
            </a:pP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3.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공간 리뷰 데이터를 활용한 </a:t>
            </a:r>
            <a:r>
              <a:rPr lang="ko-KR" altLang="en-US" sz="140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장소성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 세부 </a:t>
            </a:r>
            <a:r>
              <a:rPr lang="ko-KR" altLang="en-US" sz="140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요인별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 정량화 논리 체계를 구축하고 언어 모델 기반의 일관된 평가 체계를 제안</a:t>
            </a:r>
          </a:p>
          <a:p>
            <a:pPr>
              <a:lnSpc>
                <a:spcPct val="150000"/>
              </a:lnSpc>
            </a:pP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4.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서울시 카페 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2,500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개소에서 리뷰가 없는 곳을 제외하여 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1,786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개소를 대상으로 약 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34,000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건의 리뷰 데이터를 수집 및 </a:t>
            </a:r>
            <a:r>
              <a:rPr lang="ko-KR" altLang="en-US" sz="140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전처리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 후 정량화 논리 체계에 적용</a:t>
            </a:r>
          </a:p>
          <a:p>
            <a:pPr>
              <a:lnSpc>
                <a:spcPct val="150000"/>
              </a:lnSpc>
            </a:pP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5.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도출된 정량 결과는 향후 사용자 중심의 공간 추천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검색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비교 등의 활용으로 확장 가능함</a:t>
            </a:r>
          </a:p>
        </p:txBody>
      </p:sp>
    </p:spTree>
    <p:extLst>
      <p:ext uri="{BB962C8B-B14F-4D97-AF65-F5344CB8AC3E}">
        <p14:creationId xmlns:p14="http://schemas.microsoft.com/office/powerpoint/2010/main" val="3377811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9C87EFC-91CD-960D-11E7-3D2D75EB5F7C}"/>
              </a:ext>
            </a:extLst>
          </p:cNvPr>
          <p:cNvSpPr txBox="1"/>
          <p:nvPr/>
        </p:nvSpPr>
        <p:spPr>
          <a:xfrm>
            <a:off x="573826" y="5783062"/>
            <a:ext cx="10944665" cy="425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3" indent="-285753">
              <a:lnSpc>
                <a:spcPts val="2900"/>
              </a:lnSpc>
              <a:buFont typeface="Wingdings" panose="05000000000000000000" pitchFamily="2" charset="2"/>
              <a:buChar char="è"/>
            </a:pP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위의 이론들을 종합하면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‘</a:t>
            </a:r>
            <a:r>
              <a:rPr lang="ko-KR" altLang="en-US" sz="140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장소성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’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은 물리적 환경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활동적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의미적 특성이 서로 상호작용하며 형성되는 </a:t>
            </a:r>
            <a:r>
              <a:rPr lang="ko-KR" altLang="en-US" sz="140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다차원적인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 개념이다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5D34F9F8-32E4-6308-BE70-4AA3783D0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63" y="170765"/>
            <a:ext cx="10515600" cy="889938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altLang="ko-KR" sz="27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2. </a:t>
            </a:r>
            <a:r>
              <a:rPr lang="ko-KR" altLang="en-US" sz="27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이론적 고찰</a:t>
            </a:r>
            <a:br>
              <a:rPr lang="en-US" altLang="ko-KR" sz="32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</a:b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[1] </a:t>
            </a:r>
            <a:r>
              <a:rPr lang="ko-KR" altLang="en-US" sz="16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장소성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이론</a:t>
            </a: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C00EB9A-E4AD-E778-5796-A2A047DD2C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00421"/>
              </p:ext>
            </p:extLst>
          </p:nvPr>
        </p:nvGraphicFramePr>
        <p:xfrm>
          <a:off x="573826" y="1275038"/>
          <a:ext cx="10944666" cy="4403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5220">
                  <a:extLst>
                    <a:ext uri="{9D8B030D-6E8A-4147-A177-3AD203B41FA5}">
                      <a16:colId xmlns:a16="http://schemas.microsoft.com/office/drawing/2014/main" val="465856878"/>
                    </a:ext>
                  </a:extLst>
                </a:gridCol>
                <a:gridCol w="4731250">
                  <a:extLst>
                    <a:ext uri="{9D8B030D-6E8A-4147-A177-3AD203B41FA5}">
                      <a16:colId xmlns:a16="http://schemas.microsoft.com/office/drawing/2014/main" val="1586396691"/>
                    </a:ext>
                  </a:extLst>
                </a:gridCol>
                <a:gridCol w="1783081">
                  <a:extLst>
                    <a:ext uri="{9D8B030D-6E8A-4147-A177-3AD203B41FA5}">
                      <a16:colId xmlns:a16="http://schemas.microsoft.com/office/drawing/2014/main" val="934962992"/>
                    </a:ext>
                  </a:extLst>
                </a:gridCol>
                <a:gridCol w="2795115">
                  <a:extLst>
                    <a:ext uri="{9D8B030D-6E8A-4147-A177-3AD203B41FA5}">
                      <a16:colId xmlns:a16="http://schemas.microsoft.com/office/drawing/2014/main" val="1329389860"/>
                    </a:ext>
                  </a:extLst>
                </a:gridCol>
              </a:tblGrid>
              <a:tr h="3877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연구자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개념 정의 내용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장소성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 구성 요소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참고 문헌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680214"/>
                  </a:ext>
                </a:extLst>
              </a:tr>
              <a:tr h="7171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슐츠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(Norberg-Schulz, 1971)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물질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형상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재질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색채 등 구체적 사물들로 구성된 총체성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(totality)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으로서의 장소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.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장소의 의미는 환경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(setting)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과 인간의 상호작용에서 비롯됨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.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물리적 환경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활동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의미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Norberg-Schulz, C. (1971). </a:t>
                      </a:r>
                      <a:r>
                        <a:rPr lang="en-US" altLang="ko-KR" sz="1100" i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Existence, space and architecture.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 New York: Praeger.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250419"/>
                  </a:ext>
                </a:extLst>
              </a:tr>
              <a:tr h="8605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이푸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투안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(Yi-Fu Tuan, 1977)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장소는 인간행동의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결절점이며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인간의 경험과 감정이 공간에 의미를 부여함으로써 공간이 장소로 전환됨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.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활동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경험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),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의미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Tuan, Y.-F. (1977). Space and place: The perspective of experience. Minneapolis: University of Minnesota Press.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551722"/>
                  </a:ext>
                </a:extLst>
              </a:tr>
              <a:tr h="10517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루커만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Lukermann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1964)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공간적 상호작용과 이동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역사적으로 형성되며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의미가 부여된 종합적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실체로서의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 장소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.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물리적 환경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의미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Lukermann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F. (1964). Geography as a formal intellectual discipline and the way in which it contributes to human knowledge. Canadian Geographer, 8(4)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628530"/>
                  </a:ext>
                </a:extLst>
              </a:tr>
              <a:tr h="7171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에드워드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렐프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(Relph, 1976)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장소의 ‘고유한 정체성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(Place Identity)’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은 의미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물리적 환경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활동의 상호작용으로 형성됨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.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물리적 환경에서 활동이 일어날 때 의미가 부여되어 형성되는 것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.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물리적 환경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활동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의미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Relph, E. (1976). Place and placelessness. London: Pion Limited.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1673614"/>
                  </a:ext>
                </a:extLst>
              </a:tr>
              <a:tr h="6693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트랜식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Trancik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1986)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맥락적 의미가 부여된 추상적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물리적 공간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.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도시의 물리적 구조에 사회적 의미가 결합될 때 비로소 장소가 완성됨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.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물리적 환경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의미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Trancik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R. (1986). Finding lost space: Theories of urban design. New York: Van Nostrand Reinhold.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2054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9967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31784873-1EE3-0688-C970-AD587F606949}"/>
              </a:ext>
            </a:extLst>
          </p:cNvPr>
          <p:cNvSpPr txBox="1"/>
          <p:nvPr/>
        </p:nvSpPr>
        <p:spPr>
          <a:xfrm>
            <a:off x="4433217" y="5435568"/>
            <a:ext cx="15472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&lt;</a:t>
            </a:r>
            <a:r>
              <a:rPr lang="ko-KR" altLang="en-US" sz="14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장소성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구성 요소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&gt;</a:t>
            </a:r>
            <a:endParaRPr lang="ko-KR" altLang="en-US" sz="1400" dirty="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A0E31AF7-08AB-2732-E1E5-EBFE3C256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63" y="170765"/>
            <a:ext cx="10515600" cy="889938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altLang="ko-KR" sz="27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2. </a:t>
            </a:r>
            <a:r>
              <a:rPr lang="ko-KR" altLang="en-US" sz="27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이론적 고찰</a:t>
            </a:r>
            <a:br>
              <a:rPr lang="en-US" altLang="ko-KR" sz="32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</a:b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[1] </a:t>
            </a:r>
            <a:r>
              <a:rPr lang="ko-KR" altLang="en-US" sz="16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장소성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이론</a:t>
            </a: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9862D2-C0BE-5ABA-D31F-152A7DA4568B}"/>
              </a:ext>
            </a:extLst>
          </p:cNvPr>
          <p:cNvSpPr txBox="1"/>
          <p:nvPr/>
        </p:nvSpPr>
        <p:spPr>
          <a:xfrm>
            <a:off x="7951687" y="2368147"/>
            <a:ext cx="33868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장소성은 물리적 특성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활동적 특성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의미적 특성 간의 상호작용 속에서 생성된다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152F545-102D-A1A7-EFCB-8A966B4A1FCF}"/>
              </a:ext>
            </a:extLst>
          </p:cNvPr>
          <p:cNvSpPr/>
          <p:nvPr/>
        </p:nvSpPr>
        <p:spPr>
          <a:xfrm>
            <a:off x="4640533" y="2031792"/>
            <a:ext cx="1047520" cy="981709"/>
          </a:xfrm>
          <a:prstGeom prst="ellipse">
            <a:avLst/>
          </a:prstGeom>
          <a:noFill/>
          <a:ln w="28575" cap="flat" cmpd="sng" algn="ctr">
            <a:solidFill>
              <a:schemeClr val="tx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물리적 특성</a:t>
            </a:r>
          </a:p>
        </p:txBody>
      </p:sp>
      <p:cxnSp>
        <p:nvCxnSpPr>
          <p:cNvPr id="12" name="연결선: 구부러짐 11">
            <a:extLst>
              <a:ext uri="{FF2B5EF4-FFF2-40B4-BE49-F238E27FC236}">
                <a16:creationId xmlns:a16="http://schemas.microsoft.com/office/drawing/2014/main" id="{ADB5EFCB-E48F-3217-FB83-FD5C01A9D250}"/>
              </a:ext>
            </a:extLst>
          </p:cNvPr>
          <p:cNvCxnSpPr>
            <a:cxnSpLocks/>
            <a:stCxn id="5" idx="2"/>
            <a:endCxn id="16" idx="0"/>
          </p:cNvCxnSpPr>
          <p:nvPr/>
        </p:nvCxnSpPr>
        <p:spPr>
          <a:xfrm rot="10800000" flipV="1">
            <a:off x="3934233" y="2522647"/>
            <a:ext cx="706300" cy="1170528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연결선: 구부러짐 19">
            <a:extLst>
              <a:ext uri="{FF2B5EF4-FFF2-40B4-BE49-F238E27FC236}">
                <a16:creationId xmlns:a16="http://schemas.microsoft.com/office/drawing/2014/main" id="{070D625B-13F5-CB2D-181D-5280C7E5F167}"/>
              </a:ext>
            </a:extLst>
          </p:cNvPr>
          <p:cNvCxnSpPr>
            <a:cxnSpLocks/>
            <a:stCxn id="16" idx="5"/>
            <a:endCxn id="17" idx="3"/>
          </p:cNvCxnSpPr>
          <p:nvPr/>
        </p:nvCxnSpPr>
        <p:spPr>
          <a:xfrm rot="16200000" flipH="1">
            <a:off x="5200476" y="3635226"/>
            <a:ext cx="12700" cy="1791779"/>
          </a:xfrm>
          <a:prstGeom prst="curvedConnector3">
            <a:avLst>
              <a:gd name="adj1" fmla="val 2932031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연결선: 구부러짐 26">
            <a:extLst>
              <a:ext uri="{FF2B5EF4-FFF2-40B4-BE49-F238E27FC236}">
                <a16:creationId xmlns:a16="http://schemas.microsoft.com/office/drawing/2014/main" id="{530A844C-4C82-64A9-735B-96DAE9918B80}"/>
              </a:ext>
            </a:extLst>
          </p:cNvPr>
          <p:cNvCxnSpPr>
            <a:cxnSpLocks/>
            <a:stCxn id="5" idx="6"/>
            <a:endCxn id="17" idx="0"/>
          </p:cNvCxnSpPr>
          <p:nvPr/>
        </p:nvCxnSpPr>
        <p:spPr>
          <a:xfrm>
            <a:off x="5688053" y="2522647"/>
            <a:ext cx="778667" cy="1170528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50C0844-95C7-5C04-733D-F7D1CC512829}"/>
              </a:ext>
            </a:extLst>
          </p:cNvPr>
          <p:cNvSpPr txBox="1"/>
          <p:nvPr/>
        </p:nvSpPr>
        <p:spPr>
          <a:xfrm>
            <a:off x="4800367" y="3554972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endParaRPr lang="ko-KR" altLang="en-US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0807F32D-5855-1E29-0978-1733F174081A}"/>
              </a:ext>
            </a:extLst>
          </p:cNvPr>
          <p:cNvSpPr/>
          <p:nvPr/>
        </p:nvSpPr>
        <p:spPr>
          <a:xfrm>
            <a:off x="3410473" y="3693175"/>
            <a:ext cx="1047520" cy="981709"/>
          </a:xfrm>
          <a:prstGeom prst="ellipse">
            <a:avLst/>
          </a:prstGeom>
          <a:noFill/>
          <a:ln w="28575" cap="flat" cmpd="sng" algn="ctr">
            <a:solidFill>
              <a:schemeClr val="tx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활동적 특성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D8622042-2394-C90E-4688-5C4B016CAC1F}"/>
              </a:ext>
            </a:extLst>
          </p:cNvPr>
          <p:cNvSpPr/>
          <p:nvPr/>
        </p:nvSpPr>
        <p:spPr>
          <a:xfrm>
            <a:off x="5942960" y="3693175"/>
            <a:ext cx="1047520" cy="981709"/>
          </a:xfrm>
          <a:prstGeom prst="ellipse">
            <a:avLst/>
          </a:prstGeom>
          <a:noFill/>
          <a:ln w="28575" cap="flat" cmpd="sng" algn="ctr">
            <a:solidFill>
              <a:schemeClr val="tx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의미적 특성</a:t>
            </a:r>
          </a:p>
        </p:txBody>
      </p:sp>
    </p:spTree>
    <p:extLst>
      <p:ext uri="{BB962C8B-B14F-4D97-AF65-F5344CB8AC3E}">
        <p14:creationId xmlns:p14="http://schemas.microsoft.com/office/powerpoint/2010/main" val="1103749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8CDEE-4DF2-4583-5016-72C4BE4FF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A702004-4528-0380-8198-C0F748DC34C9}"/>
              </a:ext>
            </a:extLst>
          </p:cNvPr>
          <p:cNvSpPr txBox="1"/>
          <p:nvPr/>
        </p:nvSpPr>
        <p:spPr>
          <a:xfrm>
            <a:off x="742729" y="1186839"/>
            <a:ext cx="10944665" cy="425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Edward Relph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가 제시한 장소성의 핵심 구성 요소 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3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가지 설명</a:t>
            </a:r>
            <a:endParaRPr lang="en-US" altLang="ko-KR" sz="140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F91BA0-BB4E-5AF3-9ADB-A82FA0B3639B}"/>
              </a:ext>
            </a:extLst>
          </p:cNvPr>
          <p:cNvSpPr txBox="1"/>
          <p:nvPr/>
        </p:nvSpPr>
        <p:spPr>
          <a:xfrm>
            <a:off x="0" y="6535238"/>
            <a:ext cx="11841570" cy="303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1"/>
              </a:lnSpc>
            </a:pPr>
            <a:r>
              <a:rPr lang="en-US" altLang="ko-KR" sz="10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Relph, Edward, 1976. Place and Placelessness. London: Pion.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8366A092-5082-CC23-C962-037C03FFB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63" y="170765"/>
            <a:ext cx="10515600" cy="889938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altLang="ko-KR" sz="27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2. </a:t>
            </a:r>
            <a:r>
              <a:rPr lang="ko-KR" altLang="en-US" sz="27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이론적 고찰</a:t>
            </a:r>
            <a:br>
              <a:rPr lang="en-US" altLang="ko-KR" sz="32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</a:b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[1] </a:t>
            </a:r>
            <a:r>
              <a:rPr lang="ko-KR" altLang="en-US" sz="16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장소성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이론</a:t>
            </a: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8CE543D-2734-E83F-0D2F-5BF0EC6F3A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744139"/>
              </p:ext>
            </p:extLst>
          </p:nvPr>
        </p:nvGraphicFramePr>
        <p:xfrm>
          <a:off x="867266" y="1738086"/>
          <a:ext cx="10820130" cy="22004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252">
                  <a:extLst>
                    <a:ext uri="{9D8B030D-6E8A-4147-A177-3AD203B41FA5}">
                      <a16:colId xmlns:a16="http://schemas.microsoft.com/office/drawing/2014/main" val="465856878"/>
                    </a:ext>
                  </a:extLst>
                </a:gridCol>
                <a:gridCol w="9113878">
                  <a:extLst>
                    <a:ext uri="{9D8B030D-6E8A-4147-A177-3AD203B41FA5}">
                      <a16:colId xmlns:a16="http://schemas.microsoft.com/office/drawing/2014/main" val="1586396691"/>
                    </a:ext>
                  </a:extLst>
                </a:gridCol>
              </a:tblGrid>
              <a:tr h="3877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구성 요소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내용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680214"/>
                  </a:ext>
                </a:extLst>
              </a:tr>
              <a:tr h="6059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물리적 특성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장소의 시각적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구조적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형태적 특성과 접근성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환경 전반을 포함하는 관찰 가능한 물리적 형태와 구조 요소를 의미한다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25041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활동적 특성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장소 내에서 일어나는 인간의 행동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경험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사회적 상호작용과 같이 사람의 행위를 중심으로 구성되는 요소를 의미한다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551722"/>
                  </a:ext>
                </a:extLst>
              </a:tr>
              <a:tr h="6581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의미적 특성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활동과 경험을 통해 형성되는 장소에 대한 인지적 이미지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감정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애착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정체성과 같은 개인적 및 집단적 내면적 반응 요소를 의미한다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628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7947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CBA3C-6E80-682F-E297-FFBCF483B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">
            <a:extLst>
              <a:ext uri="{FF2B5EF4-FFF2-40B4-BE49-F238E27FC236}">
                <a16:creationId xmlns:a16="http://schemas.microsoft.com/office/drawing/2014/main" id="{5C98FEB0-F4E7-0893-DD01-1639CF70A5F8}"/>
              </a:ext>
            </a:extLst>
          </p:cNvPr>
          <p:cNvSpPr txBox="1">
            <a:spLocks/>
          </p:cNvSpPr>
          <p:nvPr/>
        </p:nvSpPr>
        <p:spPr>
          <a:xfrm>
            <a:off x="282863" y="170765"/>
            <a:ext cx="10515600" cy="889938"/>
          </a:xfrm>
          <a:prstGeom prst="rect">
            <a:avLst/>
          </a:prstGeom>
        </p:spPr>
        <p:txBody>
          <a:bodyPr vert="horz" lIns="91440" tIns="45721" rIns="91440" bIns="45721" rtlCol="0" anchor="ctr">
            <a:normAutofit fontScale="900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27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2. </a:t>
            </a:r>
            <a:r>
              <a:rPr lang="ko-KR" altLang="en-US" sz="27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이론적 고찰</a:t>
            </a:r>
            <a:br>
              <a:rPr lang="en-US" altLang="ko-KR" sz="32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</a:b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[2] </a:t>
            </a:r>
            <a:r>
              <a:rPr lang="ko-KR" altLang="en-US" sz="16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장소성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형성 요인</a:t>
            </a: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DB62878-8C6D-B075-AEC1-661DCFBD0D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660538"/>
              </p:ext>
            </p:extLst>
          </p:nvPr>
        </p:nvGraphicFramePr>
        <p:xfrm>
          <a:off x="714376" y="1269761"/>
          <a:ext cx="10841844" cy="45078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4824">
                  <a:extLst>
                    <a:ext uri="{9D8B030D-6E8A-4147-A177-3AD203B41FA5}">
                      <a16:colId xmlns:a16="http://schemas.microsoft.com/office/drawing/2014/main" val="820061770"/>
                    </a:ext>
                  </a:extLst>
                </a:gridCol>
                <a:gridCol w="1684020">
                  <a:extLst>
                    <a:ext uri="{9D8B030D-6E8A-4147-A177-3AD203B41FA5}">
                      <a16:colId xmlns:a16="http://schemas.microsoft.com/office/drawing/2014/main" val="3320354444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1583792284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37632433"/>
                    </a:ext>
                  </a:extLst>
                </a:gridCol>
                <a:gridCol w="2880850">
                  <a:extLst>
                    <a:ext uri="{9D8B030D-6E8A-4147-A177-3AD203B41FA5}">
                      <a16:colId xmlns:a16="http://schemas.microsoft.com/office/drawing/2014/main" val="3531610421"/>
                    </a:ext>
                  </a:extLst>
                </a:gridCol>
              </a:tblGrid>
              <a:tr h="3036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구분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연구자</a:t>
                      </a:r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</a:t>
                      </a:r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연도</a:t>
                      </a:r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)</a:t>
                      </a:r>
                      <a:endParaRPr lang="ko-KR" altLang="en-US" sz="14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제목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공간의 대상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장소성</a:t>
                      </a:r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요인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219430"/>
                  </a:ext>
                </a:extLst>
              </a:tr>
              <a:tr h="6375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곽풍명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황연숙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(2025)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장소성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기반 박물관 공간디자인에 대한 사용자 인식 분석 연구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박물관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[</a:t>
                      </a:r>
                      <a:r>
                        <a:rPr lang="ko-KR" altLang="en-US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물리적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]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접근성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영역성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매력성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쾌적성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[</a:t>
                      </a:r>
                      <a:r>
                        <a:rPr lang="ko-KR" altLang="en-US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활동적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]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상호작용성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편의성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[</a:t>
                      </a:r>
                      <a:r>
                        <a:rPr lang="ko-KR" altLang="en-US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의미적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]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상징성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교육성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1899893"/>
                  </a:ext>
                </a:extLst>
              </a:tr>
              <a:tr h="455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2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나현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이수기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(2025)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서울시 주요 장소의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장소성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분석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: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텍스트 마이닝과 대규모 언어 모델을 활용하여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서울시 주요 장소 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71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상업성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문화성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일상성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특이성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활력성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정온성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자연성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8745132"/>
                  </a:ext>
                </a:extLst>
              </a:tr>
              <a:tr h="8197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3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Sun &amp; Yu (2021)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Dimension and formation of placeness of commercial public space in city center: A case study of Deji Plaza in Nanjing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상업시설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대형 쇼핑몰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)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[</a:t>
                      </a:r>
                      <a:r>
                        <a:rPr lang="ko-KR" altLang="en-US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물리적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]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교통 편의성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시각적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인지성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안전 및 청결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보행성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[</a:t>
                      </a:r>
                      <a:r>
                        <a:rPr lang="ko-KR" altLang="en-US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활동적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]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활동 참여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충분한 좌석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환경적 즐거움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[</a:t>
                      </a:r>
                      <a:r>
                        <a:rPr lang="ko-KR" altLang="en-US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의미적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]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지역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랜드마크성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기능적 애착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의미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2436099"/>
                  </a:ext>
                </a:extLst>
              </a:tr>
              <a:tr h="6375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4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류호창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(1996)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실내공간에서의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장소성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구현 요소에 관한 연구 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주거공간을 중심으로 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주거공간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공간의 중심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경계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영역성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통제성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안정성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위계성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심미성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다양성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사회성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실내디자인 요소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9645814"/>
                  </a:ext>
                </a:extLst>
              </a:tr>
              <a:tr h="8197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5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이지혜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김지현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(2025)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복합문화공간 관점에서 본 대형카페의 공간디자인 전략 연구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경인권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대형카페 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8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복합성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접근성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참여성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상징성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전문성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역사성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예술성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체험성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다양성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기능성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심미성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문화성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가변성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개방성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상호성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지속성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7843086"/>
                  </a:ext>
                </a:extLst>
              </a:tr>
              <a:tr h="5476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6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Waxman(2008)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The Coffee Shop: Social and Physical factors Influencing Place Attachment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미국 남동부 카페 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3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[</a:t>
                      </a:r>
                      <a:r>
                        <a:rPr lang="ko-KR" altLang="en-US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물리적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]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위생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향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적절한 조명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편안한 가구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외부 조망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좌석 배치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[</a:t>
                      </a:r>
                      <a:r>
                        <a:rPr lang="ko-KR" altLang="en-US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활동적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]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머무를 기회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영역성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안정성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익명성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생산성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상호작용성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정서적 유대감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382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1061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BF5E2-C705-7E7C-1699-1CD4B06AB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이등변 삼각형 6">
            <a:extLst>
              <a:ext uri="{FF2B5EF4-FFF2-40B4-BE49-F238E27FC236}">
                <a16:creationId xmlns:a16="http://schemas.microsoft.com/office/drawing/2014/main" id="{4F829CAD-FE76-61FE-3629-89CF64AA3F61}"/>
              </a:ext>
            </a:extLst>
          </p:cNvPr>
          <p:cNvSpPr/>
          <p:nvPr/>
        </p:nvSpPr>
        <p:spPr>
          <a:xfrm rot="10800000">
            <a:off x="878695" y="5780801"/>
            <a:ext cx="10677525" cy="511657"/>
          </a:xfrm>
          <a:prstGeom prst="triangle">
            <a:avLst>
              <a:gd name="adj" fmla="val 5206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2AF556B-353E-E4AE-24A6-06DC498EFB37}"/>
              </a:ext>
            </a:extLst>
          </p:cNvPr>
          <p:cNvGraphicFramePr>
            <a:graphicFrameLocks noGrp="1"/>
          </p:cNvGraphicFramePr>
          <p:nvPr/>
        </p:nvGraphicFramePr>
        <p:xfrm>
          <a:off x="714376" y="1269761"/>
          <a:ext cx="10841844" cy="45078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4824">
                  <a:extLst>
                    <a:ext uri="{9D8B030D-6E8A-4147-A177-3AD203B41FA5}">
                      <a16:colId xmlns:a16="http://schemas.microsoft.com/office/drawing/2014/main" val="820061770"/>
                    </a:ext>
                  </a:extLst>
                </a:gridCol>
                <a:gridCol w="1684020">
                  <a:extLst>
                    <a:ext uri="{9D8B030D-6E8A-4147-A177-3AD203B41FA5}">
                      <a16:colId xmlns:a16="http://schemas.microsoft.com/office/drawing/2014/main" val="3320354444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1583792284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37632433"/>
                    </a:ext>
                  </a:extLst>
                </a:gridCol>
                <a:gridCol w="2880850">
                  <a:extLst>
                    <a:ext uri="{9D8B030D-6E8A-4147-A177-3AD203B41FA5}">
                      <a16:colId xmlns:a16="http://schemas.microsoft.com/office/drawing/2014/main" val="3531610421"/>
                    </a:ext>
                  </a:extLst>
                </a:gridCol>
              </a:tblGrid>
              <a:tr h="3036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구분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연구자</a:t>
                      </a:r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</a:t>
                      </a:r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연도</a:t>
                      </a:r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)</a:t>
                      </a:r>
                      <a:endParaRPr lang="ko-KR" altLang="en-US" sz="14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제목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공간의 대상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장소성</a:t>
                      </a:r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요인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219430"/>
                  </a:ext>
                </a:extLst>
              </a:tr>
              <a:tr h="6375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곽풍명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황연숙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(2025)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장소성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기반 박물관 공간디자인에 대한 사용자 인식 분석 연구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박물관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[</a:t>
                      </a:r>
                      <a:r>
                        <a:rPr lang="ko-KR" altLang="en-US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물리적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]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접근성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영역성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매력성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쾌적성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[</a:t>
                      </a:r>
                      <a:r>
                        <a:rPr lang="ko-KR" altLang="en-US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활동적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]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상호작용성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편의성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[</a:t>
                      </a:r>
                      <a:r>
                        <a:rPr lang="ko-KR" altLang="en-US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의미적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]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상징성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교육성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1899893"/>
                  </a:ext>
                </a:extLst>
              </a:tr>
              <a:tr h="455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2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나현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이수기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(2025)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서울시 주요 장소의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장소성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분석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: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텍스트 마이닝과 대규모 언어 모델을 활용하여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서울시 주요 장소 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71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상업성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문화성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일상성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특이성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활력성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정온성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자연성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8745132"/>
                  </a:ext>
                </a:extLst>
              </a:tr>
              <a:tr h="8197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3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Sun &amp; Yu (2021)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Dimension and formation of placeness of commercial public space in city center: A case study of Deji Plaza in Nanjing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상업시설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대형 쇼핑몰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)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[</a:t>
                      </a:r>
                      <a:r>
                        <a:rPr lang="ko-KR" altLang="en-US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물리적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]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교통 편의성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시각적 </a:t>
                      </a:r>
                      <a:r>
                        <a:rPr lang="ko-KR" altLang="en-US" sz="1200" dirty="0" err="1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인지성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안전 및 청결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보행성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[</a:t>
                      </a:r>
                      <a:r>
                        <a:rPr lang="ko-KR" altLang="en-US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활동적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]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활동 참여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충분한 좌석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환경적 즐거움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[</a:t>
                      </a:r>
                      <a:r>
                        <a:rPr lang="ko-KR" altLang="en-US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의미적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]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지역 </a:t>
                      </a:r>
                      <a:r>
                        <a:rPr lang="ko-KR" altLang="en-US" sz="1200" dirty="0" err="1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랜드마크성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기능적 애착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의미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2436099"/>
                  </a:ext>
                </a:extLst>
              </a:tr>
              <a:tr h="6375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4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류호창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(1996)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실내공간에서의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장소성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구현 요소에 관한 연구 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주거공간을 중심으로 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주거공간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공간의 중심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경계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영역성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통제성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안정성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위계성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심미성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다양성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사회성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실내디자인 요소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9645814"/>
                  </a:ext>
                </a:extLst>
              </a:tr>
              <a:tr h="8197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5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이지혜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김지현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(2025)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복합문화공간 관점에서 본 대형카페의 공간디자인 전략 연구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경인권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대형카페 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8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복합성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접근성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참여성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상징성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전문성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역사성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예술성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체험성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다양성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기능성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심미성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문화성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가변성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개방성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상호성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지속성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7843086"/>
                  </a:ext>
                </a:extLst>
              </a:tr>
              <a:tr h="5476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6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Waxman(2008)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The Coffee Shop: Social and Physical factors Influencing Place Attachment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미국 남동부 카페 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3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[</a:t>
                      </a:r>
                      <a:r>
                        <a:rPr lang="ko-KR" altLang="en-US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물리적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]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위생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향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적절한 조명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편안한 가구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외부 조망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좌석 배치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[</a:t>
                      </a:r>
                      <a:r>
                        <a:rPr lang="ko-KR" altLang="en-US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활동적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]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머무를 기회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영역성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안정성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익명성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생산성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상호작용성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정서적 유대감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38222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089F26A-28E0-E477-731B-A7348B8FFA3C}"/>
              </a:ext>
            </a:extLst>
          </p:cNvPr>
          <p:cNvSpPr txBox="1"/>
          <p:nvPr/>
        </p:nvSpPr>
        <p:spPr>
          <a:xfrm>
            <a:off x="3169458" y="5800645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  <a:sym typeface="Wingdings" panose="05000000000000000000" pitchFamily="2" charset="2"/>
              </a:rPr>
              <a:t>상업시설 환경 특성에 맞추어 </a:t>
            </a:r>
            <a:r>
              <a:rPr lang="ko-KR" altLang="en-US" sz="1200" dirty="0" err="1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  <a:sym typeface="Wingdings" panose="05000000000000000000" pitchFamily="2" charset="2"/>
              </a:rPr>
              <a:t>장소성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  <a:sym typeface="Wingdings" panose="05000000000000000000" pitchFamily="2" charset="2"/>
              </a:rPr>
              <a:t> 요인 선별 및 유사항목 통합</a:t>
            </a:r>
            <a:endParaRPr lang="ko-KR" altLang="en-US" sz="1100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F42EAD9-2167-CCAF-E171-74FCEE5108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452851"/>
              </p:ext>
            </p:extLst>
          </p:nvPr>
        </p:nvGraphicFramePr>
        <p:xfrm>
          <a:off x="3855013" y="6097488"/>
          <a:ext cx="4560570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60570">
                  <a:extLst>
                    <a:ext uri="{9D8B030D-6E8A-4147-A177-3AD203B41FA5}">
                      <a16:colId xmlns:a16="http://schemas.microsoft.com/office/drawing/2014/main" val="2502172326"/>
                    </a:ext>
                  </a:extLst>
                </a:gridCol>
              </a:tblGrid>
              <a:tr h="417489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[</a:t>
                      </a:r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물리적</a:t>
                      </a:r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] </a:t>
                      </a:r>
                      <a:r>
                        <a:rPr lang="ko-KR" altLang="en-US" sz="14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심미성</a:t>
                      </a:r>
                      <a:r>
                        <a:rPr lang="en-US" altLang="ko-KR" sz="14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4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개방성</a:t>
                      </a:r>
                      <a:r>
                        <a:rPr lang="en-US" altLang="ko-KR" sz="14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4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감각적 경험</a:t>
                      </a:r>
                      <a:r>
                        <a:rPr lang="en-US" altLang="ko-KR" sz="14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4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접근성</a:t>
                      </a:r>
                      <a:r>
                        <a:rPr lang="en-US" altLang="ko-KR" sz="14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400" b="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쾌적성</a:t>
                      </a:r>
                      <a:endParaRPr lang="en-US" altLang="ko-KR" sz="1400" b="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l" latinLnBrk="1"/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[</a:t>
                      </a:r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활동적</a:t>
                      </a:r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] </a:t>
                      </a:r>
                      <a:r>
                        <a:rPr lang="ko-KR" altLang="en-US" sz="14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활동성</a:t>
                      </a:r>
                      <a:r>
                        <a:rPr lang="en-US" altLang="ko-KR" sz="14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4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상호작용성</a:t>
                      </a:r>
                      <a:endParaRPr lang="en-US" altLang="ko-KR" sz="1400" b="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l" latinLnBrk="1"/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[</a:t>
                      </a:r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의미적</a:t>
                      </a:r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] </a:t>
                      </a:r>
                      <a:r>
                        <a:rPr lang="ko-KR" altLang="en-US" sz="14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상징성</a:t>
                      </a:r>
                      <a:r>
                        <a:rPr lang="en-US" altLang="ko-KR" sz="14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4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기억 및 선호</a:t>
                      </a:r>
                      <a:r>
                        <a:rPr lang="en-US" altLang="ko-KR" sz="14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4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지역 정체성</a:t>
                      </a:r>
                    </a:p>
                  </a:txBody>
                  <a:tcPr anchor="ctr"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77371"/>
                  </a:ext>
                </a:extLst>
              </a:tr>
            </a:tbl>
          </a:graphicData>
        </a:graphic>
      </p:graphicFrame>
      <p:sp>
        <p:nvSpPr>
          <p:cNvPr id="3" name="제목 1">
            <a:extLst>
              <a:ext uri="{FF2B5EF4-FFF2-40B4-BE49-F238E27FC236}">
                <a16:creationId xmlns:a16="http://schemas.microsoft.com/office/drawing/2014/main" id="{AB1D3A27-E7A2-3B71-1D3B-283BAE3D98DA}"/>
              </a:ext>
            </a:extLst>
          </p:cNvPr>
          <p:cNvSpPr txBox="1">
            <a:spLocks/>
          </p:cNvSpPr>
          <p:nvPr/>
        </p:nvSpPr>
        <p:spPr>
          <a:xfrm>
            <a:off x="282863" y="170765"/>
            <a:ext cx="10515600" cy="889938"/>
          </a:xfrm>
          <a:prstGeom prst="rect">
            <a:avLst/>
          </a:prstGeom>
        </p:spPr>
        <p:txBody>
          <a:bodyPr vert="horz" lIns="91440" tIns="45721" rIns="91440" bIns="45721" rtlCol="0" anchor="ctr">
            <a:normAutofit fontScale="900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27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2. </a:t>
            </a:r>
            <a:r>
              <a:rPr lang="ko-KR" altLang="en-US" sz="27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이론적 고찰</a:t>
            </a:r>
            <a:br>
              <a:rPr lang="en-US" altLang="ko-KR" sz="32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</a:b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[2] </a:t>
            </a:r>
            <a:r>
              <a:rPr lang="ko-KR" altLang="en-US" sz="16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장소성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형성 요인</a:t>
            </a: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4331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이등변 삼각형 4">
            <a:extLst>
              <a:ext uri="{FF2B5EF4-FFF2-40B4-BE49-F238E27FC236}">
                <a16:creationId xmlns:a16="http://schemas.microsoft.com/office/drawing/2014/main" id="{1D904A76-F47A-B09B-497B-18E5A5D51D8F}"/>
              </a:ext>
            </a:extLst>
          </p:cNvPr>
          <p:cNvSpPr/>
          <p:nvPr/>
        </p:nvSpPr>
        <p:spPr>
          <a:xfrm rot="16200000">
            <a:off x="5006817" y="5356515"/>
            <a:ext cx="984676" cy="136055"/>
          </a:xfrm>
          <a:prstGeom prst="triangle">
            <a:avLst>
              <a:gd name="adj" fmla="val 4860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이등변 삼각형 2">
            <a:extLst>
              <a:ext uri="{FF2B5EF4-FFF2-40B4-BE49-F238E27FC236}">
                <a16:creationId xmlns:a16="http://schemas.microsoft.com/office/drawing/2014/main" id="{579FAE4E-C6C2-EDC3-FC3E-AFD437F1B35E}"/>
              </a:ext>
            </a:extLst>
          </p:cNvPr>
          <p:cNvSpPr/>
          <p:nvPr/>
        </p:nvSpPr>
        <p:spPr>
          <a:xfrm rot="16200000">
            <a:off x="5192514" y="4388131"/>
            <a:ext cx="616188" cy="138962"/>
          </a:xfrm>
          <a:prstGeom prst="triangle">
            <a:avLst>
              <a:gd name="adj" fmla="val 4938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1CFF3E8A-0FB2-989C-EB2C-9400AEE6D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452" y="959524"/>
            <a:ext cx="10515600" cy="810532"/>
          </a:xfrm>
        </p:spPr>
        <p:txBody>
          <a:bodyPr>
            <a:normAutofit/>
          </a:bodyPr>
          <a:lstStyle/>
          <a:p>
            <a:r>
              <a:rPr lang="ko-KR" altLang="en-US" sz="1401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  <a:sym typeface="Wingdings" panose="05000000000000000000" pitchFamily="2" charset="2"/>
              </a:rPr>
              <a:t>상업시설 공간 환경 특성에 맞추어 </a:t>
            </a:r>
            <a:r>
              <a:rPr lang="ko-KR" altLang="en-US" sz="1401" dirty="0" err="1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  <a:sym typeface="Wingdings" panose="05000000000000000000" pitchFamily="2" charset="2"/>
              </a:rPr>
              <a:t>장소성</a:t>
            </a:r>
            <a:r>
              <a:rPr lang="ko-KR" altLang="en-US" sz="1401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  <a:sym typeface="Wingdings" panose="05000000000000000000" pitchFamily="2" charset="2"/>
              </a:rPr>
              <a:t> 세부 요인 재구성</a:t>
            </a:r>
            <a:endParaRPr kumimoji="1" lang="ko-KR" altLang="en-US" sz="140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A48E2C-9189-16C0-2E53-C9FE0C5FA87F}"/>
              </a:ext>
            </a:extLst>
          </p:cNvPr>
          <p:cNvSpPr txBox="1"/>
          <p:nvPr/>
        </p:nvSpPr>
        <p:spPr>
          <a:xfrm>
            <a:off x="3147130" y="2006645"/>
            <a:ext cx="228691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2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형성 요소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B78D938-35CB-50AC-5A19-22112A0EAD48}"/>
              </a:ext>
            </a:extLst>
          </p:cNvPr>
          <p:cNvSpPr txBox="1"/>
          <p:nvPr/>
        </p:nvSpPr>
        <p:spPr>
          <a:xfrm>
            <a:off x="5573005" y="2006645"/>
            <a:ext cx="328782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상업시설의 공간 환경 특성</a:t>
            </a:r>
          </a:p>
        </p:txBody>
      </p:sp>
      <p:sp>
        <p:nvSpPr>
          <p:cNvPr id="18" name="제목 1">
            <a:extLst>
              <a:ext uri="{FF2B5EF4-FFF2-40B4-BE49-F238E27FC236}">
                <a16:creationId xmlns:a16="http://schemas.microsoft.com/office/drawing/2014/main" id="{5B0CEAD5-DE3F-DB38-EB84-E758439312E5}"/>
              </a:ext>
            </a:extLst>
          </p:cNvPr>
          <p:cNvSpPr txBox="1">
            <a:spLocks/>
          </p:cNvSpPr>
          <p:nvPr/>
        </p:nvSpPr>
        <p:spPr>
          <a:xfrm>
            <a:off x="282863" y="170765"/>
            <a:ext cx="10515600" cy="889938"/>
          </a:xfrm>
          <a:prstGeom prst="rect">
            <a:avLst/>
          </a:prstGeom>
        </p:spPr>
        <p:txBody>
          <a:bodyPr vert="horz" lIns="91440" tIns="45721" rIns="91440" bIns="45721" rtlCol="0" anchor="ctr">
            <a:normAutofit fontScale="900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27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2. </a:t>
            </a:r>
            <a:r>
              <a:rPr lang="ko-KR" altLang="en-US" sz="27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이론적 고찰</a:t>
            </a:r>
            <a:br>
              <a:rPr lang="en-US" altLang="ko-KR" sz="32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</a:b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[2] </a:t>
            </a:r>
            <a:r>
              <a:rPr lang="ko-KR" altLang="en-US" sz="16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장소성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형성 요인</a:t>
            </a: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2" name="이등변 삼각형 1">
            <a:extLst>
              <a:ext uri="{FF2B5EF4-FFF2-40B4-BE49-F238E27FC236}">
                <a16:creationId xmlns:a16="http://schemas.microsoft.com/office/drawing/2014/main" id="{5DDE6F1E-10FD-8036-C227-3C5A947151E4}"/>
              </a:ext>
            </a:extLst>
          </p:cNvPr>
          <p:cNvSpPr/>
          <p:nvPr/>
        </p:nvSpPr>
        <p:spPr>
          <a:xfrm rot="16200000">
            <a:off x="4749943" y="3136115"/>
            <a:ext cx="1495512" cy="138963"/>
          </a:xfrm>
          <a:prstGeom prst="triangle">
            <a:avLst>
              <a:gd name="adj" fmla="val 4860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FE21A4-4F06-D4AF-E608-66661B96DFE2}"/>
              </a:ext>
            </a:extLst>
          </p:cNvPr>
          <p:cNvSpPr txBox="1"/>
          <p:nvPr/>
        </p:nvSpPr>
        <p:spPr>
          <a:xfrm>
            <a:off x="3147126" y="4274731"/>
            <a:ext cx="2275262" cy="36576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활동적 특성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E675D1-3261-5755-0086-2C1974F52D85}"/>
              </a:ext>
            </a:extLst>
          </p:cNvPr>
          <p:cNvSpPr txBox="1"/>
          <p:nvPr/>
        </p:nvSpPr>
        <p:spPr>
          <a:xfrm>
            <a:off x="3158780" y="5241662"/>
            <a:ext cx="2275260" cy="36576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의미적 특성</a:t>
            </a:r>
          </a:p>
        </p:txBody>
      </p:sp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5CA1F186-F772-84CB-FBE4-0F1533CBC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878091"/>
              </p:ext>
            </p:extLst>
          </p:nvPr>
        </p:nvGraphicFramePr>
        <p:xfrm>
          <a:off x="5573001" y="4148450"/>
          <a:ext cx="3287828" cy="618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7828">
                  <a:extLst>
                    <a:ext uri="{9D8B030D-6E8A-4147-A177-3AD203B41FA5}">
                      <a16:colId xmlns:a16="http://schemas.microsoft.com/office/drawing/2014/main" val="1309308826"/>
                    </a:ext>
                  </a:extLst>
                </a:gridCol>
              </a:tblGrid>
              <a:tr h="3091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활동성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(Activity)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458040"/>
                  </a:ext>
                </a:extLst>
              </a:tr>
              <a:tr h="3091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사회작용성</a:t>
                      </a:r>
                      <a:r>
                        <a:rPr lang="en-US" altLang="ko-KR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(Interactivity)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510948"/>
                  </a:ext>
                </a:extLst>
              </a:tr>
            </a:tbl>
          </a:graphicData>
        </a:graphic>
      </p:graphicFrame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1782609C-5CD0-B015-FC7C-839797053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582716"/>
              </p:ext>
            </p:extLst>
          </p:nvPr>
        </p:nvGraphicFramePr>
        <p:xfrm>
          <a:off x="5573001" y="4932204"/>
          <a:ext cx="3287828" cy="984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7828">
                  <a:extLst>
                    <a:ext uri="{9D8B030D-6E8A-4147-A177-3AD203B41FA5}">
                      <a16:colId xmlns:a16="http://schemas.microsoft.com/office/drawing/2014/main" val="2539551072"/>
                    </a:ext>
                  </a:extLst>
                </a:gridCol>
              </a:tblGrid>
              <a:tr h="308068"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상징성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(Symbolism)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734505"/>
                  </a:ext>
                </a:extLst>
              </a:tr>
              <a:tr h="3080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기억 및 선호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Preference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3063803"/>
                  </a:ext>
                </a:extLst>
              </a:tr>
              <a:tr h="3685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지역 정체성</a:t>
                      </a:r>
                      <a:r>
                        <a:rPr lang="en-US" altLang="ko-KR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(Local Identity)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45466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8FEA5BF-840B-AC6B-AF2B-F8AF65B8B7F7}"/>
              </a:ext>
            </a:extLst>
          </p:cNvPr>
          <p:cNvSpPr txBox="1"/>
          <p:nvPr/>
        </p:nvSpPr>
        <p:spPr>
          <a:xfrm>
            <a:off x="3147129" y="3022716"/>
            <a:ext cx="2275260" cy="36576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물리적 특성</a:t>
            </a: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2A3DAD20-A634-0468-8B35-7890DA12E3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934517"/>
              </p:ext>
            </p:extLst>
          </p:nvPr>
        </p:nvGraphicFramePr>
        <p:xfrm>
          <a:off x="5573005" y="2461633"/>
          <a:ext cx="3287828" cy="1521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7828">
                  <a:extLst>
                    <a:ext uri="{9D8B030D-6E8A-4147-A177-3AD203B41FA5}">
                      <a16:colId xmlns:a16="http://schemas.microsoft.com/office/drawing/2014/main" val="3560291568"/>
                    </a:ext>
                  </a:extLst>
                </a:gridCol>
              </a:tblGrid>
              <a:tr h="3042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심미성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(Aesthetics)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347666"/>
                  </a:ext>
                </a:extLst>
              </a:tr>
              <a:tr h="3042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개방성</a:t>
                      </a:r>
                      <a:r>
                        <a:rPr lang="en-US" altLang="ko-KR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(Openness)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511340"/>
                  </a:ext>
                </a:extLst>
              </a:tr>
              <a:tr h="3042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감각적 경험</a:t>
                      </a:r>
                      <a:r>
                        <a:rPr lang="en-US" altLang="ko-KR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(Sensory)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97514"/>
                  </a:ext>
                </a:extLst>
              </a:tr>
              <a:tr h="3042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쾌적성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(Comfort)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969401"/>
                  </a:ext>
                </a:extLst>
              </a:tr>
              <a:tr h="304277"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접근성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(Accessibility)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7712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0975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31605-82DD-45C9-047D-886E12658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D057E6B1-8B0F-161A-D568-0C78440A18A0}"/>
              </a:ext>
            </a:extLst>
          </p:cNvPr>
          <p:cNvSpPr/>
          <p:nvPr/>
        </p:nvSpPr>
        <p:spPr>
          <a:xfrm rot="16200000">
            <a:off x="2871664" y="5588863"/>
            <a:ext cx="1273254" cy="128156"/>
          </a:xfrm>
          <a:prstGeom prst="triangle">
            <a:avLst>
              <a:gd name="adj" fmla="val 4860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이등변 삼각형 12">
            <a:extLst>
              <a:ext uri="{FF2B5EF4-FFF2-40B4-BE49-F238E27FC236}">
                <a16:creationId xmlns:a16="http://schemas.microsoft.com/office/drawing/2014/main" id="{C6E95754-D4B4-98E8-3B60-E6F46B3D6811}"/>
              </a:ext>
            </a:extLst>
          </p:cNvPr>
          <p:cNvSpPr/>
          <p:nvPr/>
        </p:nvSpPr>
        <p:spPr>
          <a:xfrm rot="16200000">
            <a:off x="3197351" y="4465277"/>
            <a:ext cx="616188" cy="138962"/>
          </a:xfrm>
          <a:prstGeom prst="triangle">
            <a:avLst>
              <a:gd name="adj" fmla="val 4938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이등변 삼각형 13">
            <a:extLst>
              <a:ext uri="{FF2B5EF4-FFF2-40B4-BE49-F238E27FC236}">
                <a16:creationId xmlns:a16="http://schemas.microsoft.com/office/drawing/2014/main" id="{EB0A851A-FBEB-135F-75CE-2A29FCB644FD}"/>
              </a:ext>
            </a:extLst>
          </p:cNvPr>
          <p:cNvSpPr/>
          <p:nvPr/>
        </p:nvSpPr>
        <p:spPr>
          <a:xfrm rot="16200000">
            <a:off x="2587920" y="3064918"/>
            <a:ext cx="1827236" cy="149334"/>
          </a:xfrm>
          <a:prstGeom prst="triangle">
            <a:avLst>
              <a:gd name="adj" fmla="val 4860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AF427B-3DE0-3282-CBDE-1D4D20B4B150}"/>
              </a:ext>
            </a:extLst>
          </p:cNvPr>
          <p:cNvSpPr txBox="1"/>
          <p:nvPr/>
        </p:nvSpPr>
        <p:spPr>
          <a:xfrm>
            <a:off x="1151611" y="1776572"/>
            <a:ext cx="228691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2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형성 요소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989E3B-1817-62B4-768B-6115C09830C3}"/>
              </a:ext>
            </a:extLst>
          </p:cNvPr>
          <p:cNvSpPr txBox="1"/>
          <p:nvPr/>
        </p:nvSpPr>
        <p:spPr>
          <a:xfrm>
            <a:off x="3577484" y="1776572"/>
            <a:ext cx="786521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상업시설의 공간 환경 특성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FE648AA-4835-ACB3-EF28-B2E6BA14668E}"/>
              </a:ext>
            </a:extLst>
          </p:cNvPr>
          <p:cNvSpPr txBox="1">
            <a:spLocks/>
          </p:cNvSpPr>
          <p:nvPr/>
        </p:nvSpPr>
        <p:spPr>
          <a:xfrm>
            <a:off x="702452" y="959524"/>
            <a:ext cx="10515600" cy="810532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1" dirty="0" err="1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  <a:sym typeface="Wingdings" panose="05000000000000000000" pitchFamily="2" charset="2"/>
              </a:rPr>
              <a:t>장소성</a:t>
            </a:r>
            <a:r>
              <a:rPr lang="ko-KR" altLang="en-US" sz="1401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  <a:sym typeface="Wingdings" panose="05000000000000000000" pitchFamily="2" charset="2"/>
              </a:rPr>
              <a:t> 세부 요인 정의</a:t>
            </a:r>
            <a:endParaRPr kumimoji="1" lang="ko-KR" altLang="en-US" sz="140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05B7B0-E36E-E584-ADDA-2BA15FD2E216}"/>
              </a:ext>
            </a:extLst>
          </p:cNvPr>
          <p:cNvSpPr txBox="1"/>
          <p:nvPr/>
        </p:nvSpPr>
        <p:spPr>
          <a:xfrm>
            <a:off x="1151611" y="2956704"/>
            <a:ext cx="2275260" cy="365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물리적 특성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09DD92-DC68-A9E3-125E-DCEEE3B67767}"/>
              </a:ext>
            </a:extLst>
          </p:cNvPr>
          <p:cNvSpPr txBox="1"/>
          <p:nvPr/>
        </p:nvSpPr>
        <p:spPr>
          <a:xfrm>
            <a:off x="1150333" y="4351878"/>
            <a:ext cx="2275262" cy="365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활동적 특성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40D562-3DC8-2B58-BFAA-CF42F9100AB1}"/>
              </a:ext>
            </a:extLst>
          </p:cNvPr>
          <p:cNvSpPr txBox="1"/>
          <p:nvPr/>
        </p:nvSpPr>
        <p:spPr>
          <a:xfrm>
            <a:off x="1160707" y="5470060"/>
            <a:ext cx="2275260" cy="365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의미적 특성</a:t>
            </a: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F785F682-5DB3-E4BD-8AA0-F204C21C4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778428"/>
              </p:ext>
            </p:extLst>
          </p:nvPr>
        </p:nvGraphicFramePr>
        <p:xfrm>
          <a:off x="3577485" y="2225967"/>
          <a:ext cx="7865213" cy="1827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5542">
                  <a:extLst>
                    <a:ext uri="{9D8B030D-6E8A-4147-A177-3AD203B41FA5}">
                      <a16:colId xmlns:a16="http://schemas.microsoft.com/office/drawing/2014/main" val="3560291568"/>
                    </a:ext>
                  </a:extLst>
                </a:gridCol>
                <a:gridCol w="5879671">
                  <a:extLst>
                    <a:ext uri="{9D8B030D-6E8A-4147-A177-3AD203B41FA5}">
                      <a16:colId xmlns:a16="http://schemas.microsoft.com/office/drawing/2014/main" val="3960897719"/>
                    </a:ext>
                  </a:extLst>
                </a:gridCol>
              </a:tblGrid>
              <a:tr h="3042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심미성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(Aesthetics)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테마가 있는 인테리어 디자인과 감각적 마감재 혼합을 통한 시각적 아름다움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347666"/>
                  </a:ext>
                </a:extLst>
              </a:tr>
              <a:tr h="3042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개방성</a:t>
                      </a:r>
                      <a:r>
                        <a:rPr lang="en-US" altLang="ko-KR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(Openness)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식음</a:t>
                      </a:r>
                      <a:r>
                        <a:rPr lang="en-US" altLang="ko-KR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문화</a:t>
                      </a:r>
                      <a:r>
                        <a:rPr lang="en-US" altLang="ko-KR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커뮤니티 공간의 유기적 배치와 개방형 구조를 통해 공간 사용의 경계를 명확히 하고 공간 구획과 외부 조망을 통해 시각적 </a:t>
                      </a:r>
                      <a:r>
                        <a:rPr lang="ko-KR" altLang="en-US" sz="1200" i="0" kern="1200" dirty="0" err="1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개방감</a:t>
                      </a:r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 확보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2511340"/>
                  </a:ext>
                </a:extLst>
              </a:tr>
              <a:tr h="3042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감각적 경험</a:t>
                      </a:r>
                      <a:r>
                        <a:rPr lang="en-US" altLang="ko-KR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(Sensory)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적절한 조명</a:t>
                      </a:r>
                      <a:r>
                        <a:rPr lang="en-US" altLang="ko-KR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시각</a:t>
                      </a:r>
                      <a:r>
                        <a:rPr lang="en-US" altLang="ko-KR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), </a:t>
                      </a:r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배경 음악</a:t>
                      </a:r>
                      <a:r>
                        <a:rPr lang="en-US" altLang="ko-KR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청각</a:t>
                      </a:r>
                      <a:r>
                        <a:rPr lang="en-US" altLang="ko-KR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), </a:t>
                      </a:r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커피 및 베이커리 향기</a:t>
                      </a:r>
                      <a:r>
                        <a:rPr lang="en-US" altLang="ko-KR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후각</a:t>
                      </a:r>
                      <a:r>
                        <a:rPr lang="en-US" altLang="ko-KR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), </a:t>
                      </a:r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다양한 질감의 가구와 소품</a:t>
                      </a:r>
                      <a:r>
                        <a:rPr lang="en-US" altLang="ko-KR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촉각</a:t>
                      </a:r>
                      <a:r>
                        <a:rPr lang="en-US" altLang="ko-KR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) </a:t>
                      </a:r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등 오감을 자극하는 감각적 요소 제공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197514"/>
                  </a:ext>
                </a:extLst>
              </a:tr>
              <a:tr h="3042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쾌적성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(Comfort)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통창을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 통한 채광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실내 조경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온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습도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청결 등 공간 이용자가 머무르며 느끼는 물리적 쾌적함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8771245"/>
                  </a:ext>
                </a:extLst>
              </a:tr>
              <a:tr h="304277"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접근성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(Accessibility)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대중교통 접근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주차 연계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도보 가능성 등 쉽게 찾아오고 편리하게 이용할 수 있는 정도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933898"/>
                  </a:ext>
                </a:extLst>
              </a:tr>
            </a:tbl>
          </a:graphicData>
        </a:graphic>
      </p:graphicFrame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AD423F82-5556-DC3D-8B89-C0BF60380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341024"/>
              </p:ext>
            </p:extLst>
          </p:nvPr>
        </p:nvGraphicFramePr>
        <p:xfrm>
          <a:off x="3576205" y="4225597"/>
          <a:ext cx="7865212" cy="618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5544">
                  <a:extLst>
                    <a:ext uri="{9D8B030D-6E8A-4147-A177-3AD203B41FA5}">
                      <a16:colId xmlns:a16="http://schemas.microsoft.com/office/drawing/2014/main" val="1309308826"/>
                    </a:ext>
                  </a:extLst>
                </a:gridCol>
                <a:gridCol w="5879668">
                  <a:extLst>
                    <a:ext uri="{9D8B030D-6E8A-4147-A177-3AD203B41FA5}">
                      <a16:colId xmlns:a16="http://schemas.microsoft.com/office/drawing/2014/main" val="898325423"/>
                    </a:ext>
                  </a:extLst>
                </a:gridCol>
              </a:tblGrid>
              <a:tr h="3091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활동성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(Activity)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모임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대화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업무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휴식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식사 등 다양한 활동이 이루어지는 정도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2458040"/>
                  </a:ext>
                </a:extLst>
              </a:tr>
              <a:tr h="3091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상호작용성</a:t>
                      </a:r>
                      <a:r>
                        <a:rPr lang="en-US" altLang="ko-KR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(Interactivity)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능동적으로 참여할 수 있는 체험 프로그램과 이용자간 소통과 유대감을 강화할 수 있는 정도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510948"/>
                  </a:ext>
                </a:extLst>
              </a:tr>
            </a:tbl>
          </a:graphicData>
        </a:graphic>
      </p:graphicFrame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F61151DB-20FC-38A3-7C37-008B3A9059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669242"/>
              </p:ext>
            </p:extLst>
          </p:nvPr>
        </p:nvGraphicFramePr>
        <p:xfrm>
          <a:off x="3574926" y="5016313"/>
          <a:ext cx="7865212" cy="12732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5544">
                  <a:extLst>
                    <a:ext uri="{9D8B030D-6E8A-4147-A177-3AD203B41FA5}">
                      <a16:colId xmlns:a16="http://schemas.microsoft.com/office/drawing/2014/main" val="2539551072"/>
                    </a:ext>
                  </a:extLst>
                </a:gridCol>
                <a:gridCol w="5879668">
                  <a:extLst>
                    <a:ext uri="{9D8B030D-6E8A-4147-A177-3AD203B41FA5}">
                      <a16:colId xmlns:a16="http://schemas.microsoft.com/office/drawing/2014/main" val="1703171109"/>
                    </a:ext>
                  </a:extLst>
                </a:gridCol>
              </a:tblGrid>
              <a:tr h="345305"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상징성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(Symbolism)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다른 장소와 차별화되는 독창적인 공간디자인으로 해당 공간만의 개성 있는 정체성 형성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071365"/>
                  </a:ext>
                </a:extLst>
              </a:tr>
              <a:tr h="3453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기억 및 선호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Preference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비일상적이고 감성적인 공간 경험과 개인의 취향을 충족시키는 환경으로 긍정적인 감정을 형성하고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재방문을 유도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3063803"/>
                  </a:ext>
                </a:extLst>
              </a:tr>
              <a:tr h="4707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지역 정체성</a:t>
                      </a:r>
                      <a:r>
                        <a:rPr lang="en-US" altLang="ko-KR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(Local Identity)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지역의 역사적 서사나 유휴 시설의 재생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지역 특유의 경관 및 자원을 디자인 요소로 반영하여 장소가 가진 문화적 맥락을 상징적으로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담아냄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4454664"/>
                  </a:ext>
                </a:extLst>
              </a:tr>
            </a:tbl>
          </a:graphicData>
        </a:graphic>
      </p:graphicFrame>
      <p:sp>
        <p:nvSpPr>
          <p:cNvPr id="4" name="제목 1">
            <a:extLst>
              <a:ext uri="{FF2B5EF4-FFF2-40B4-BE49-F238E27FC236}">
                <a16:creationId xmlns:a16="http://schemas.microsoft.com/office/drawing/2014/main" id="{C0FD58D2-464D-6C87-8904-80E9707B7608}"/>
              </a:ext>
            </a:extLst>
          </p:cNvPr>
          <p:cNvSpPr txBox="1">
            <a:spLocks/>
          </p:cNvSpPr>
          <p:nvPr/>
        </p:nvSpPr>
        <p:spPr>
          <a:xfrm>
            <a:off x="282863" y="170765"/>
            <a:ext cx="10515600" cy="889938"/>
          </a:xfrm>
          <a:prstGeom prst="rect">
            <a:avLst/>
          </a:prstGeom>
        </p:spPr>
        <p:txBody>
          <a:bodyPr vert="horz" lIns="91440" tIns="45721" rIns="91440" bIns="45721" rtlCol="0" anchor="ctr">
            <a:normAutofit fontScale="900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27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2. </a:t>
            </a:r>
            <a:r>
              <a:rPr lang="ko-KR" altLang="en-US" sz="27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이론적 고찰</a:t>
            </a:r>
            <a:br>
              <a:rPr lang="en-US" altLang="ko-KR" sz="32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</a:b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[2] </a:t>
            </a:r>
            <a:r>
              <a:rPr lang="ko-KR" altLang="en-US" sz="16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장소성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형성 요인</a:t>
            </a: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0402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941E281-0119-E7E2-944D-A1090509BE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756297"/>
              </p:ext>
            </p:extLst>
          </p:nvPr>
        </p:nvGraphicFramePr>
        <p:xfrm>
          <a:off x="997153" y="1180701"/>
          <a:ext cx="10347764" cy="45664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081">
                  <a:extLst>
                    <a:ext uri="{9D8B030D-6E8A-4147-A177-3AD203B41FA5}">
                      <a16:colId xmlns:a16="http://schemas.microsoft.com/office/drawing/2014/main" val="985567643"/>
                    </a:ext>
                  </a:extLst>
                </a:gridCol>
                <a:gridCol w="1100317">
                  <a:extLst>
                    <a:ext uri="{9D8B030D-6E8A-4147-A177-3AD203B41FA5}">
                      <a16:colId xmlns:a16="http://schemas.microsoft.com/office/drawing/2014/main" val="465856878"/>
                    </a:ext>
                  </a:extLst>
                </a:gridCol>
                <a:gridCol w="6713584">
                  <a:extLst>
                    <a:ext uri="{9D8B030D-6E8A-4147-A177-3AD203B41FA5}">
                      <a16:colId xmlns:a16="http://schemas.microsoft.com/office/drawing/2014/main" val="1586396691"/>
                    </a:ext>
                  </a:extLst>
                </a:gridCol>
                <a:gridCol w="1844782">
                  <a:extLst>
                    <a:ext uri="{9D8B030D-6E8A-4147-A177-3AD203B41FA5}">
                      <a16:colId xmlns:a16="http://schemas.microsoft.com/office/drawing/2014/main" val="706801407"/>
                    </a:ext>
                  </a:extLst>
                </a:gridCol>
              </a:tblGrid>
              <a:tr h="299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구분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중분류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내용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키워드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5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680214"/>
                  </a:ext>
                </a:extLst>
              </a:tr>
              <a:tr h="365760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물리적 특성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심미성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(Aesthetics)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테마가 있는 인테리어 디자인과 감각적 마감재 혼합을 통한 시각적 아름다움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인테리어 디자인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시각적 아름다움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분위기 연출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250419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개방성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(Openness)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공간의 배치와 시야 구성이 외부 조망과 시각적 연결을 확보하여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이용자에게 확장감과 낮은 폐쇄감을 느끼게 하는 특성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공간 배치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시야 연속성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채광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외부 조망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551722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접근성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(Accessibility)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대중교통 접근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주차 연계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도보 가능성 등 쉽게 찾아오고 편리하게 이용할 수 있는 정도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대중교통 접근성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보행 접근성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주차 편의성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685339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감각적 경험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(Sensory)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적절한 조명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시각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),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배경 음악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청각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),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커피 및 베이커리 향기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후각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),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다양한 질감의 가구와 소품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촉각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)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등 오감을 자극하는 감각적 요소 제공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조명 환경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음향 환경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향 요소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가구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소품 질감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628530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쾌적성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(Comfort)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통창을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통한 채광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실내 조경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온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·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습도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청결 등 공간 이용자가 머무르며 느끼는 물리적 쾌적함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실내 환경 자연 친화적 요소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 err="1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온열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 환경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청결도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1827028"/>
                  </a:ext>
                </a:extLst>
              </a:tr>
              <a:tr h="36576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활동적 특성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활동성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(Activity)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모임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대화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업무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휴식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식사 등 다양한 활동이 이루어지는 정도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행위 수용성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공간 활용도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체류 형태 다양성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1673614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상호작용성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(Sociability)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능동적으로 참여할 수 있는 체험 프로그램과 이용자간 소통과 유대감을 강화할 수 있는 정도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사회적 교류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체험 프로그램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커뮤니티 형성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205496"/>
                  </a:ext>
                </a:extLst>
              </a:tr>
              <a:tr h="365760">
                <a:tc rowSpan="3">
                  <a:txBody>
                    <a:bodyPr/>
                    <a:lstStyle/>
                    <a:p>
                      <a:pPr algn="ctr"/>
                      <a:r>
                        <a:rPr lang="ko-KR" altLang="en-US" sz="12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의미적 특성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상징성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(Symbolism)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다른 장소와 차별화되는 독창적인 공간디자인으로 해당 공간만의 개성 있는 정체성 형성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브랜드 이미지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디자인 개성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38246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기억 및 선호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(Preference)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비일상적이고 감성적인 공간 경험과 개인의 취향을 충족시키는 환경으로 긍정적인 감정을 형성하고 재방문을 유도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정서적 만족감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취향 적합성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기억 형성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재방문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868955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지역 정체성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(Local Identity)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지역의 역사적 서사나 유휴 시설의 재생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지역 특유의 경관 및 자원을 디자인 요소로 반영하여 장소가 가진 문화적 맥락을 상징적으로 담아낸 정도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지역 맥락 반영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역사성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지역 자원 활용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482054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309B46E-5ECC-1D13-76AE-AE8F483621DE}"/>
              </a:ext>
            </a:extLst>
          </p:cNvPr>
          <p:cNvSpPr txBox="1"/>
          <p:nvPr/>
        </p:nvSpPr>
        <p:spPr>
          <a:xfrm>
            <a:off x="4455166" y="5893472"/>
            <a:ext cx="3281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ko-KR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표 </a:t>
            </a:r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1&gt; </a:t>
            </a:r>
            <a:r>
              <a:rPr lang="ko-KR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장소성</a:t>
            </a:r>
            <a:r>
              <a:rPr lang="ko-KR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기반 상업공간 공간디자인 특성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A22177-D2CF-F56B-B641-851864B0DC99}"/>
              </a:ext>
            </a:extLst>
          </p:cNvPr>
          <p:cNvSpPr txBox="1"/>
          <p:nvPr/>
        </p:nvSpPr>
        <p:spPr>
          <a:xfrm>
            <a:off x="0" y="6316819"/>
            <a:ext cx="9718651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[1] </a:t>
            </a:r>
            <a:r>
              <a:rPr lang="en-US" altLang="ko-KR" sz="7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Shijie</a:t>
            </a:r>
            <a:r>
              <a:rPr lang="en-US" altLang="ko-KR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Sun, Yun Yu, Dimension and formation of placeness of commercial public space in city center: A case study of </a:t>
            </a:r>
            <a:r>
              <a:rPr lang="en-US" altLang="ko-KR" sz="7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Deji</a:t>
            </a:r>
            <a:r>
              <a:rPr lang="en-US" altLang="ko-KR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Plaza in Nanjing, Frontiers of Architectural Research, Volume 10, Issue 2, 2021, Pages 229-239.</a:t>
            </a:r>
            <a:endParaRPr lang="en-US" altLang="ko-KR" sz="700" dirty="0"/>
          </a:p>
          <a:p>
            <a:pPr latinLnBrk="1"/>
            <a:r>
              <a:rPr lang="en-US" altLang="ko-KR" sz="700" dirty="0"/>
              <a:t>[2] </a:t>
            </a:r>
            <a:r>
              <a:rPr lang="ko-KR" altLang="en-US" sz="700" dirty="0" err="1"/>
              <a:t>류호창</a:t>
            </a:r>
            <a:r>
              <a:rPr lang="en-US" altLang="ko-KR" sz="700" dirty="0"/>
              <a:t>, "</a:t>
            </a:r>
            <a:r>
              <a:rPr lang="ko-KR" altLang="en-US" sz="700" dirty="0"/>
              <a:t>실내공간에서의 </a:t>
            </a:r>
            <a:r>
              <a:rPr lang="ko-KR" altLang="en-US" sz="700" dirty="0" err="1"/>
              <a:t>장소성</a:t>
            </a:r>
            <a:r>
              <a:rPr lang="ko-KR" altLang="en-US" sz="700" dirty="0"/>
              <a:t> 구현 요소에 관한 연구</a:t>
            </a:r>
            <a:r>
              <a:rPr lang="en-US" altLang="ko-KR" sz="700" dirty="0"/>
              <a:t>: </a:t>
            </a:r>
            <a:r>
              <a:rPr lang="ko-KR" altLang="en-US" sz="700" dirty="0"/>
              <a:t>주거공간을 중심으로</a:t>
            </a:r>
            <a:r>
              <a:rPr lang="en-US" altLang="ko-KR" sz="700" dirty="0"/>
              <a:t>," </a:t>
            </a:r>
            <a:r>
              <a:rPr lang="ko-KR" altLang="en-US" sz="700" i="1" dirty="0"/>
              <a:t>한국실내디자인학회 논문집</a:t>
            </a:r>
            <a:r>
              <a:rPr lang="en-US" altLang="ko-KR" sz="700" dirty="0"/>
              <a:t>, 7</a:t>
            </a:r>
            <a:r>
              <a:rPr lang="ko-KR" altLang="en-US" sz="700" dirty="0"/>
              <a:t>호</a:t>
            </a:r>
            <a:r>
              <a:rPr lang="en-US" altLang="ko-KR" sz="700" dirty="0"/>
              <a:t>, </a:t>
            </a:r>
            <a:r>
              <a:rPr lang="ko-KR" altLang="en-US" sz="700" dirty="0"/>
              <a:t>한국실내디자인학회</a:t>
            </a:r>
            <a:r>
              <a:rPr lang="en-US" altLang="ko-KR" sz="700" dirty="0"/>
              <a:t>, 1996. 4, 56-63</a:t>
            </a:r>
            <a:r>
              <a:rPr lang="ko-KR" altLang="en-US" sz="700" dirty="0"/>
              <a:t>쪽</a:t>
            </a:r>
            <a:r>
              <a:rPr lang="en-US" altLang="ko-KR" sz="700" dirty="0"/>
              <a:t>.</a:t>
            </a:r>
          </a:p>
          <a:p>
            <a:pPr latinLnBrk="1"/>
            <a:r>
              <a:rPr lang="en-US" altLang="ko-KR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[3] </a:t>
            </a:r>
            <a:r>
              <a:rPr lang="ko-KR" altLang="en-US" sz="7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곽풍명</a:t>
            </a:r>
            <a:r>
              <a:rPr lang="en-US" altLang="ko-KR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7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황연숙</a:t>
            </a:r>
            <a:r>
              <a:rPr lang="en-US" altLang="ko-KR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&amp; </a:t>
            </a:r>
            <a:r>
              <a:rPr lang="ko-KR" altLang="en-US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이주영</a:t>
            </a:r>
            <a:r>
              <a:rPr lang="en-US" altLang="ko-KR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. (2025). </a:t>
            </a:r>
            <a:r>
              <a:rPr lang="ko-KR" altLang="en-US" sz="7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장소성</a:t>
            </a:r>
            <a:r>
              <a:rPr lang="ko-KR" altLang="en-US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기반 박물관 공간디자인에 대한 사용자 인식 분석 연구</a:t>
            </a:r>
            <a:r>
              <a:rPr lang="en-US" altLang="ko-KR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. </a:t>
            </a:r>
            <a:r>
              <a:rPr lang="ko-KR" altLang="en-US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한국공간디자인학회 논문집</a:t>
            </a:r>
            <a:r>
              <a:rPr lang="en-US" altLang="ko-KR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20(5), 181-190.</a:t>
            </a:r>
          </a:p>
          <a:p>
            <a:r>
              <a:rPr lang="en-US" altLang="ko-KR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[4] </a:t>
            </a:r>
            <a:r>
              <a:rPr lang="ko-KR" altLang="ko-KR" sz="800" dirty="0">
                <a:latin typeface="Arial" panose="020B0604020202020204" pitchFamily="34" charset="0"/>
              </a:rPr>
              <a:t>이지혜 and 김지현. (2025). 복합문화공간 관점에서 본 대형카페의 공간디자인 전략 연구. 한국공간디자인학회 논문집, 20(8), 415-428.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B50E9F2-68B4-53DD-7295-ED09AA39BEDD}"/>
              </a:ext>
            </a:extLst>
          </p:cNvPr>
          <p:cNvSpPr txBox="1">
            <a:spLocks/>
          </p:cNvSpPr>
          <p:nvPr/>
        </p:nvSpPr>
        <p:spPr>
          <a:xfrm>
            <a:off x="679247" y="490588"/>
            <a:ext cx="10515600" cy="810532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1" dirty="0" err="1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  <a:sym typeface="Wingdings" panose="05000000000000000000" pitchFamily="2" charset="2"/>
              </a:rPr>
              <a:t>장소성</a:t>
            </a:r>
            <a:r>
              <a:rPr lang="ko-KR" altLang="en-US" sz="1401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  <a:sym typeface="Wingdings" panose="05000000000000000000" pitchFamily="2" charset="2"/>
              </a:rPr>
              <a:t> 세부 요인 정의 및 키워드</a:t>
            </a:r>
            <a:endParaRPr kumimoji="1" lang="ko-KR" altLang="en-US" sz="140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22235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0B78A-AFE4-E513-9957-FC946A600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18F1C66-37A1-F25F-A5A5-7E1FF1DC2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019954"/>
              </p:ext>
            </p:extLst>
          </p:nvPr>
        </p:nvGraphicFramePr>
        <p:xfrm>
          <a:off x="518302" y="537288"/>
          <a:ext cx="11203799" cy="6110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9913">
                  <a:extLst>
                    <a:ext uri="{9D8B030D-6E8A-4147-A177-3AD203B41FA5}">
                      <a16:colId xmlns:a16="http://schemas.microsoft.com/office/drawing/2014/main" val="985567643"/>
                    </a:ext>
                  </a:extLst>
                </a:gridCol>
                <a:gridCol w="1078908">
                  <a:extLst>
                    <a:ext uri="{9D8B030D-6E8A-4147-A177-3AD203B41FA5}">
                      <a16:colId xmlns:a16="http://schemas.microsoft.com/office/drawing/2014/main" val="465856878"/>
                    </a:ext>
                  </a:extLst>
                </a:gridCol>
                <a:gridCol w="6262677">
                  <a:extLst>
                    <a:ext uri="{9D8B030D-6E8A-4147-A177-3AD203B41FA5}">
                      <a16:colId xmlns:a16="http://schemas.microsoft.com/office/drawing/2014/main" val="1586396691"/>
                    </a:ext>
                  </a:extLst>
                </a:gridCol>
                <a:gridCol w="3162301">
                  <a:extLst>
                    <a:ext uri="{9D8B030D-6E8A-4147-A177-3AD203B41FA5}">
                      <a16:colId xmlns:a16="http://schemas.microsoft.com/office/drawing/2014/main" val="2445760186"/>
                    </a:ext>
                  </a:extLst>
                </a:gridCol>
              </a:tblGrid>
              <a:tr h="299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구분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중분류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LLM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으로 재구성한 설명 문장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예시 문장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5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680214"/>
                  </a:ext>
                </a:extLst>
              </a:tr>
              <a:tr h="46241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물리적 특성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심미성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(Aesthetics)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독창적인 인테리어 디자인과 감각적인 마감재가 조화를 이루어 시각적으로 매우 아름답다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세련된 분위기 덕분에 공간 전체에서 감도 높은 미적 품질이 느껴진다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인테리어가 감성적이고 분위기가 예쁘다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전체적으로 공간디자인이 세련되고 감각적이다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사진 찍기 좋을 정도로 공간이 아름답다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250419"/>
                  </a:ext>
                </a:extLst>
              </a:tr>
              <a:tr h="46241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개방성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(Openness)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유기적인 공간 배치를 통해 답답함 없는 시원한 개방감을 제공한다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통유리창을 통해 들어오는 풍부한 채광과 외부 조망이 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·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외부의 시각적 연속성을 강화한다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공간이 넓고 답답하지 않아서 좋다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창이 커서 개방감이 좋다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테라스가 있고 외부 뷰가 넓게 보인다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좌석 간격이 넓어서 답답하지 않다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551722"/>
                  </a:ext>
                </a:extLst>
              </a:tr>
              <a:tr h="46241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감각적 경험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(Sensory)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매력적인 배경 음악과 고소한 커피 향이 어우러져 오감을 자극하는 입체적인 경험을 선사한다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가구의 다양한 질감과 섬세한 소품들이 다채로운 다감각적 환경을 조성한다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음악이랑 분위기가 잘 어울린다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커피 향이 퍼져서 향긋하다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조명이나 가구 색감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소품이 감각적이다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685339"/>
                  </a:ext>
                </a:extLst>
              </a:tr>
              <a:tr h="46241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접근성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(Accessibility)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대중교통 거점과 인접해 있어 찾아오기 쉽고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편리한 주차 및 보행 환경을 갖추고 있다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약속 장소로 정하기에 물리적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·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심리적 제약이 없는 우수한 입지 조건을 갖추었다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위치가 좋아서 찾아가기 쉽다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역에서 가까워서 접근성이 좋다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주차나 이동이 편리한 편이다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약속 장소로 잡기 좋은 위치다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628530"/>
                  </a:ext>
                </a:extLst>
              </a:tr>
              <a:tr h="46241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쾌적성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(Comfort)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실내 조경과 쾌적한 온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·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습도 관리 덕분에 머무는 내내 신체적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·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심리적 편안함을 느낄 수 있다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깨끗하고 청결한 환경과 자연 채광이 조화를 이루어 이용자에게 최적의 휴식을 제공한다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오래 있어도 편안하고 쾌적하다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실내가 위생적으로 깨끗하고 관리가 잘 되어 있다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온도나 공기가 쾌적해서 좋다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전체적으로 머물기 편한 환경이다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1827028"/>
                  </a:ext>
                </a:extLst>
              </a:tr>
              <a:tr h="462415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활동적 특성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활동성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(Activity)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휴식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업무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소모임 등 이용자의 방문 목적에 따른 다양한 행위를 수용할 수 있는 높은 공간 활성 수준을 보인다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개인적인 집중과 자유로운 대화가 모두 가능할 만큼 공간 활용도가 뛰어나다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단체 테이블이 있거나 좌석이 충분해 모임하기에 좋다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친구들과 대화하기 좋다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개인 작업이나 휴식하기에도 좋다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좌석에 오래 머물면서 여러 활동을 할 수 있다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1673614"/>
                  </a:ext>
                </a:extLst>
              </a:tr>
              <a:tr h="46241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상호작용성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(Sociability)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타인과의 우연한 만남이나 사회적 교류를 촉진하여 이용자 간의 소속감과 유대감을 자연스럽게 형성한다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능동적으로 참여할 수 있는 체험 프로그램과 소통의 장이 마련되어 활기찬 사회적 관계를 유도한다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사람들 간 소통이 자연스럽게 이루어진다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사람들끼리 대화하기 편한 분위기다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직원과 자연스러운 대화가 가능하다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참여할 수 있는 프로그램이 있다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205496"/>
                  </a:ext>
                </a:extLst>
              </a:tr>
              <a:tr h="462415">
                <a:tc rowSpan="3">
                  <a:txBody>
                    <a:bodyPr/>
                    <a:lstStyle/>
                    <a:p>
                      <a:pPr algn="ctr"/>
                      <a:r>
                        <a:rPr lang="ko-KR" altLang="en-US" sz="12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의미적 특성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상징성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(Symbolism)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다른 곳과 구별되는 독창적인 디자인 언어를 통해 해당 장소만의 개성 있는 정체성을 명확히 드러낸다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이곳만의 개성이 뚜렷한 공간이다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다른 곳과 구별되는 콘셉트나 브랜딩이 잘 드러난다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공간 자체가 하나의 디자인 스타일을 보여준다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38246"/>
                  </a:ext>
                </a:extLst>
              </a:tr>
              <a:tr h="462415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기억 및 선호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(Preference)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비일상적이고 감성적인 공간 경험이 긍정적인 기억으로 남아 다시 방문하고 싶은 깊은 선호도를 형성한다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개인의 취향을 충족시키는 환경 덕분에 장소에 대한 정서적 만족감이 매우 높다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다시 방문하고 싶은 곳이다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개인적으로 취향이고 마음에 드는 공간이다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오래 기억에 남을 것 같은 곳이다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자주 오고 싶다는 생각이 든다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868955"/>
                  </a:ext>
                </a:extLst>
              </a:tr>
              <a:tr h="46241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지역 정체성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(Local Identity)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지역의 역사적 서사나 문화적 맥락을 디자인 요소로 승화시켜 장소가 가진 고유한 가치를 상징적으로 담아냈다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주변 경관 및 지역 자원과 조화를 이루며 사용자가 지역 사회의 일원임을 인지하게 하는 문화적 깊이가 있다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이 동네 분위기가 잘 느껴지는 곳이다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지역 특색이 잘 반영된 공간이다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주변 환경이랑 잘 어울린다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이 지역을 대표하는 장소이다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4820549"/>
                  </a:ext>
                </a:extLst>
              </a:tr>
            </a:tbl>
          </a:graphicData>
        </a:graphic>
      </p:graphicFrame>
      <p:sp>
        <p:nvSpPr>
          <p:cNvPr id="6" name="제목 1">
            <a:extLst>
              <a:ext uri="{FF2B5EF4-FFF2-40B4-BE49-F238E27FC236}">
                <a16:creationId xmlns:a16="http://schemas.microsoft.com/office/drawing/2014/main" id="{10303E03-D157-1B53-1F70-6544582C8145}"/>
              </a:ext>
            </a:extLst>
          </p:cNvPr>
          <p:cNvSpPr txBox="1">
            <a:spLocks/>
          </p:cNvSpPr>
          <p:nvPr/>
        </p:nvSpPr>
        <p:spPr>
          <a:xfrm>
            <a:off x="469899" y="-80912"/>
            <a:ext cx="10515600" cy="810532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1" dirty="0" err="1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  <a:sym typeface="Wingdings" panose="05000000000000000000" pitchFamily="2" charset="2"/>
              </a:rPr>
              <a:t>장소성</a:t>
            </a:r>
            <a:r>
              <a:rPr lang="ko-KR" altLang="en-US" sz="1401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  <a:sym typeface="Wingdings" panose="05000000000000000000" pitchFamily="2" charset="2"/>
              </a:rPr>
              <a:t> 요인 리뷰에서의 표현 예시</a:t>
            </a:r>
            <a:endParaRPr kumimoji="1" lang="ko-KR" altLang="en-US" sz="140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6586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10B9F3FD-DDF9-1DE0-E97F-E95AF04A0C80}"/>
              </a:ext>
            </a:extLst>
          </p:cNvPr>
          <p:cNvSpPr txBox="1">
            <a:spLocks/>
          </p:cNvSpPr>
          <p:nvPr/>
        </p:nvSpPr>
        <p:spPr>
          <a:xfrm>
            <a:off x="749709" y="726515"/>
            <a:ext cx="10515600" cy="889938"/>
          </a:xfrm>
          <a:prstGeom prst="rect">
            <a:avLst/>
          </a:prstGeom>
        </p:spPr>
        <p:txBody>
          <a:bodyPr vert="horz" lIns="91440" tIns="45721" rIns="91440" bIns="45721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16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장소성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관련 선행연구의 공간 스케일</a:t>
            </a: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645C6BA-AF16-2446-7CBC-8FE6C5DC4F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63248"/>
              </p:ext>
            </p:extLst>
          </p:nvPr>
        </p:nvGraphicFramePr>
        <p:xfrm>
          <a:off x="2096770" y="1574802"/>
          <a:ext cx="8506169" cy="3708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9497">
                  <a:extLst>
                    <a:ext uri="{9D8B030D-6E8A-4147-A177-3AD203B41FA5}">
                      <a16:colId xmlns:a16="http://schemas.microsoft.com/office/drawing/2014/main" val="465856878"/>
                    </a:ext>
                  </a:extLst>
                </a:gridCol>
                <a:gridCol w="6466672">
                  <a:extLst>
                    <a:ext uri="{9D8B030D-6E8A-4147-A177-3AD203B41FA5}">
                      <a16:colId xmlns:a16="http://schemas.microsoft.com/office/drawing/2014/main" val="1586396691"/>
                    </a:ext>
                  </a:extLst>
                </a:gridCol>
              </a:tblGrid>
              <a:tr h="3708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기존 연구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대상 공간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680214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권윤구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임승빈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(2014)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서울시 대표 장소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41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곳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250419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나현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이수기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(2025)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서울시 대표 장소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71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곳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청계천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DDP,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남대문시장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잠원한강공원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 건대입구 등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551722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임승빈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외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(2014)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서울숲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선유도공원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685339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이주경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손용훈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(2021)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서울숲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보라매공원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올림픽공원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5866207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황해권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손용훈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(2025)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망원한강공원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반포한강공원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여의도한강공원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잠실한강공원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628530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임하나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최창규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(2013)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대학로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홍대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3596313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김희진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최막중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(2016)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서울시 삼청동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신사동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2369840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곽풍명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이주영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(2025)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박물관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024813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Sun, Yu(2021)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중국 난징의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Deji Plaza(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대형 쇼핑몰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182702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50EB8A2-DEE4-11C4-0C26-3FA30F58D374}"/>
              </a:ext>
            </a:extLst>
          </p:cNvPr>
          <p:cNvSpPr txBox="1"/>
          <p:nvPr/>
        </p:nvSpPr>
        <p:spPr>
          <a:xfrm>
            <a:off x="828675" y="5588067"/>
            <a:ext cx="10693809" cy="1086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8659" lvl="1" indent="-171453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 기존 연구는 도시의 대표 장소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특정 지역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(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동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),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대규모 공원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상권 단위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혹은 단일 문화시설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/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상업 시설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(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박물관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쇼핑몰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)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등으로 다양한 규모의 공간을 분석 대상으로 정함</a:t>
            </a:r>
            <a:endParaRPr lang="en-US" altLang="ko-KR" sz="1100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  <a:p>
            <a:pPr marL="628659" lvl="1" indent="-171453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 연구의 실증 대상은 상업공간 중 식품접객업을 행하는 시설로 하며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그중 서울시 휴게음식점의 사례로서 커피전문점을 분석 단위로 설정함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. </a:t>
            </a:r>
          </a:p>
          <a:p>
            <a:pPr marL="628659" lvl="1" indent="-171453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 다만 커피전문점은 특정 업종의 소규모 상업공간에 해당하므로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이를 대상으로 한 분석만으로 </a:t>
            </a:r>
            <a:r>
              <a:rPr lang="ko-KR" altLang="en-US" sz="11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장소성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 전반을 일반화하는 데에는 한계가 있음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.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본 연구는 이러한 한계가 있으나 </a:t>
            </a:r>
            <a:r>
              <a:rPr lang="ko-KR" altLang="en-US" sz="11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장소성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 정량화 접근 방법의 실증 대상을 커피전문점으로 설정함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86F3CCB-F8BE-C06A-7E91-5E7E13E6F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63" y="170765"/>
            <a:ext cx="10829531" cy="8899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3. </a:t>
            </a:r>
            <a:r>
              <a:rPr lang="ko-KR" altLang="en-US" sz="24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연구 대상 및 범위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6522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2D8BE-AD83-2E12-56FE-26422FA4F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Box 141">
            <a:extLst>
              <a:ext uri="{FF2B5EF4-FFF2-40B4-BE49-F238E27FC236}">
                <a16:creationId xmlns:a16="http://schemas.microsoft.com/office/drawing/2014/main" id="{31315FEE-AC6E-A336-A53D-B944187406BD}"/>
              </a:ext>
            </a:extLst>
          </p:cNvPr>
          <p:cNvSpPr txBox="1"/>
          <p:nvPr/>
        </p:nvSpPr>
        <p:spPr>
          <a:xfrm>
            <a:off x="5042666" y="4946918"/>
            <a:ext cx="21066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1. Overview of research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136AF45-466F-AA92-B8AD-9ED7BB8959F7}"/>
              </a:ext>
            </a:extLst>
          </p:cNvPr>
          <p:cNvGrpSpPr/>
          <p:nvPr/>
        </p:nvGrpSpPr>
        <p:grpSpPr>
          <a:xfrm>
            <a:off x="2155911" y="2042603"/>
            <a:ext cx="7880178" cy="2582425"/>
            <a:chOff x="1946361" y="2061653"/>
            <a:chExt cx="7880178" cy="2582425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4281BE65-36C2-E4E9-DEC0-8C6B9D77055E}"/>
                </a:ext>
              </a:extLst>
            </p:cNvPr>
            <p:cNvSpPr/>
            <p:nvPr/>
          </p:nvSpPr>
          <p:spPr>
            <a:xfrm>
              <a:off x="7631979" y="2061654"/>
              <a:ext cx="2194560" cy="257755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401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</a:t>
              </a: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12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장소성</a:t>
              </a:r>
              <a:r>
                <a:rPr lang="ko-KR" alt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 점수</a:t>
              </a: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BAFC710D-59D4-53BB-5F38-A8606FBCA018}"/>
                </a:ext>
              </a:extLst>
            </p:cNvPr>
            <p:cNvSpPr/>
            <p:nvPr/>
          </p:nvSpPr>
          <p:spPr>
            <a:xfrm>
              <a:off x="4789170" y="2061654"/>
              <a:ext cx="2194560" cy="257755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401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Placeness</a:t>
              </a:r>
            </a:p>
            <a:p>
              <a:pPr algn="ctr"/>
              <a:r>
                <a:rPr lang="en-US" altLang="ko-KR" sz="1401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Quantification System</a:t>
              </a:r>
              <a:endParaRPr lang="en-US" altLang="ko-KR" sz="140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12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장소성</a:t>
              </a:r>
              <a:r>
                <a:rPr lang="ko-KR" altLang="en-US" sz="12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 요인 추출 및 정량화</a:t>
              </a:r>
              <a:endPara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7D0329EE-E90D-A777-C675-5C6A43C07EB6}"/>
                </a:ext>
              </a:extLst>
            </p:cNvPr>
            <p:cNvSpPr/>
            <p:nvPr/>
          </p:nvSpPr>
          <p:spPr>
            <a:xfrm>
              <a:off x="1946361" y="2061653"/>
              <a:ext cx="2194560" cy="25824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401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</a:t>
              </a:r>
            </a:p>
            <a:p>
              <a:pPr algn="ctr"/>
              <a:endParaRPr lang="en-US" altLang="ko-KR" sz="14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4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4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4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4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4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4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/>
                </a:solidFill>
                <a:latin typeface="Times New Roman" panose="02020603050405020304" pitchFamily="18" charset="0"/>
                <a:ea typeface="Noto Sans KR SemiBold" panose="020B0200000000000000" pitchFamily="50" charset="-127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텍스트 리뷰 데이터</a:t>
              </a:r>
              <a:endPara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</p:txBody>
        </p:sp>
        <p:pic>
          <p:nvPicPr>
            <p:cNvPr id="19" name="그림 18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E48DBF70-6AE8-3086-6B8A-1065C4D214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48075" y="2976581"/>
              <a:ext cx="929589" cy="929589"/>
            </a:xfrm>
            <a:prstGeom prst="rect">
              <a:avLst/>
            </a:prstGeom>
          </p:spPr>
        </p:pic>
        <p:pic>
          <p:nvPicPr>
            <p:cNvPr id="4" name="그림 3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8DBD841-C1B7-5202-F691-9FEA53CB2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552" b="17143"/>
            <a:stretch>
              <a:fillRect/>
            </a:stretch>
          </p:blipFill>
          <p:spPr>
            <a:xfrm>
              <a:off x="5331152" y="3038224"/>
              <a:ext cx="1110596" cy="867948"/>
            </a:xfrm>
            <a:prstGeom prst="rect">
              <a:avLst/>
            </a:prstGeom>
          </p:spPr>
        </p:pic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D649C395-D7B2-AC7E-B69A-0D21D1CB3F6E}"/>
                </a:ext>
              </a:extLst>
            </p:cNvPr>
            <p:cNvCxnSpPr>
              <a:cxnSpLocks/>
              <a:stCxn id="12" idx="3"/>
              <a:endCxn id="10" idx="1"/>
            </p:cNvCxnSpPr>
            <p:nvPr/>
          </p:nvCxnSpPr>
          <p:spPr>
            <a:xfrm flipV="1">
              <a:off x="4140921" y="3350434"/>
              <a:ext cx="648249" cy="2432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78B52B45-2C45-6E05-1942-A1C2348F9E8A}"/>
                </a:ext>
              </a:extLst>
            </p:cNvPr>
            <p:cNvCxnSpPr>
              <a:cxnSpLocks/>
              <a:stCxn id="10" idx="3"/>
              <a:endCxn id="16" idx="1"/>
            </p:cNvCxnSpPr>
            <p:nvPr/>
          </p:nvCxnSpPr>
          <p:spPr>
            <a:xfrm>
              <a:off x="6983730" y="3350434"/>
              <a:ext cx="648249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22" name="그림 21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35B9BCD-367B-5317-39E9-2E2E4B5EF3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055"/>
            <a:stretch>
              <a:fillRect/>
            </a:stretch>
          </p:blipFill>
          <p:spPr>
            <a:xfrm>
              <a:off x="7965732" y="2730918"/>
              <a:ext cx="1530694" cy="1239031"/>
            </a:xfrm>
            <a:prstGeom prst="rect">
              <a:avLst/>
            </a:prstGeom>
          </p:spPr>
        </p:pic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624CBD97-D98C-CEBD-45A0-CB86174EBD85}"/>
              </a:ext>
            </a:extLst>
          </p:cNvPr>
          <p:cNvSpPr txBox="1">
            <a:spLocks/>
          </p:cNvSpPr>
          <p:nvPr/>
        </p:nvSpPr>
        <p:spPr>
          <a:xfrm>
            <a:off x="282863" y="170765"/>
            <a:ext cx="10515600" cy="889938"/>
          </a:xfrm>
          <a:prstGeom prst="rect">
            <a:avLst/>
          </a:prstGeom>
        </p:spPr>
        <p:txBody>
          <a:bodyPr vert="horz" lIns="91440" tIns="45721" rIns="91440" bIns="45721" rtlCol="0" anchor="ctr">
            <a:normAutofit fontScale="900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27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4. </a:t>
            </a:r>
            <a:r>
              <a:rPr lang="ko-KR" altLang="en-US" sz="2700" b="1" spc="-149" dirty="0" err="1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장소성</a:t>
            </a:r>
            <a:r>
              <a:rPr lang="ko-KR" altLang="en-US" sz="27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 정량화 접근 방법</a:t>
            </a:r>
            <a:br>
              <a:rPr lang="en-US" altLang="ko-KR" sz="32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</a:b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53746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FB091-C48A-067B-3F7A-8311A3A09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C281EEDF-FE72-DBA5-3E2D-18E3D92582AA}"/>
              </a:ext>
            </a:extLst>
          </p:cNvPr>
          <p:cNvGrpSpPr/>
          <p:nvPr/>
        </p:nvGrpSpPr>
        <p:grpSpPr>
          <a:xfrm>
            <a:off x="2285476" y="3120537"/>
            <a:ext cx="4062740" cy="287908"/>
            <a:chOff x="1421130" y="2066888"/>
            <a:chExt cx="9781452" cy="287692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3E3F082B-06E4-47CF-1DE4-FD9B2F4D2DE6}"/>
                </a:ext>
              </a:extLst>
            </p:cNvPr>
            <p:cNvSpPr/>
            <p:nvPr/>
          </p:nvSpPr>
          <p:spPr>
            <a:xfrm>
              <a:off x="1421130" y="2066888"/>
              <a:ext cx="9772650" cy="287692"/>
            </a:xfrm>
            <a:custGeom>
              <a:avLst/>
              <a:gdLst>
                <a:gd name="connsiteX0" fmla="*/ 8382000 w 8382000"/>
                <a:gd name="connsiteY0" fmla="*/ 251460 h 251460"/>
                <a:gd name="connsiteX1" fmla="*/ 0 w 8382000"/>
                <a:gd name="connsiteY1" fmla="*/ 251460 h 251460"/>
                <a:gd name="connsiteX2" fmla="*/ 1600200 w 8382000"/>
                <a:gd name="connsiteY2" fmla="*/ 0 h 251460"/>
                <a:gd name="connsiteX3" fmla="*/ 3177540 w 8382000"/>
                <a:gd name="connsiteY3" fmla="*/ 0 h 251460"/>
                <a:gd name="connsiteX4" fmla="*/ 8382000 w 8382000"/>
                <a:gd name="connsiteY4" fmla="*/ 251460 h 251460"/>
                <a:gd name="connsiteX0" fmla="*/ 8382000 w 8382000"/>
                <a:gd name="connsiteY0" fmla="*/ 258604 h 258604"/>
                <a:gd name="connsiteX1" fmla="*/ 0 w 8382000"/>
                <a:gd name="connsiteY1" fmla="*/ 258604 h 258604"/>
                <a:gd name="connsiteX2" fmla="*/ 1414462 w 8382000"/>
                <a:gd name="connsiteY2" fmla="*/ 0 h 258604"/>
                <a:gd name="connsiteX3" fmla="*/ 3177540 w 8382000"/>
                <a:gd name="connsiteY3" fmla="*/ 7144 h 258604"/>
                <a:gd name="connsiteX4" fmla="*/ 8382000 w 8382000"/>
                <a:gd name="connsiteY4" fmla="*/ 258604 h 258604"/>
                <a:gd name="connsiteX0" fmla="*/ 8382000 w 8382000"/>
                <a:gd name="connsiteY0" fmla="*/ 258604 h 258604"/>
                <a:gd name="connsiteX1" fmla="*/ 0 w 8382000"/>
                <a:gd name="connsiteY1" fmla="*/ 258604 h 258604"/>
                <a:gd name="connsiteX2" fmla="*/ 1414462 w 8382000"/>
                <a:gd name="connsiteY2" fmla="*/ 0 h 258604"/>
                <a:gd name="connsiteX3" fmla="*/ 3003708 w 8382000"/>
                <a:gd name="connsiteY3" fmla="*/ 1 h 258604"/>
                <a:gd name="connsiteX4" fmla="*/ 8382000 w 8382000"/>
                <a:gd name="connsiteY4" fmla="*/ 258604 h 258604"/>
                <a:gd name="connsiteX0" fmla="*/ 9772650 w 9772650"/>
                <a:gd name="connsiteY0" fmla="*/ 258604 h 266224"/>
                <a:gd name="connsiteX1" fmla="*/ 0 w 9772650"/>
                <a:gd name="connsiteY1" fmla="*/ 266224 h 266224"/>
                <a:gd name="connsiteX2" fmla="*/ 2805112 w 9772650"/>
                <a:gd name="connsiteY2" fmla="*/ 0 h 266224"/>
                <a:gd name="connsiteX3" fmla="*/ 4394358 w 9772650"/>
                <a:gd name="connsiteY3" fmla="*/ 1 h 266224"/>
                <a:gd name="connsiteX4" fmla="*/ 9772650 w 9772650"/>
                <a:gd name="connsiteY4" fmla="*/ 258604 h 266224"/>
                <a:gd name="csX0" fmla="*/ 9772650 w 9772650"/>
                <a:gd name="csY0" fmla="*/ 268128 h 275748"/>
                <a:gd name="csX1" fmla="*/ 0 w 9772650"/>
                <a:gd name="csY1" fmla="*/ 275748 h 275748"/>
                <a:gd name="csX2" fmla="*/ 2805112 w 9772650"/>
                <a:gd name="csY2" fmla="*/ 9524 h 275748"/>
                <a:gd name="csX3" fmla="*/ 5580221 w 9772650"/>
                <a:gd name="csY3" fmla="*/ 0 h 275748"/>
                <a:gd name="csX4" fmla="*/ 9772650 w 9772650"/>
                <a:gd name="csY4" fmla="*/ 268128 h 275748"/>
                <a:gd name="csX0" fmla="*/ 9772650 w 9772650"/>
                <a:gd name="csY0" fmla="*/ 268129 h 275749"/>
                <a:gd name="csX1" fmla="*/ 0 w 9772650"/>
                <a:gd name="csY1" fmla="*/ 275749 h 275749"/>
                <a:gd name="csX2" fmla="*/ 3962400 w 9772650"/>
                <a:gd name="csY2" fmla="*/ 0 h 275749"/>
                <a:gd name="csX3" fmla="*/ 5580221 w 9772650"/>
                <a:gd name="csY3" fmla="*/ 1 h 275749"/>
                <a:gd name="csX4" fmla="*/ 9772650 w 9772650"/>
                <a:gd name="csY4" fmla="*/ 268129 h 275749"/>
                <a:gd name="csX0" fmla="*/ 9772650 w 9772650"/>
                <a:gd name="csY0" fmla="*/ 268128 h 275748"/>
                <a:gd name="csX1" fmla="*/ 0 w 9772650"/>
                <a:gd name="csY1" fmla="*/ 275748 h 275748"/>
                <a:gd name="csX2" fmla="*/ 4025900 w 9772650"/>
                <a:gd name="csY2" fmla="*/ 6227 h 275748"/>
                <a:gd name="csX3" fmla="*/ 5580221 w 9772650"/>
                <a:gd name="csY3" fmla="*/ 0 h 275748"/>
                <a:gd name="csX4" fmla="*/ 9772650 w 9772650"/>
                <a:gd name="csY4" fmla="*/ 268128 h 275748"/>
                <a:gd name="csX0" fmla="*/ 9772650 w 9772650"/>
                <a:gd name="csY0" fmla="*/ 275602 h 283222"/>
                <a:gd name="csX1" fmla="*/ 0 w 9772650"/>
                <a:gd name="csY1" fmla="*/ 283222 h 283222"/>
                <a:gd name="csX2" fmla="*/ 4025900 w 9772650"/>
                <a:gd name="csY2" fmla="*/ 13701 h 283222"/>
                <a:gd name="csX3" fmla="*/ 5832658 w 9772650"/>
                <a:gd name="csY3" fmla="*/ 0 h 283222"/>
                <a:gd name="csX4" fmla="*/ 9772650 w 9772650"/>
                <a:gd name="csY4" fmla="*/ 275602 h 283222"/>
                <a:gd name="csX0" fmla="*/ 9772650 w 9772650"/>
                <a:gd name="csY0" fmla="*/ 261901 h 269521"/>
                <a:gd name="csX1" fmla="*/ 0 w 9772650"/>
                <a:gd name="csY1" fmla="*/ 269521 h 269521"/>
                <a:gd name="csX2" fmla="*/ 4025900 w 9772650"/>
                <a:gd name="csY2" fmla="*/ 0 h 269521"/>
                <a:gd name="csX3" fmla="*/ 5840197 w 9772650"/>
                <a:gd name="csY3" fmla="*/ 313 h 269521"/>
                <a:gd name="csX4" fmla="*/ 9772650 w 9772650"/>
                <a:gd name="csY4" fmla="*/ 261901 h 269521"/>
                <a:gd name="csX0" fmla="*/ 9772650 w 9772650"/>
                <a:gd name="csY0" fmla="*/ 270931 h 278551"/>
                <a:gd name="csX1" fmla="*/ 0 w 9772650"/>
                <a:gd name="csY1" fmla="*/ 278551 h 278551"/>
                <a:gd name="csX2" fmla="*/ 4025900 w 9772650"/>
                <a:gd name="csY2" fmla="*/ 9030 h 278551"/>
                <a:gd name="csX3" fmla="*/ 5930665 w 9772650"/>
                <a:gd name="csY3" fmla="*/ 0 h 278551"/>
                <a:gd name="csX4" fmla="*/ 9772650 w 9772650"/>
                <a:gd name="csY4" fmla="*/ 270931 h 278551"/>
                <a:gd name="csX0" fmla="*/ 9772650 w 9772650"/>
                <a:gd name="csY0" fmla="*/ 275915 h 283535"/>
                <a:gd name="csX1" fmla="*/ 0 w 9772650"/>
                <a:gd name="csY1" fmla="*/ 283535 h 283535"/>
                <a:gd name="csX2" fmla="*/ 4025901 w 9772650"/>
                <a:gd name="csY2" fmla="*/ 0 h 283535"/>
                <a:gd name="csX3" fmla="*/ 5930665 w 9772650"/>
                <a:gd name="csY3" fmla="*/ 4984 h 283535"/>
                <a:gd name="csX4" fmla="*/ 9772650 w 9772650"/>
                <a:gd name="csY4" fmla="*/ 275915 h 283535"/>
                <a:gd name="csX0" fmla="*/ 9772650 w 9772650"/>
                <a:gd name="csY0" fmla="*/ 275915 h 283535"/>
                <a:gd name="csX1" fmla="*/ 0 w 9772650"/>
                <a:gd name="csY1" fmla="*/ 283535 h 283535"/>
                <a:gd name="csX2" fmla="*/ 670733 w 9772650"/>
                <a:gd name="csY2" fmla="*/ 0 h 283535"/>
                <a:gd name="csX3" fmla="*/ 5930665 w 9772650"/>
                <a:gd name="csY3" fmla="*/ 4984 h 283535"/>
                <a:gd name="csX4" fmla="*/ 9772650 w 9772650"/>
                <a:gd name="csY4" fmla="*/ 275915 h 283535"/>
                <a:gd name="csX0" fmla="*/ 9772650 w 9772650"/>
                <a:gd name="csY0" fmla="*/ 280788 h 288408"/>
                <a:gd name="csX1" fmla="*/ 0 w 9772650"/>
                <a:gd name="csY1" fmla="*/ 288408 h 288408"/>
                <a:gd name="csX2" fmla="*/ 670733 w 9772650"/>
                <a:gd name="csY2" fmla="*/ 4873 h 288408"/>
                <a:gd name="csX3" fmla="*/ 2051640 w 9772650"/>
                <a:gd name="csY3" fmla="*/ 0 h 288408"/>
                <a:gd name="csX4" fmla="*/ 9772650 w 9772650"/>
                <a:gd name="csY4" fmla="*/ 280788 h 288408"/>
                <a:gd name="csX0" fmla="*/ 9772650 w 9772650"/>
                <a:gd name="csY0" fmla="*/ 280788 h 288408"/>
                <a:gd name="csX1" fmla="*/ 0 w 9772650"/>
                <a:gd name="csY1" fmla="*/ 288408 h 288408"/>
                <a:gd name="csX2" fmla="*/ 446094 w 9772650"/>
                <a:gd name="csY2" fmla="*/ 14215 h 288408"/>
                <a:gd name="csX3" fmla="*/ 2051640 w 9772650"/>
                <a:gd name="csY3" fmla="*/ 0 h 288408"/>
                <a:gd name="csX4" fmla="*/ 9772650 w 9772650"/>
                <a:gd name="csY4" fmla="*/ 280788 h 288408"/>
                <a:gd name="csX0" fmla="*/ 9772650 w 9772650"/>
                <a:gd name="csY0" fmla="*/ 274560 h 282180"/>
                <a:gd name="csX1" fmla="*/ 0 w 9772650"/>
                <a:gd name="csY1" fmla="*/ 282180 h 282180"/>
                <a:gd name="csX2" fmla="*/ 446094 w 9772650"/>
                <a:gd name="csY2" fmla="*/ 7987 h 282180"/>
                <a:gd name="csX3" fmla="*/ 5065475 w 9772650"/>
                <a:gd name="csY3" fmla="*/ 0 h 282180"/>
                <a:gd name="csX4" fmla="*/ 9772650 w 9772650"/>
                <a:gd name="csY4" fmla="*/ 274560 h 282180"/>
                <a:gd name="csX0" fmla="*/ 9772650 w 9772650"/>
                <a:gd name="csY0" fmla="*/ 274560 h 282180"/>
                <a:gd name="csX1" fmla="*/ 0 w 9772650"/>
                <a:gd name="csY1" fmla="*/ 282180 h 282180"/>
                <a:gd name="csX2" fmla="*/ 1362583 w 9772650"/>
                <a:gd name="csY2" fmla="*/ 1759 h 282180"/>
                <a:gd name="csX3" fmla="*/ 5065475 w 9772650"/>
                <a:gd name="csY3" fmla="*/ 0 h 282180"/>
                <a:gd name="csX4" fmla="*/ 9772650 w 9772650"/>
                <a:gd name="csY4" fmla="*/ 274560 h 282180"/>
                <a:gd name="csX0" fmla="*/ 9772650 w 9772650"/>
                <a:gd name="csY0" fmla="*/ 274560 h 282180"/>
                <a:gd name="csX1" fmla="*/ 0 w 9772650"/>
                <a:gd name="csY1" fmla="*/ 282180 h 282180"/>
                <a:gd name="csX2" fmla="*/ 1362583 w 9772650"/>
                <a:gd name="csY2" fmla="*/ 1759 h 282180"/>
                <a:gd name="csX3" fmla="*/ 4189875 w 9772650"/>
                <a:gd name="csY3" fmla="*/ 0 h 282180"/>
                <a:gd name="csX4" fmla="*/ 9772650 w 9772650"/>
                <a:gd name="csY4" fmla="*/ 274560 h 2821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772650" h="282180">
                  <a:moveTo>
                    <a:pt x="9772650" y="274560"/>
                  </a:moveTo>
                  <a:lnTo>
                    <a:pt x="0" y="282180"/>
                  </a:lnTo>
                  <a:lnTo>
                    <a:pt x="1362583" y="1759"/>
                  </a:lnTo>
                  <a:lnTo>
                    <a:pt x="4189875" y="0"/>
                  </a:lnTo>
                  <a:lnTo>
                    <a:pt x="9772650" y="274560"/>
                  </a:lnTo>
                  <a:close/>
                </a:path>
              </a:pathLst>
            </a:custGeom>
            <a:grpFill/>
            <a:ln w="9525">
              <a:solidFill>
                <a:srgbClr val="C1DAF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81ECEB4F-E264-F1A2-1D00-2EF3C53A7462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 flipH="1">
              <a:off x="1432494" y="2068682"/>
              <a:ext cx="1351220" cy="285754"/>
            </a:xfrm>
            <a:prstGeom prst="line">
              <a:avLst/>
            </a:prstGeom>
            <a:grpFill/>
            <a:ln>
              <a:solidFill>
                <a:srgbClr val="C1DAF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EEB585A1-5A4C-FE9F-A667-FF7CF1EAACB5}"/>
                </a:ext>
              </a:extLst>
            </p:cNvPr>
            <p:cNvCxnSpPr>
              <a:cxnSpLocks/>
              <a:stCxn id="4" idx="3"/>
            </p:cNvCxnSpPr>
            <p:nvPr/>
          </p:nvCxnSpPr>
          <p:spPr>
            <a:xfrm>
              <a:off x="5611005" y="2066888"/>
              <a:ext cx="5591577" cy="281398"/>
            </a:xfrm>
            <a:prstGeom prst="line">
              <a:avLst/>
            </a:prstGeom>
            <a:grpFill/>
            <a:ln w="12700">
              <a:solidFill>
                <a:srgbClr val="C1DAF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E9C5DF8-A064-94E4-C597-08C0A2EA9991}"/>
              </a:ext>
            </a:extLst>
          </p:cNvPr>
          <p:cNvSpPr/>
          <p:nvPr/>
        </p:nvSpPr>
        <p:spPr>
          <a:xfrm>
            <a:off x="7971723" y="627504"/>
            <a:ext cx="2194560" cy="248970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401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200" dirty="0" err="1">
                <a:solidFill>
                  <a:schemeClr val="bg2">
                    <a:lumMod val="2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장소성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 점수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9280AF4-9FBC-259C-CD09-1E03995B6564}"/>
              </a:ext>
            </a:extLst>
          </p:cNvPr>
          <p:cNvSpPr/>
          <p:nvPr/>
        </p:nvSpPr>
        <p:spPr>
          <a:xfrm>
            <a:off x="5130511" y="627504"/>
            <a:ext cx="2194560" cy="2489701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401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Placeness</a:t>
            </a:r>
          </a:p>
          <a:p>
            <a:pPr algn="ctr"/>
            <a:r>
              <a:rPr lang="en-US" altLang="ko-KR" sz="1401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Quantification System</a:t>
            </a:r>
            <a:endParaRPr lang="en-US" altLang="ko-KR" sz="140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200" dirty="0" err="1">
                <a:solidFill>
                  <a:schemeClr val="bg2">
                    <a:lumMod val="2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장소성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 요인 추출 및 정량화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9A80F39-1E34-5B96-6DD8-410D9015C40D}"/>
              </a:ext>
            </a:extLst>
          </p:cNvPr>
          <p:cNvSpPr/>
          <p:nvPr/>
        </p:nvSpPr>
        <p:spPr>
          <a:xfrm>
            <a:off x="2286105" y="632369"/>
            <a:ext cx="2194560" cy="2489701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40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en-US" altLang="ko-KR" sz="140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Times New Roman" panose="02020603050405020304" pitchFamily="18" charset="0"/>
              <a:ea typeface="Noto Sans KR SemiBold" panose="020B0200000000000000" pitchFamily="50" charset="-127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텍스트 리뷰 데이터</a:t>
            </a:r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50" charset="-127"/>
            </a:endParaRPr>
          </a:p>
        </p:txBody>
      </p:sp>
      <p:pic>
        <p:nvPicPr>
          <p:cNvPr id="38" name="그림 37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637C05-B7CE-54EE-9A03-33969250457E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7819" y="1454573"/>
            <a:ext cx="929589" cy="929589"/>
          </a:xfrm>
          <a:prstGeom prst="rect">
            <a:avLst/>
          </a:prstGeom>
        </p:spPr>
      </p:pic>
      <p:pic>
        <p:nvPicPr>
          <p:cNvPr id="39" name="그림 38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D9DB7B-C685-B49C-2644-E324E4168C0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2" b="17143"/>
          <a:stretch>
            <a:fillRect/>
          </a:stretch>
        </p:blipFill>
        <p:spPr>
          <a:xfrm>
            <a:off x="5670896" y="1516216"/>
            <a:ext cx="1110596" cy="867948"/>
          </a:xfrm>
          <a:prstGeom prst="rect">
            <a:avLst/>
          </a:prstGeom>
        </p:spPr>
      </p:pic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A6C433C1-7620-BB94-9FB4-688A284665E7}"/>
              </a:ext>
            </a:extLst>
          </p:cNvPr>
          <p:cNvCxnSpPr>
            <a:cxnSpLocks/>
            <a:stCxn id="36" idx="3"/>
            <a:endCxn id="23" idx="1"/>
          </p:cNvCxnSpPr>
          <p:nvPr/>
        </p:nvCxnSpPr>
        <p:spPr>
          <a:xfrm flipV="1">
            <a:off x="4480665" y="1872355"/>
            <a:ext cx="649846" cy="486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191CC4FB-87FF-F333-8015-CF711DF734B1}"/>
              </a:ext>
            </a:extLst>
          </p:cNvPr>
          <p:cNvCxnSpPr>
            <a:cxnSpLocks/>
            <a:stCxn id="23" idx="3"/>
            <a:endCxn id="2" idx="1"/>
          </p:cNvCxnSpPr>
          <p:nvPr/>
        </p:nvCxnSpPr>
        <p:spPr>
          <a:xfrm>
            <a:off x="7325071" y="1872355"/>
            <a:ext cx="64665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5" name="그림 44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0CC17B2-0780-099A-5739-B86B3B0BE28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055"/>
          <a:stretch>
            <a:fillRect/>
          </a:stretch>
        </p:blipFill>
        <p:spPr>
          <a:xfrm>
            <a:off x="8292606" y="1251403"/>
            <a:ext cx="1552793" cy="1256919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B19445F-8BFE-33E3-2D20-BA885693BA30}"/>
              </a:ext>
            </a:extLst>
          </p:cNvPr>
          <p:cNvSpPr/>
          <p:nvPr/>
        </p:nvSpPr>
        <p:spPr>
          <a:xfrm>
            <a:off x="2286105" y="3402146"/>
            <a:ext cx="4058455" cy="259470"/>
          </a:xfrm>
          <a:prstGeom prst="roundRect">
            <a:avLst>
              <a:gd name="adj" fmla="val 0"/>
            </a:avLst>
          </a:prstGeom>
          <a:solidFill>
            <a:schemeClr val="tx2">
              <a:lumMod val="25000"/>
              <a:lumOff val="75000"/>
              <a:alpha val="73000"/>
            </a:schemeClr>
          </a:solidFill>
          <a:ln w="1270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Input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093401D-1949-4B4A-378D-5BD5EE54927A}"/>
              </a:ext>
            </a:extLst>
          </p:cNvPr>
          <p:cNvSpPr/>
          <p:nvPr/>
        </p:nvSpPr>
        <p:spPr>
          <a:xfrm>
            <a:off x="2285476" y="3661616"/>
            <a:ext cx="4062740" cy="3183523"/>
          </a:xfrm>
          <a:prstGeom prst="rect">
            <a:avLst/>
          </a:prstGeom>
          <a:noFill/>
          <a:ln w="6350" cap="flat" cmpd="sng" algn="ctr">
            <a:solidFill>
              <a:schemeClr val="tx2">
                <a:lumMod val="25000"/>
                <a:lumOff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428AEF1-9831-A5FA-3314-38076797E88E}"/>
              </a:ext>
            </a:extLst>
          </p:cNvPr>
          <p:cNvSpPr/>
          <p:nvPr/>
        </p:nvSpPr>
        <p:spPr>
          <a:xfrm>
            <a:off x="2418719" y="3752302"/>
            <a:ext cx="3790996" cy="1920266"/>
          </a:xfrm>
          <a:prstGeom prst="rect">
            <a:avLst/>
          </a:prstGeom>
          <a:noFill/>
          <a:ln w="6350" cap="flat" cmpd="sng" algn="ctr">
            <a:solidFill>
              <a:schemeClr val="tx2">
                <a:lumMod val="25000"/>
                <a:lumOff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66220E-D98A-706D-11AC-D073A9F0882C}"/>
              </a:ext>
            </a:extLst>
          </p:cNvPr>
          <p:cNvSpPr txBox="1"/>
          <p:nvPr/>
        </p:nvSpPr>
        <p:spPr>
          <a:xfrm>
            <a:off x="2475755" y="3806863"/>
            <a:ext cx="3733960" cy="1865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05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지도 기반 웹 서비스에 사용자가 작성한 텍스트 리뷰 데이터</a:t>
            </a:r>
            <a:endParaRPr lang="en-US" altLang="ko-KR" sz="1050" b="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공간 이용 경험 및 인식에 대한 자연어 서술</a:t>
            </a:r>
            <a:endParaRPr lang="en-US" altLang="ko-KR" sz="1050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10000"/>
              </a:lnSpc>
              <a:buFontTx/>
              <a:buChar char="-"/>
            </a:pP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서울시 상업시설 중 커피 전문점을 대상으로 행정구별 각 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100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개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, 25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개 구 총 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2,500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군데 무작위 선정</a:t>
            </a:r>
            <a:endParaRPr lang="en-US" altLang="ko-KR" sz="1050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10000"/>
              </a:lnSpc>
              <a:buFontTx/>
              <a:buChar char="-"/>
            </a:pP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2,500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개 중 리뷰가 존재하지 않는 장소를 제외한 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1,799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개 시설을 리뷰 분석 대상으로 선정</a:t>
            </a:r>
            <a:endParaRPr lang="en-US" altLang="ko-KR" sz="1050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10000"/>
              </a:lnSpc>
              <a:buFontTx/>
              <a:buChar char="-"/>
            </a:pP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본 연구에서는 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Google Maps 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리뷰를 크롤링하여 활용</a:t>
            </a:r>
            <a:endParaRPr lang="en-US" altLang="ko-KR" sz="1050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10000"/>
              </a:lnSpc>
              <a:buFontTx/>
              <a:buChar char="-"/>
            </a:pP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장소와 관련 없는 리뷰를 제외하고 실내 공간 환경 특성을 포함하는 리뷰를 필터링하여 총 약 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34,000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개의 텍스트 리뷰 수집</a:t>
            </a:r>
            <a:endParaRPr lang="en-US" altLang="ko-KR" sz="1050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10000"/>
              </a:lnSpc>
              <a:buFontTx/>
              <a:buChar char="-"/>
            </a:pP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시설별 최대 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100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개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평균 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19.3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개 리뷰</a:t>
            </a:r>
            <a:endParaRPr lang="en-US" altLang="ko-KR" sz="1050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378DAA7-1575-48B4-ADAF-FFB6020C3E4C}"/>
              </a:ext>
            </a:extLst>
          </p:cNvPr>
          <p:cNvSpPr/>
          <p:nvPr/>
        </p:nvSpPr>
        <p:spPr>
          <a:xfrm>
            <a:off x="2418719" y="5995165"/>
            <a:ext cx="3790995" cy="748859"/>
          </a:xfrm>
          <a:prstGeom prst="rect">
            <a:avLst/>
          </a:prstGeom>
          <a:noFill/>
          <a:ln w="6350" cap="flat" cmpd="sng" algn="ctr">
            <a:solidFill>
              <a:schemeClr val="tx2">
                <a:lumMod val="25000"/>
                <a:lumOff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0747BA-A1EC-6657-8BEC-59641CEF60EA}"/>
              </a:ext>
            </a:extLst>
          </p:cNvPr>
          <p:cNvSpPr txBox="1"/>
          <p:nvPr/>
        </p:nvSpPr>
        <p:spPr>
          <a:xfrm>
            <a:off x="2418719" y="5721196"/>
            <a:ext cx="42832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나눔스퀘어OTF" panose="020B0600000101010101" pitchFamily="34" charset="-127"/>
                <a:ea typeface="나눔스퀘어OTF" panose="020B0600000101010101" pitchFamily="34" charset="-127"/>
                <a:cs typeface="Pretendard" panose="02000503000000020004" pitchFamily="50" charset="-127"/>
              </a:rPr>
              <a:t>예시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8146F2-76A7-F5E1-2FE4-89961B9A1B30}"/>
              </a:ext>
            </a:extLst>
          </p:cNvPr>
          <p:cNvSpPr txBox="1"/>
          <p:nvPr/>
        </p:nvSpPr>
        <p:spPr>
          <a:xfrm>
            <a:off x="2724283" y="6073489"/>
            <a:ext cx="294598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Arial" panose="020B0604020202020204" pitchFamily="34" charset="0"/>
              </a:rPr>
              <a:t>“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Arial" panose="020B0604020202020204" pitchFamily="34" charset="0"/>
              </a:rPr>
              <a:t>카페가 </a:t>
            </a:r>
            <a:r>
              <a:rPr lang="ko-KR" altLang="en-US" sz="1050" dirty="0">
                <a:highlight>
                  <a:srgbClr val="FBD185"/>
                </a:highlight>
                <a:latin typeface="나눔바른고딕" panose="020B0603020101020101" pitchFamily="50" charset="-127"/>
                <a:ea typeface="나눔바른고딕" panose="020B0603020101020101" pitchFamily="50" charset="-127"/>
                <a:cs typeface="Arial" panose="020B0604020202020204" pitchFamily="34" charset="0"/>
              </a:rPr>
              <a:t>역에서 멀긴 한데</a:t>
            </a:r>
            <a:r>
              <a:rPr lang="ko-KR" altLang="en-US" sz="1050" dirty="0">
                <a:highlight>
                  <a:srgbClr val="FFFFFF"/>
                </a:highlight>
                <a:latin typeface="나눔바른고딕" panose="020B0603020101020101" pitchFamily="50" charset="-127"/>
                <a:ea typeface="나눔바른고딕" panose="020B060302010102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1050" dirty="0">
                <a:highlight>
                  <a:srgbClr val="A2DFF8"/>
                </a:highlight>
                <a:latin typeface="나눔바른고딕" panose="020B0603020101020101" pitchFamily="50" charset="-127"/>
                <a:ea typeface="나눔바른고딕" panose="020B0603020101020101" pitchFamily="50" charset="-127"/>
                <a:cs typeface="Arial" panose="020B0604020202020204" pitchFamily="34" charset="0"/>
              </a:rPr>
              <a:t>인테리어가 예뻐서 좋음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1050" dirty="0">
                <a:highlight>
                  <a:srgbClr val="CCFFCC"/>
                </a:highlight>
                <a:latin typeface="나눔바른고딕" panose="020B0603020101020101" pitchFamily="50" charset="-127"/>
                <a:ea typeface="나눔바른고딕" panose="020B0603020101020101" pitchFamily="50" charset="-127"/>
                <a:cs typeface="Arial" panose="020B0604020202020204" pitchFamily="34" charset="0"/>
              </a:rPr>
              <a:t>사장님도 친절하시고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1050" dirty="0">
                <a:highlight>
                  <a:srgbClr val="E7EAED"/>
                </a:highlight>
                <a:latin typeface="나눔바른고딕" panose="020B0603020101020101" pitchFamily="50" charset="-127"/>
                <a:ea typeface="나눔바른고딕" panose="020B0603020101020101" pitchFamily="50" charset="-127"/>
                <a:cs typeface="Arial" panose="020B0604020202020204" pitchFamily="34" charset="0"/>
              </a:rPr>
              <a:t>자주 오게 될 듯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Arial" panose="020B0604020202020204" pitchFamily="34" charset="0"/>
              </a:rPr>
              <a:t>”</a:t>
            </a:r>
            <a:endParaRPr lang="ko-KR" altLang="en-US" sz="1050" dirty="0">
              <a:latin typeface="나눔바른고딕" panose="020B0603020101020101" pitchFamily="50" charset="-127"/>
              <a:ea typeface="나눔바른고딕" panose="020B0603020101020101" pitchFamily="50" charset="-127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309DFD-22B3-CA11-4E6D-DFEB3B3BCFE8}"/>
              </a:ext>
            </a:extLst>
          </p:cNvPr>
          <p:cNvSpPr txBox="1"/>
          <p:nvPr/>
        </p:nvSpPr>
        <p:spPr>
          <a:xfrm>
            <a:off x="4022092" y="6485105"/>
            <a:ext cx="400238" cy="24939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ko-KR" sz="1401" dirty="0"/>
              <a:t>…</a:t>
            </a:r>
            <a:endParaRPr lang="ko-KR" altLang="en-US" sz="1401" dirty="0"/>
          </a:p>
        </p:txBody>
      </p:sp>
    </p:spTree>
    <p:extLst>
      <p:ext uri="{BB962C8B-B14F-4D97-AF65-F5344CB8AC3E}">
        <p14:creationId xmlns:p14="http://schemas.microsoft.com/office/powerpoint/2010/main" val="2804079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496A9-6F3D-E46E-C283-A9E6686DB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9D2AFF8E-84F6-2560-4E84-395930AF03DD}"/>
              </a:ext>
            </a:extLst>
          </p:cNvPr>
          <p:cNvGrpSpPr/>
          <p:nvPr/>
        </p:nvGrpSpPr>
        <p:grpSpPr>
          <a:xfrm>
            <a:off x="6001792" y="3127128"/>
            <a:ext cx="4160118" cy="294043"/>
            <a:chOff x="1421130" y="2060536"/>
            <a:chExt cx="9781452" cy="294043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5AA5F9FB-986E-8F7A-AEEC-B5C8C7900F71}"/>
                </a:ext>
              </a:extLst>
            </p:cNvPr>
            <p:cNvSpPr/>
            <p:nvPr/>
          </p:nvSpPr>
          <p:spPr>
            <a:xfrm>
              <a:off x="1421130" y="2060536"/>
              <a:ext cx="9772649" cy="294043"/>
            </a:xfrm>
            <a:custGeom>
              <a:avLst/>
              <a:gdLst>
                <a:gd name="connsiteX0" fmla="*/ 8382000 w 8382000"/>
                <a:gd name="connsiteY0" fmla="*/ 251460 h 251460"/>
                <a:gd name="connsiteX1" fmla="*/ 0 w 8382000"/>
                <a:gd name="connsiteY1" fmla="*/ 251460 h 251460"/>
                <a:gd name="connsiteX2" fmla="*/ 1600200 w 8382000"/>
                <a:gd name="connsiteY2" fmla="*/ 0 h 251460"/>
                <a:gd name="connsiteX3" fmla="*/ 3177540 w 8382000"/>
                <a:gd name="connsiteY3" fmla="*/ 0 h 251460"/>
                <a:gd name="connsiteX4" fmla="*/ 8382000 w 8382000"/>
                <a:gd name="connsiteY4" fmla="*/ 251460 h 251460"/>
                <a:gd name="connsiteX0" fmla="*/ 8382000 w 8382000"/>
                <a:gd name="connsiteY0" fmla="*/ 258604 h 258604"/>
                <a:gd name="connsiteX1" fmla="*/ 0 w 8382000"/>
                <a:gd name="connsiteY1" fmla="*/ 258604 h 258604"/>
                <a:gd name="connsiteX2" fmla="*/ 1414462 w 8382000"/>
                <a:gd name="connsiteY2" fmla="*/ 0 h 258604"/>
                <a:gd name="connsiteX3" fmla="*/ 3177540 w 8382000"/>
                <a:gd name="connsiteY3" fmla="*/ 7144 h 258604"/>
                <a:gd name="connsiteX4" fmla="*/ 8382000 w 8382000"/>
                <a:gd name="connsiteY4" fmla="*/ 258604 h 258604"/>
                <a:gd name="connsiteX0" fmla="*/ 8382000 w 8382000"/>
                <a:gd name="connsiteY0" fmla="*/ 258604 h 258604"/>
                <a:gd name="connsiteX1" fmla="*/ 0 w 8382000"/>
                <a:gd name="connsiteY1" fmla="*/ 258604 h 258604"/>
                <a:gd name="connsiteX2" fmla="*/ 1414462 w 8382000"/>
                <a:gd name="connsiteY2" fmla="*/ 0 h 258604"/>
                <a:gd name="connsiteX3" fmla="*/ 3003708 w 8382000"/>
                <a:gd name="connsiteY3" fmla="*/ 1 h 258604"/>
                <a:gd name="connsiteX4" fmla="*/ 8382000 w 8382000"/>
                <a:gd name="connsiteY4" fmla="*/ 258604 h 258604"/>
                <a:gd name="connsiteX0" fmla="*/ 9772650 w 9772650"/>
                <a:gd name="connsiteY0" fmla="*/ 258604 h 266224"/>
                <a:gd name="connsiteX1" fmla="*/ 0 w 9772650"/>
                <a:gd name="connsiteY1" fmla="*/ 266224 h 266224"/>
                <a:gd name="connsiteX2" fmla="*/ 2805112 w 9772650"/>
                <a:gd name="connsiteY2" fmla="*/ 0 h 266224"/>
                <a:gd name="connsiteX3" fmla="*/ 4394358 w 9772650"/>
                <a:gd name="connsiteY3" fmla="*/ 1 h 266224"/>
                <a:gd name="connsiteX4" fmla="*/ 9772650 w 9772650"/>
                <a:gd name="connsiteY4" fmla="*/ 258604 h 266224"/>
                <a:gd name="csX0" fmla="*/ 9772650 w 9772650"/>
                <a:gd name="csY0" fmla="*/ 268128 h 275748"/>
                <a:gd name="csX1" fmla="*/ 0 w 9772650"/>
                <a:gd name="csY1" fmla="*/ 275748 h 275748"/>
                <a:gd name="csX2" fmla="*/ 2805112 w 9772650"/>
                <a:gd name="csY2" fmla="*/ 9524 h 275748"/>
                <a:gd name="csX3" fmla="*/ 5580221 w 9772650"/>
                <a:gd name="csY3" fmla="*/ 0 h 275748"/>
                <a:gd name="csX4" fmla="*/ 9772650 w 9772650"/>
                <a:gd name="csY4" fmla="*/ 268128 h 275748"/>
                <a:gd name="csX0" fmla="*/ 9772650 w 9772650"/>
                <a:gd name="csY0" fmla="*/ 268129 h 275749"/>
                <a:gd name="csX1" fmla="*/ 0 w 9772650"/>
                <a:gd name="csY1" fmla="*/ 275749 h 275749"/>
                <a:gd name="csX2" fmla="*/ 3962400 w 9772650"/>
                <a:gd name="csY2" fmla="*/ 0 h 275749"/>
                <a:gd name="csX3" fmla="*/ 5580221 w 9772650"/>
                <a:gd name="csY3" fmla="*/ 1 h 275749"/>
                <a:gd name="csX4" fmla="*/ 9772650 w 9772650"/>
                <a:gd name="csY4" fmla="*/ 268129 h 275749"/>
                <a:gd name="csX0" fmla="*/ 9772650 w 9772650"/>
                <a:gd name="csY0" fmla="*/ 268128 h 275748"/>
                <a:gd name="csX1" fmla="*/ 0 w 9772650"/>
                <a:gd name="csY1" fmla="*/ 275748 h 275748"/>
                <a:gd name="csX2" fmla="*/ 4025900 w 9772650"/>
                <a:gd name="csY2" fmla="*/ 6227 h 275748"/>
                <a:gd name="csX3" fmla="*/ 5580221 w 9772650"/>
                <a:gd name="csY3" fmla="*/ 0 h 275748"/>
                <a:gd name="csX4" fmla="*/ 9772650 w 9772650"/>
                <a:gd name="csY4" fmla="*/ 268128 h 275748"/>
                <a:gd name="csX0" fmla="*/ 9772650 w 9772650"/>
                <a:gd name="csY0" fmla="*/ 275602 h 283222"/>
                <a:gd name="csX1" fmla="*/ 0 w 9772650"/>
                <a:gd name="csY1" fmla="*/ 283222 h 283222"/>
                <a:gd name="csX2" fmla="*/ 4025900 w 9772650"/>
                <a:gd name="csY2" fmla="*/ 13701 h 283222"/>
                <a:gd name="csX3" fmla="*/ 5832658 w 9772650"/>
                <a:gd name="csY3" fmla="*/ 0 h 283222"/>
                <a:gd name="csX4" fmla="*/ 9772650 w 9772650"/>
                <a:gd name="csY4" fmla="*/ 275602 h 283222"/>
                <a:gd name="csX0" fmla="*/ 9772650 w 9772650"/>
                <a:gd name="csY0" fmla="*/ 261901 h 269521"/>
                <a:gd name="csX1" fmla="*/ 0 w 9772650"/>
                <a:gd name="csY1" fmla="*/ 269521 h 269521"/>
                <a:gd name="csX2" fmla="*/ 4025900 w 9772650"/>
                <a:gd name="csY2" fmla="*/ 0 h 269521"/>
                <a:gd name="csX3" fmla="*/ 5840197 w 9772650"/>
                <a:gd name="csY3" fmla="*/ 313 h 269521"/>
                <a:gd name="csX4" fmla="*/ 9772650 w 9772650"/>
                <a:gd name="csY4" fmla="*/ 261901 h 269521"/>
                <a:gd name="csX0" fmla="*/ 9772650 w 9772650"/>
                <a:gd name="csY0" fmla="*/ 270931 h 278551"/>
                <a:gd name="csX1" fmla="*/ 0 w 9772650"/>
                <a:gd name="csY1" fmla="*/ 278551 h 278551"/>
                <a:gd name="csX2" fmla="*/ 4025900 w 9772650"/>
                <a:gd name="csY2" fmla="*/ 9030 h 278551"/>
                <a:gd name="csX3" fmla="*/ 5930665 w 9772650"/>
                <a:gd name="csY3" fmla="*/ 0 h 278551"/>
                <a:gd name="csX4" fmla="*/ 9772650 w 9772650"/>
                <a:gd name="csY4" fmla="*/ 270931 h 278551"/>
                <a:gd name="csX0" fmla="*/ 9772650 w 9772650"/>
                <a:gd name="csY0" fmla="*/ 275915 h 283535"/>
                <a:gd name="csX1" fmla="*/ 0 w 9772650"/>
                <a:gd name="csY1" fmla="*/ 283535 h 283535"/>
                <a:gd name="csX2" fmla="*/ 4025901 w 9772650"/>
                <a:gd name="csY2" fmla="*/ 0 h 283535"/>
                <a:gd name="csX3" fmla="*/ 5930665 w 9772650"/>
                <a:gd name="csY3" fmla="*/ 4984 h 283535"/>
                <a:gd name="csX4" fmla="*/ 9772650 w 9772650"/>
                <a:gd name="csY4" fmla="*/ 275915 h 283535"/>
                <a:gd name="csX0" fmla="*/ 9772650 w 9772650"/>
                <a:gd name="csY0" fmla="*/ 275915 h 283535"/>
                <a:gd name="csX1" fmla="*/ 0 w 9772650"/>
                <a:gd name="csY1" fmla="*/ 283535 h 283535"/>
                <a:gd name="csX2" fmla="*/ 670733 w 9772650"/>
                <a:gd name="csY2" fmla="*/ 0 h 283535"/>
                <a:gd name="csX3" fmla="*/ 5930665 w 9772650"/>
                <a:gd name="csY3" fmla="*/ 4984 h 283535"/>
                <a:gd name="csX4" fmla="*/ 9772650 w 9772650"/>
                <a:gd name="csY4" fmla="*/ 275915 h 283535"/>
                <a:gd name="csX0" fmla="*/ 9772650 w 9772650"/>
                <a:gd name="csY0" fmla="*/ 280788 h 288408"/>
                <a:gd name="csX1" fmla="*/ 0 w 9772650"/>
                <a:gd name="csY1" fmla="*/ 288408 h 288408"/>
                <a:gd name="csX2" fmla="*/ 670733 w 9772650"/>
                <a:gd name="csY2" fmla="*/ 4873 h 288408"/>
                <a:gd name="csX3" fmla="*/ 2051640 w 9772650"/>
                <a:gd name="csY3" fmla="*/ 0 h 288408"/>
                <a:gd name="csX4" fmla="*/ 9772650 w 9772650"/>
                <a:gd name="csY4" fmla="*/ 280788 h 288408"/>
                <a:gd name="csX0" fmla="*/ 9772650 w 9772650"/>
                <a:gd name="csY0" fmla="*/ 275915 h 283535"/>
                <a:gd name="csX1" fmla="*/ 0 w 9772650"/>
                <a:gd name="csY1" fmla="*/ 283535 h 283535"/>
                <a:gd name="csX2" fmla="*/ 670733 w 9772650"/>
                <a:gd name="csY2" fmla="*/ 0 h 283535"/>
                <a:gd name="csX3" fmla="*/ 9393800 w 9772650"/>
                <a:gd name="csY3" fmla="*/ 4469 h 283535"/>
                <a:gd name="csX4" fmla="*/ 9772650 w 9772650"/>
                <a:gd name="csY4" fmla="*/ 275915 h 283535"/>
                <a:gd name="csX0" fmla="*/ 9772650 w 9772650"/>
                <a:gd name="csY0" fmla="*/ 275915 h 283535"/>
                <a:gd name="csX1" fmla="*/ 0 w 9772650"/>
                <a:gd name="csY1" fmla="*/ 283535 h 283535"/>
                <a:gd name="csX2" fmla="*/ 7788253 w 9772650"/>
                <a:gd name="csY2" fmla="*/ 0 h 283535"/>
                <a:gd name="csX3" fmla="*/ 9393800 w 9772650"/>
                <a:gd name="csY3" fmla="*/ 4469 h 283535"/>
                <a:gd name="csX4" fmla="*/ 9772650 w 9772650"/>
                <a:gd name="csY4" fmla="*/ 275915 h 283535"/>
                <a:gd name="csX0" fmla="*/ 9772650 w 9772650"/>
                <a:gd name="csY0" fmla="*/ 275915 h 283535"/>
                <a:gd name="csX1" fmla="*/ 0 w 9772650"/>
                <a:gd name="csY1" fmla="*/ 283535 h 283535"/>
                <a:gd name="csX2" fmla="*/ 5371614 w 9772650"/>
                <a:gd name="csY2" fmla="*/ 0 h 283535"/>
                <a:gd name="csX3" fmla="*/ 9393800 w 9772650"/>
                <a:gd name="csY3" fmla="*/ 4469 h 283535"/>
                <a:gd name="csX4" fmla="*/ 9772650 w 9772650"/>
                <a:gd name="csY4" fmla="*/ 275915 h 283535"/>
                <a:gd name="csX0" fmla="*/ 9772650 w 9772650"/>
                <a:gd name="csY0" fmla="*/ 275915 h 283535"/>
                <a:gd name="csX1" fmla="*/ 0 w 9772650"/>
                <a:gd name="csY1" fmla="*/ 283535 h 283535"/>
                <a:gd name="csX2" fmla="*/ 5371614 w 9772650"/>
                <a:gd name="csY2" fmla="*/ 0 h 283535"/>
                <a:gd name="csX3" fmla="*/ 8278428 w 9772650"/>
                <a:gd name="csY3" fmla="*/ 13811 h 283535"/>
                <a:gd name="csX4" fmla="*/ 9772650 w 9772650"/>
                <a:gd name="csY4" fmla="*/ 275915 h 283535"/>
                <a:gd name="csX0" fmla="*/ 9772650 w 9772650"/>
                <a:gd name="csY0" fmla="*/ 280789 h 288409"/>
                <a:gd name="csX1" fmla="*/ 0 w 9772650"/>
                <a:gd name="csY1" fmla="*/ 288409 h 288409"/>
                <a:gd name="csX2" fmla="*/ 5371614 w 9772650"/>
                <a:gd name="csY2" fmla="*/ 4874 h 288409"/>
                <a:gd name="csX3" fmla="*/ 8331541 w 9772650"/>
                <a:gd name="csY3" fmla="*/ 0 h 288409"/>
                <a:gd name="csX4" fmla="*/ 9772650 w 9772650"/>
                <a:gd name="csY4" fmla="*/ 280789 h 288409"/>
                <a:gd name="csX0" fmla="*/ 9772650 w 9772650"/>
                <a:gd name="csY0" fmla="*/ 280789 h 288409"/>
                <a:gd name="csX1" fmla="*/ 0 w 9772650"/>
                <a:gd name="csY1" fmla="*/ 288409 h 288409"/>
                <a:gd name="csX2" fmla="*/ 5371614 w 9772650"/>
                <a:gd name="csY2" fmla="*/ 4874 h 288409"/>
                <a:gd name="csX3" fmla="*/ 8852063 w 9772650"/>
                <a:gd name="csY3" fmla="*/ 0 h 288409"/>
                <a:gd name="csX4" fmla="*/ 9772650 w 9772650"/>
                <a:gd name="csY4" fmla="*/ 280789 h 2884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772650" h="288409">
                  <a:moveTo>
                    <a:pt x="9772650" y="280789"/>
                  </a:moveTo>
                  <a:lnTo>
                    <a:pt x="0" y="288409"/>
                  </a:lnTo>
                  <a:lnTo>
                    <a:pt x="5371614" y="4874"/>
                  </a:lnTo>
                  <a:lnTo>
                    <a:pt x="8852063" y="0"/>
                  </a:lnTo>
                  <a:lnTo>
                    <a:pt x="9772650" y="280789"/>
                  </a:lnTo>
                  <a:close/>
                </a:path>
              </a:pathLst>
            </a:custGeom>
            <a:grpFill/>
            <a:ln w="9525">
              <a:solidFill>
                <a:srgbClr val="C1DAF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230F967E-2EA5-A393-8E63-6409D9649CF3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 flipH="1">
              <a:off x="1432494" y="2065505"/>
              <a:ext cx="5360251" cy="288931"/>
            </a:xfrm>
            <a:prstGeom prst="line">
              <a:avLst/>
            </a:prstGeom>
            <a:grpFill/>
            <a:ln>
              <a:solidFill>
                <a:srgbClr val="C1DAF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13E78C1C-91CA-D769-AA94-778173B9185E}"/>
                </a:ext>
              </a:extLst>
            </p:cNvPr>
            <p:cNvCxnSpPr>
              <a:cxnSpLocks/>
            </p:cNvCxnSpPr>
            <p:nvPr/>
          </p:nvCxnSpPr>
          <p:spPr>
            <a:xfrm>
              <a:off x="10248830" y="2063555"/>
              <a:ext cx="953752" cy="284731"/>
            </a:xfrm>
            <a:prstGeom prst="line">
              <a:avLst/>
            </a:prstGeom>
            <a:grpFill/>
            <a:ln w="12700">
              <a:solidFill>
                <a:srgbClr val="C1DAF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C8873B9-9DE2-A990-6D80-C117BFF9AEB0}"/>
              </a:ext>
            </a:extLst>
          </p:cNvPr>
          <p:cNvSpPr/>
          <p:nvPr/>
        </p:nvSpPr>
        <p:spPr>
          <a:xfrm>
            <a:off x="7967350" y="628778"/>
            <a:ext cx="2194560" cy="2489701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40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algn="ctr"/>
            <a:endParaRPr lang="en-US" altLang="ko-K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장소성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 점수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CEA33D0-9413-1DC7-4922-657D2DA501B8}"/>
              </a:ext>
            </a:extLst>
          </p:cNvPr>
          <p:cNvSpPr/>
          <p:nvPr/>
        </p:nvSpPr>
        <p:spPr>
          <a:xfrm>
            <a:off x="5126138" y="628778"/>
            <a:ext cx="2194560" cy="2489701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401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Placeness</a:t>
            </a:r>
          </a:p>
          <a:p>
            <a:pPr algn="ctr"/>
            <a:r>
              <a:rPr lang="en-US" altLang="ko-KR" sz="1401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Quantification System</a:t>
            </a:r>
            <a:endParaRPr lang="en-US" altLang="ko-KR" sz="140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200" dirty="0" err="1">
                <a:solidFill>
                  <a:schemeClr val="bg2">
                    <a:lumMod val="2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장소성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 요인 추출 및 정량화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807117FE-47CB-185D-675C-5354144E6C18}"/>
              </a:ext>
            </a:extLst>
          </p:cNvPr>
          <p:cNvSpPr/>
          <p:nvPr/>
        </p:nvSpPr>
        <p:spPr>
          <a:xfrm>
            <a:off x="2281732" y="633643"/>
            <a:ext cx="2194560" cy="248970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401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en-US" altLang="ko-KR" sz="140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Noto Sans KR SemiBold" panose="020B0200000000000000" pitchFamily="50" charset="-127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텍스트 리뷰 데이터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50" charset="-127"/>
            </a:endParaRPr>
          </a:p>
        </p:txBody>
      </p:sp>
      <p:pic>
        <p:nvPicPr>
          <p:cNvPr id="38" name="그림 37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BCD5EB-4EA1-7DF7-72C3-96DC5539F91F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3446" y="1455847"/>
            <a:ext cx="929589" cy="929589"/>
          </a:xfrm>
          <a:prstGeom prst="rect">
            <a:avLst/>
          </a:prstGeom>
        </p:spPr>
      </p:pic>
      <p:pic>
        <p:nvPicPr>
          <p:cNvPr id="39" name="그림 38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8DCEF0-B815-954D-D9A8-FB8D2AD93CC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2" b="17143"/>
          <a:stretch>
            <a:fillRect/>
          </a:stretch>
        </p:blipFill>
        <p:spPr>
          <a:xfrm>
            <a:off x="5666523" y="1517490"/>
            <a:ext cx="1110596" cy="867948"/>
          </a:xfrm>
          <a:prstGeom prst="rect">
            <a:avLst/>
          </a:prstGeom>
        </p:spPr>
      </p:pic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4AB73C40-9E40-7EE0-74AC-5C35B8BAC8BA}"/>
              </a:ext>
            </a:extLst>
          </p:cNvPr>
          <p:cNvCxnSpPr>
            <a:cxnSpLocks/>
            <a:stCxn id="36" idx="3"/>
            <a:endCxn id="23" idx="1"/>
          </p:cNvCxnSpPr>
          <p:nvPr/>
        </p:nvCxnSpPr>
        <p:spPr>
          <a:xfrm flipV="1">
            <a:off x="4476292" y="1873629"/>
            <a:ext cx="649846" cy="486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75E68A45-27BC-E4DB-DC5E-83652F438D98}"/>
              </a:ext>
            </a:extLst>
          </p:cNvPr>
          <p:cNvCxnSpPr>
            <a:cxnSpLocks/>
            <a:stCxn id="23" idx="3"/>
            <a:endCxn id="2" idx="1"/>
          </p:cNvCxnSpPr>
          <p:nvPr/>
        </p:nvCxnSpPr>
        <p:spPr>
          <a:xfrm>
            <a:off x="7320698" y="1873629"/>
            <a:ext cx="64665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5" name="그림 44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179C92-BB5A-83FD-3536-A56C8F8425F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055"/>
          <a:stretch>
            <a:fillRect/>
          </a:stretch>
        </p:blipFill>
        <p:spPr>
          <a:xfrm>
            <a:off x="8288233" y="1252677"/>
            <a:ext cx="1552793" cy="1256919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0DC6327-4984-9AFC-5884-1A64E6ABF325}"/>
              </a:ext>
            </a:extLst>
          </p:cNvPr>
          <p:cNvSpPr/>
          <p:nvPr/>
        </p:nvSpPr>
        <p:spPr>
          <a:xfrm>
            <a:off x="6002421" y="3416522"/>
            <a:ext cx="4160118" cy="244286"/>
          </a:xfrm>
          <a:prstGeom prst="roundRect">
            <a:avLst>
              <a:gd name="adj" fmla="val 0"/>
            </a:avLst>
          </a:prstGeom>
          <a:solidFill>
            <a:schemeClr val="tx2">
              <a:lumMod val="25000"/>
              <a:lumOff val="75000"/>
              <a:alpha val="73000"/>
            </a:schemeClr>
          </a:solidFill>
          <a:ln w="1270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Output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DC679D-7259-2A6F-9F12-815FC112E984}"/>
              </a:ext>
            </a:extLst>
          </p:cNvPr>
          <p:cNvSpPr/>
          <p:nvPr/>
        </p:nvSpPr>
        <p:spPr>
          <a:xfrm>
            <a:off x="6002421" y="3660808"/>
            <a:ext cx="4156518" cy="2636004"/>
          </a:xfrm>
          <a:prstGeom prst="rect">
            <a:avLst/>
          </a:prstGeom>
          <a:noFill/>
          <a:ln w="6350" cap="flat" cmpd="sng" algn="ctr">
            <a:solidFill>
              <a:schemeClr val="tx2">
                <a:lumMod val="25000"/>
                <a:lumOff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095998E-73F9-49C0-7BDE-67B3847CF0E5}"/>
              </a:ext>
            </a:extLst>
          </p:cNvPr>
          <p:cNvSpPr/>
          <p:nvPr/>
        </p:nvSpPr>
        <p:spPr>
          <a:xfrm>
            <a:off x="6092255" y="3772880"/>
            <a:ext cx="3961631" cy="939338"/>
          </a:xfrm>
          <a:prstGeom prst="rect">
            <a:avLst/>
          </a:prstGeom>
          <a:noFill/>
          <a:ln w="6350" cap="flat" cmpd="sng" algn="ctr">
            <a:solidFill>
              <a:schemeClr val="tx2">
                <a:lumMod val="25000"/>
                <a:lumOff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554C2-04C9-7020-4CF1-CC798BC4C91B}"/>
              </a:ext>
            </a:extLst>
          </p:cNvPr>
          <p:cNvSpPr txBox="1"/>
          <p:nvPr/>
        </p:nvSpPr>
        <p:spPr>
          <a:xfrm>
            <a:off x="6154071" y="3867691"/>
            <a:ext cx="3899816" cy="799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05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장소성을 정량적으로 표현한 공간 평가 지표</a:t>
            </a:r>
            <a:endParaRPr lang="en-US" altLang="ko-KR" sz="1050" b="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10000"/>
              </a:lnSpc>
              <a:buFontTx/>
              <a:buChar char="-"/>
            </a:pP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장소 간 상대적 비교가 가능한 평가 지표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본 연구에서는 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0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과 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1 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사이의 점수로 표현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)</a:t>
            </a:r>
          </a:p>
          <a:p>
            <a:pPr marL="171450" indent="-171450">
              <a:lnSpc>
                <a:spcPct val="110000"/>
              </a:lnSpc>
              <a:buFontTx/>
              <a:buChar char="-"/>
            </a:pPr>
            <a:r>
              <a:rPr lang="ko-KR" altLang="en-US" sz="105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장소성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 요인별 점수 산출</a:t>
            </a:r>
            <a:endParaRPr lang="en-US" altLang="ko-KR" sz="1050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228BFF-3A0C-453A-F145-99875C59B0B9}"/>
              </a:ext>
            </a:extLst>
          </p:cNvPr>
          <p:cNvSpPr/>
          <p:nvPr/>
        </p:nvSpPr>
        <p:spPr>
          <a:xfrm>
            <a:off x="6102637" y="5056353"/>
            <a:ext cx="3961630" cy="1120951"/>
          </a:xfrm>
          <a:prstGeom prst="rect">
            <a:avLst/>
          </a:prstGeom>
          <a:noFill/>
          <a:ln w="6350" cap="flat" cmpd="sng" algn="ctr">
            <a:solidFill>
              <a:schemeClr val="tx2">
                <a:lumMod val="25000"/>
                <a:lumOff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0E2EB6-A524-9806-9E39-691A46339CCC}"/>
              </a:ext>
            </a:extLst>
          </p:cNvPr>
          <p:cNvSpPr txBox="1"/>
          <p:nvPr/>
        </p:nvSpPr>
        <p:spPr>
          <a:xfrm>
            <a:off x="6093458" y="4806337"/>
            <a:ext cx="42832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나눔스퀘어OTF" panose="020B0600000101010101" pitchFamily="34" charset="-127"/>
                <a:ea typeface="나눔스퀘어OTF" panose="020B0600000101010101" pitchFamily="34" charset="-127"/>
                <a:cs typeface="Pretendard" panose="02000503000000020004" pitchFamily="50" charset="-127"/>
              </a:rPr>
              <a:t>예시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D92E96-74FA-3AAB-9351-8A09000F0F91}"/>
              </a:ext>
            </a:extLst>
          </p:cNvPr>
          <p:cNvSpPr txBox="1"/>
          <p:nvPr/>
        </p:nvSpPr>
        <p:spPr>
          <a:xfrm>
            <a:off x="7568652" y="5163120"/>
            <a:ext cx="111440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highlight>
                  <a:srgbClr val="FBD185"/>
                </a:highligh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접근성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0.2</a:t>
            </a:r>
          </a:p>
          <a:p>
            <a:pPr algn="ctr"/>
            <a:r>
              <a:rPr lang="ko-KR" altLang="en-US" sz="1050" dirty="0">
                <a:highlight>
                  <a:srgbClr val="A2DFF8"/>
                </a:highligh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심미성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0.9</a:t>
            </a:r>
          </a:p>
          <a:p>
            <a:pPr algn="ctr"/>
            <a:r>
              <a:rPr lang="ko-KR" altLang="en-US" sz="1050" dirty="0">
                <a:highlight>
                  <a:srgbClr val="CCFFCC"/>
                </a:highligh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상호작용성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0.8</a:t>
            </a:r>
          </a:p>
          <a:p>
            <a:pPr algn="ctr"/>
            <a:r>
              <a:rPr lang="ko-KR" altLang="en-US" sz="1050" dirty="0">
                <a:highlight>
                  <a:srgbClr val="E7EAED"/>
                </a:highligh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기억 및 선호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0.9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AE4E3E-29DE-109E-BD1F-642D0CB6D7CB}"/>
              </a:ext>
            </a:extLst>
          </p:cNvPr>
          <p:cNvSpPr txBox="1"/>
          <p:nvPr/>
        </p:nvSpPr>
        <p:spPr>
          <a:xfrm>
            <a:off x="7967980" y="5901784"/>
            <a:ext cx="400238" cy="188664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en-US" altLang="ko-KR" sz="1401" dirty="0"/>
              <a:t>…</a:t>
            </a:r>
            <a:endParaRPr lang="ko-KR" altLang="en-US" sz="1401" dirty="0"/>
          </a:p>
        </p:txBody>
      </p:sp>
    </p:spTree>
    <p:extLst>
      <p:ext uri="{BB962C8B-B14F-4D97-AF65-F5344CB8AC3E}">
        <p14:creationId xmlns:p14="http://schemas.microsoft.com/office/powerpoint/2010/main" val="35063904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C9F66-C2A2-8B9D-F1CE-6ED5EA395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05C73247-427F-B25F-714F-3EA848CE9E33}"/>
              </a:ext>
            </a:extLst>
          </p:cNvPr>
          <p:cNvGrpSpPr/>
          <p:nvPr/>
        </p:nvGrpSpPr>
        <p:grpSpPr>
          <a:xfrm>
            <a:off x="3081391" y="1661885"/>
            <a:ext cx="6029218" cy="1727705"/>
            <a:chOff x="2286107" y="1257514"/>
            <a:chExt cx="7880177" cy="2494566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DF5BC954-8CE1-B7FB-883A-A5BDBC50EF5F}"/>
                </a:ext>
              </a:extLst>
            </p:cNvPr>
            <p:cNvSpPr/>
            <p:nvPr/>
          </p:nvSpPr>
          <p:spPr>
            <a:xfrm>
              <a:off x="7971724" y="1257514"/>
              <a:ext cx="2194560" cy="248970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2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</a:t>
              </a: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900" dirty="0" err="1">
                  <a:solidFill>
                    <a:schemeClr val="bg2">
                      <a:lumMod val="2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bg2">
                      <a:lumMod val="2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 점수</a:t>
              </a:r>
            </a:p>
          </p:txBody>
        </p: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4B3C5CF7-FED8-3B27-7911-2A8EEECCDCEC}"/>
                </a:ext>
              </a:extLst>
            </p:cNvPr>
            <p:cNvSpPr/>
            <p:nvPr/>
          </p:nvSpPr>
          <p:spPr>
            <a:xfrm>
              <a:off x="2286107" y="1262378"/>
              <a:ext cx="2194560" cy="248970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1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</a:t>
              </a:r>
              <a:endParaRPr lang="en-US" altLang="ko-KR" sz="11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Noto Sans KR SemiBold" panose="020B0200000000000000" pitchFamily="50" charset="-127"/>
                <a:cs typeface="Times New Roman" panose="02020603050405020304" pitchFamily="18" charset="0"/>
              </a:endParaRPr>
            </a:p>
            <a:p>
              <a:pPr algn="ctr"/>
              <a:endParaRPr lang="en-US" altLang="ko-KR" sz="1000" dirty="0">
                <a:solidFill>
                  <a:schemeClr val="bg2">
                    <a:lumMod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endParaRPr lang="en-US" altLang="ko-KR" sz="900" dirty="0">
                <a:solidFill>
                  <a:schemeClr val="bg2">
                    <a:lumMod val="2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900" dirty="0">
                  <a:solidFill>
                    <a:schemeClr val="bg2">
                      <a:lumMod val="2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텍스트 리뷰 데이터</a:t>
              </a:r>
              <a:endParaRPr lang="en-US" altLang="ko-KR" sz="900" dirty="0">
                <a:solidFill>
                  <a:schemeClr val="bg2">
                    <a:lumMod val="2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</p:txBody>
        </p:sp>
        <p:pic>
          <p:nvPicPr>
            <p:cNvPr id="38" name="그림 37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038F1138-019E-68CE-FACB-CC6B6DD260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65286" y="2107306"/>
              <a:ext cx="790114" cy="790114"/>
            </a:xfrm>
            <a:prstGeom prst="rect">
              <a:avLst/>
            </a:prstGeom>
          </p:spPr>
        </p:pic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DB918640-FC3F-B534-4EE5-617FE63D2C4E}"/>
                </a:ext>
              </a:extLst>
            </p:cNvPr>
            <p:cNvCxnSpPr>
              <a:cxnSpLocks/>
              <a:stCxn id="36" idx="3"/>
              <a:endCxn id="23" idx="1"/>
            </p:cNvCxnSpPr>
            <p:nvPr/>
          </p:nvCxnSpPr>
          <p:spPr>
            <a:xfrm flipV="1">
              <a:off x="4480666" y="2502365"/>
              <a:ext cx="649846" cy="4865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E4AD2D28-5287-C5D3-8950-3DE9A5D80E99}"/>
                </a:ext>
              </a:extLst>
            </p:cNvPr>
            <p:cNvCxnSpPr>
              <a:cxnSpLocks/>
              <a:stCxn id="23" idx="3"/>
              <a:endCxn id="2" idx="1"/>
            </p:cNvCxnSpPr>
            <p:nvPr/>
          </p:nvCxnSpPr>
          <p:spPr>
            <a:xfrm>
              <a:off x="7325072" y="2502365"/>
              <a:ext cx="646652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45" name="그림 44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E3F25570-65C5-0ED3-3A7A-C021D3643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09097" y="1968198"/>
              <a:ext cx="1319813" cy="1068332"/>
            </a:xfrm>
            <a:prstGeom prst="rect">
              <a:avLst/>
            </a:prstGeom>
          </p:spPr>
        </p:pic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EA079F33-7D3E-30F8-6CB8-F442930BB6D4}"/>
                </a:ext>
              </a:extLst>
            </p:cNvPr>
            <p:cNvSpPr/>
            <p:nvPr/>
          </p:nvSpPr>
          <p:spPr>
            <a:xfrm>
              <a:off x="5130513" y="1257514"/>
              <a:ext cx="2194560" cy="248970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Placeness</a:t>
              </a:r>
            </a:p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Quantification System</a:t>
              </a:r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 요인 추출 및 정량화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</p:txBody>
        </p:sp>
        <p:pic>
          <p:nvPicPr>
            <p:cNvPr id="39" name="그림 38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577F089F-F502-ED04-CBD1-8977B90EF8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5720693" y="2426373"/>
              <a:ext cx="943962" cy="737722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B9DE5449-CEE0-44D2-502D-8CB266710E01}"/>
              </a:ext>
            </a:extLst>
          </p:cNvPr>
          <p:cNvGrpSpPr/>
          <p:nvPr/>
        </p:nvGrpSpPr>
        <p:grpSpPr>
          <a:xfrm>
            <a:off x="3920933" y="3400425"/>
            <a:ext cx="4533900" cy="2320576"/>
            <a:chOff x="3981450" y="3483834"/>
            <a:chExt cx="4533900" cy="2320576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00ADD623-9F4F-0E35-EB6D-75ECE00F6643}"/>
                </a:ext>
              </a:extLst>
            </p:cNvPr>
            <p:cNvGrpSpPr/>
            <p:nvPr/>
          </p:nvGrpSpPr>
          <p:grpSpPr>
            <a:xfrm>
              <a:off x="3981450" y="3483834"/>
              <a:ext cx="4533900" cy="185306"/>
              <a:chOff x="1421130" y="2138727"/>
              <a:chExt cx="9781452" cy="215853"/>
            </a:xfrm>
            <a:solidFill>
              <a:schemeClr val="tx2">
                <a:lumMod val="10000"/>
                <a:lumOff val="90000"/>
              </a:schemeClr>
            </a:solidFill>
          </p:grpSpPr>
          <p:sp>
            <p:nvSpPr>
              <p:cNvPr id="4" name="자유형: 도형 3">
                <a:extLst>
                  <a:ext uri="{FF2B5EF4-FFF2-40B4-BE49-F238E27FC236}">
                    <a16:creationId xmlns:a16="http://schemas.microsoft.com/office/drawing/2014/main" id="{AE96BDEF-9D45-A33E-9FDC-575F33BA3D0E}"/>
                  </a:ext>
                </a:extLst>
              </p:cNvPr>
              <p:cNvSpPr/>
              <p:nvPr/>
            </p:nvSpPr>
            <p:spPr>
              <a:xfrm>
                <a:off x="1421130" y="2138727"/>
                <a:ext cx="9772652" cy="215853"/>
              </a:xfrm>
              <a:custGeom>
                <a:avLst/>
                <a:gdLst>
                  <a:gd name="connsiteX0" fmla="*/ 8382000 w 8382000"/>
                  <a:gd name="connsiteY0" fmla="*/ 251460 h 251460"/>
                  <a:gd name="connsiteX1" fmla="*/ 0 w 8382000"/>
                  <a:gd name="connsiteY1" fmla="*/ 251460 h 251460"/>
                  <a:gd name="connsiteX2" fmla="*/ 1600200 w 8382000"/>
                  <a:gd name="connsiteY2" fmla="*/ 0 h 251460"/>
                  <a:gd name="connsiteX3" fmla="*/ 3177540 w 8382000"/>
                  <a:gd name="connsiteY3" fmla="*/ 0 h 251460"/>
                  <a:gd name="connsiteX4" fmla="*/ 8382000 w 8382000"/>
                  <a:gd name="connsiteY4" fmla="*/ 251460 h 251460"/>
                  <a:gd name="connsiteX0" fmla="*/ 8382000 w 8382000"/>
                  <a:gd name="connsiteY0" fmla="*/ 258604 h 258604"/>
                  <a:gd name="connsiteX1" fmla="*/ 0 w 8382000"/>
                  <a:gd name="connsiteY1" fmla="*/ 258604 h 258604"/>
                  <a:gd name="connsiteX2" fmla="*/ 1414462 w 8382000"/>
                  <a:gd name="connsiteY2" fmla="*/ 0 h 258604"/>
                  <a:gd name="connsiteX3" fmla="*/ 3177540 w 8382000"/>
                  <a:gd name="connsiteY3" fmla="*/ 7144 h 258604"/>
                  <a:gd name="connsiteX4" fmla="*/ 8382000 w 8382000"/>
                  <a:gd name="connsiteY4" fmla="*/ 258604 h 258604"/>
                  <a:gd name="connsiteX0" fmla="*/ 8382000 w 8382000"/>
                  <a:gd name="connsiteY0" fmla="*/ 258604 h 258604"/>
                  <a:gd name="connsiteX1" fmla="*/ 0 w 8382000"/>
                  <a:gd name="connsiteY1" fmla="*/ 258604 h 258604"/>
                  <a:gd name="connsiteX2" fmla="*/ 1414462 w 8382000"/>
                  <a:gd name="connsiteY2" fmla="*/ 0 h 258604"/>
                  <a:gd name="connsiteX3" fmla="*/ 3003708 w 8382000"/>
                  <a:gd name="connsiteY3" fmla="*/ 1 h 258604"/>
                  <a:gd name="connsiteX4" fmla="*/ 8382000 w 8382000"/>
                  <a:gd name="connsiteY4" fmla="*/ 258604 h 258604"/>
                  <a:gd name="connsiteX0" fmla="*/ 9772650 w 9772650"/>
                  <a:gd name="connsiteY0" fmla="*/ 258604 h 266224"/>
                  <a:gd name="connsiteX1" fmla="*/ 0 w 9772650"/>
                  <a:gd name="connsiteY1" fmla="*/ 266224 h 266224"/>
                  <a:gd name="connsiteX2" fmla="*/ 2805112 w 9772650"/>
                  <a:gd name="connsiteY2" fmla="*/ 0 h 266224"/>
                  <a:gd name="connsiteX3" fmla="*/ 4394358 w 9772650"/>
                  <a:gd name="connsiteY3" fmla="*/ 1 h 266224"/>
                  <a:gd name="connsiteX4" fmla="*/ 9772650 w 9772650"/>
                  <a:gd name="connsiteY4" fmla="*/ 258604 h 266224"/>
                  <a:gd name="csX0" fmla="*/ 9772650 w 9772650"/>
                  <a:gd name="csY0" fmla="*/ 268128 h 275748"/>
                  <a:gd name="csX1" fmla="*/ 0 w 9772650"/>
                  <a:gd name="csY1" fmla="*/ 275748 h 275748"/>
                  <a:gd name="csX2" fmla="*/ 2805112 w 9772650"/>
                  <a:gd name="csY2" fmla="*/ 9524 h 275748"/>
                  <a:gd name="csX3" fmla="*/ 5580221 w 9772650"/>
                  <a:gd name="csY3" fmla="*/ 0 h 275748"/>
                  <a:gd name="csX4" fmla="*/ 9772650 w 9772650"/>
                  <a:gd name="csY4" fmla="*/ 268128 h 275748"/>
                  <a:gd name="csX0" fmla="*/ 9772650 w 9772650"/>
                  <a:gd name="csY0" fmla="*/ 268129 h 275749"/>
                  <a:gd name="csX1" fmla="*/ 0 w 9772650"/>
                  <a:gd name="csY1" fmla="*/ 275749 h 275749"/>
                  <a:gd name="csX2" fmla="*/ 3962400 w 9772650"/>
                  <a:gd name="csY2" fmla="*/ 0 h 275749"/>
                  <a:gd name="csX3" fmla="*/ 5580221 w 9772650"/>
                  <a:gd name="csY3" fmla="*/ 1 h 275749"/>
                  <a:gd name="csX4" fmla="*/ 9772650 w 9772650"/>
                  <a:gd name="csY4" fmla="*/ 268129 h 275749"/>
                  <a:gd name="csX0" fmla="*/ 9772650 w 9772650"/>
                  <a:gd name="csY0" fmla="*/ 268128 h 275748"/>
                  <a:gd name="csX1" fmla="*/ 0 w 9772650"/>
                  <a:gd name="csY1" fmla="*/ 275748 h 275748"/>
                  <a:gd name="csX2" fmla="*/ 4025900 w 9772650"/>
                  <a:gd name="csY2" fmla="*/ 6227 h 275748"/>
                  <a:gd name="csX3" fmla="*/ 5580221 w 9772650"/>
                  <a:gd name="csY3" fmla="*/ 0 h 275748"/>
                  <a:gd name="csX4" fmla="*/ 9772650 w 9772650"/>
                  <a:gd name="csY4" fmla="*/ 268128 h 275748"/>
                  <a:gd name="csX0" fmla="*/ 9772650 w 9772650"/>
                  <a:gd name="csY0" fmla="*/ 275602 h 283222"/>
                  <a:gd name="csX1" fmla="*/ 0 w 9772650"/>
                  <a:gd name="csY1" fmla="*/ 283222 h 283222"/>
                  <a:gd name="csX2" fmla="*/ 4025900 w 9772650"/>
                  <a:gd name="csY2" fmla="*/ 13701 h 283222"/>
                  <a:gd name="csX3" fmla="*/ 5832658 w 9772650"/>
                  <a:gd name="csY3" fmla="*/ 0 h 283222"/>
                  <a:gd name="csX4" fmla="*/ 9772650 w 9772650"/>
                  <a:gd name="csY4" fmla="*/ 275602 h 283222"/>
                  <a:gd name="csX0" fmla="*/ 9772650 w 9772650"/>
                  <a:gd name="csY0" fmla="*/ 261901 h 269521"/>
                  <a:gd name="csX1" fmla="*/ 0 w 9772650"/>
                  <a:gd name="csY1" fmla="*/ 269521 h 269521"/>
                  <a:gd name="csX2" fmla="*/ 4025900 w 9772650"/>
                  <a:gd name="csY2" fmla="*/ 0 h 269521"/>
                  <a:gd name="csX3" fmla="*/ 5840197 w 9772650"/>
                  <a:gd name="csY3" fmla="*/ 313 h 269521"/>
                  <a:gd name="csX4" fmla="*/ 9772650 w 9772650"/>
                  <a:gd name="csY4" fmla="*/ 261901 h 269521"/>
                  <a:gd name="csX0" fmla="*/ 9772650 w 9772650"/>
                  <a:gd name="csY0" fmla="*/ 270931 h 278551"/>
                  <a:gd name="csX1" fmla="*/ 0 w 9772650"/>
                  <a:gd name="csY1" fmla="*/ 278551 h 278551"/>
                  <a:gd name="csX2" fmla="*/ 4025900 w 9772650"/>
                  <a:gd name="csY2" fmla="*/ 9030 h 278551"/>
                  <a:gd name="csX3" fmla="*/ 5930665 w 9772650"/>
                  <a:gd name="csY3" fmla="*/ 0 h 278551"/>
                  <a:gd name="csX4" fmla="*/ 9772650 w 9772650"/>
                  <a:gd name="csY4" fmla="*/ 270931 h 278551"/>
                  <a:gd name="csX0" fmla="*/ 9772650 w 9772650"/>
                  <a:gd name="csY0" fmla="*/ 275915 h 283535"/>
                  <a:gd name="csX1" fmla="*/ 0 w 9772650"/>
                  <a:gd name="csY1" fmla="*/ 283535 h 283535"/>
                  <a:gd name="csX2" fmla="*/ 4025901 w 9772650"/>
                  <a:gd name="csY2" fmla="*/ 0 h 283535"/>
                  <a:gd name="csX3" fmla="*/ 5930665 w 9772650"/>
                  <a:gd name="csY3" fmla="*/ 4984 h 283535"/>
                  <a:gd name="csX4" fmla="*/ 9772650 w 9772650"/>
                  <a:gd name="csY4" fmla="*/ 275915 h 283535"/>
                  <a:gd name="csX0" fmla="*/ 9772650 w 9772650"/>
                  <a:gd name="csY0" fmla="*/ 280274 h 287894"/>
                  <a:gd name="csX1" fmla="*/ 0 w 9772650"/>
                  <a:gd name="csY1" fmla="*/ 287894 h 287894"/>
                  <a:gd name="csX2" fmla="*/ 4025901 w 9772650"/>
                  <a:gd name="csY2" fmla="*/ 4359 h 287894"/>
                  <a:gd name="csX3" fmla="*/ 5133218 w 9772650"/>
                  <a:gd name="csY3" fmla="*/ 0 h 287894"/>
                  <a:gd name="csX4" fmla="*/ 9772650 w 9772650"/>
                  <a:gd name="csY4" fmla="*/ 280274 h 287894"/>
                  <a:gd name="csX0" fmla="*/ 9772650 w 9772650"/>
                  <a:gd name="csY0" fmla="*/ 275915 h 283535"/>
                  <a:gd name="csX1" fmla="*/ 0 w 9772650"/>
                  <a:gd name="csY1" fmla="*/ 283535 h 283535"/>
                  <a:gd name="csX2" fmla="*/ 4025901 w 9772650"/>
                  <a:gd name="csY2" fmla="*/ 0 h 283535"/>
                  <a:gd name="csX3" fmla="*/ 5116251 w 9772650"/>
                  <a:gd name="csY3" fmla="*/ 4983 h 283535"/>
                  <a:gd name="csX4" fmla="*/ 9772650 w 9772650"/>
                  <a:gd name="csY4" fmla="*/ 275915 h 283535"/>
                  <a:gd name="csX0" fmla="*/ 9772650 w 9772650"/>
                  <a:gd name="csY0" fmla="*/ 275915 h 283535"/>
                  <a:gd name="csX1" fmla="*/ 0 w 9772650"/>
                  <a:gd name="csY1" fmla="*/ 283535 h 283535"/>
                  <a:gd name="csX2" fmla="*/ 4461387 w 9772650"/>
                  <a:gd name="csY2" fmla="*/ 0 h 283535"/>
                  <a:gd name="csX3" fmla="*/ 5116251 w 9772650"/>
                  <a:gd name="csY3" fmla="*/ 4983 h 283535"/>
                  <a:gd name="csX4" fmla="*/ 9772650 w 9772650"/>
                  <a:gd name="csY4" fmla="*/ 275915 h 283535"/>
                  <a:gd name="csX0" fmla="*/ 9772650 w 9772650"/>
                  <a:gd name="csY0" fmla="*/ 275915 h 283535"/>
                  <a:gd name="csX1" fmla="*/ 0 w 9772650"/>
                  <a:gd name="csY1" fmla="*/ 283535 h 283535"/>
                  <a:gd name="csX2" fmla="*/ 4461387 w 9772650"/>
                  <a:gd name="csY2" fmla="*/ 0 h 283535"/>
                  <a:gd name="csX3" fmla="*/ 5483868 w 9772650"/>
                  <a:gd name="csY3" fmla="*/ 11211 h 283535"/>
                  <a:gd name="csX4" fmla="*/ 9772650 w 9772650"/>
                  <a:gd name="csY4" fmla="*/ 275915 h 283535"/>
                  <a:gd name="csX0" fmla="*/ 9772650 w 9772650"/>
                  <a:gd name="csY0" fmla="*/ 264704 h 272324"/>
                  <a:gd name="csX1" fmla="*/ 0 w 9772650"/>
                  <a:gd name="csY1" fmla="*/ 272324 h 272324"/>
                  <a:gd name="csX2" fmla="*/ 4467042 w 9772650"/>
                  <a:gd name="csY2" fmla="*/ 1246 h 272324"/>
                  <a:gd name="csX3" fmla="*/ 5483868 w 9772650"/>
                  <a:gd name="csY3" fmla="*/ 0 h 272324"/>
                  <a:gd name="csX4" fmla="*/ 9772650 w 9772650"/>
                  <a:gd name="csY4" fmla="*/ 264704 h 272324"/>
                  <a:gd name="csX0" fmla="*/ 9772650 w 9772650"/>
                  <a:gd name="csY0" fmla="*/ 264704 h 272324"/>
                  <a:gd name="csX1" fmla="*/ 0 w 9772650"/>
                  <a:gd name="csY1" fmla="*/ 272324 h 272324"/>
                  <a:gd name="csX2" fmla="*/ 3714623 w 9772650"/>
                  <a:gd name="csY2" fmla="*/ 6890 h 272324"/>
                  <a:gd name="csX3" fmla="*/ 5483868 w 9772650"/>
                  <a:gd name="csY3" fmla="*/ 0 h 272324"/>
                  <a:gd name="csX4" fmla="*/ 9772650 w 9772650"/>
                  <a:gd name="csY4" fmla="*/ 264704 h 272324"/>
                  <a:gd name="csX0" fmla="*/ 9772650 w 9772650"/>
                  <a:gd name="csY0" fmla="*/ 264704 h 272324"/>
                  <a:gd name="csX1" fmla="*/ 0 w 9772650"/>
                  <a:gd name="csY1" fmla="*/ 272324 h 272324"/>
                  <a:gd name="csX2" fmla="*/ 3714623 w 9772650"/>
                  <a:gd name="csY2" fmla="*/ 6890 h 272324"/>
                  <a:gd name="csX3" fmla="*/ 5596888 w 9772650"/>
                  <a:gd name="csY3" fmla="*/ 0 h 272324"/>
                  <a:gd name="csX4" fmla="*/ 9772650 w 9772650"/>
                  <a:gd name="csY4" fmla="*/ 264704 h 272324"/>
                  <a:gd name="csX0" fmla="*/ 9772650 w 9772650"/>
                  <a:gd name="csY0" fmla="*/ 264704 h 272324"/>
                  <a:gd name="csX1" fmla="*/ 0 w 9772650"/>
                  <a:gd name="csY1" fmla="*/ 272324 h 272324"/>
                  <a:gd name="csX2" fmla="*/ 3760858 w 9772650"/>
                  <a:gd name="csY2" fmla="*/ 4169 h 272324"/>
                  <a:gd name="csX3" fmla="*/ 5596888 w 9772650"/>
                  <a:gd name="csY3" fmla="*/ 0 h 272324"/>
                  <a:gd name="csX4" fmla="*/ 9772650 w 9772650"/>
                  <a:gd name="csY4" fmla="*/ 264704 h 272324"/>
                  <a:gd name="csX0" fmla="*/ 9772650 w 9772650"/>
                  <a:gd name="csY0" fmla="*/ 264704 h 272324"/>
                  <a:gd name="csX1" fmla="*/ 0 w 9772650"/>
                  <a:gd name="csY1" fmla="*/ 272324 h 272324"/>
                  <a:gd name="csX2" fmla="*/ 3760858 w 9772650"/>
                  <a:gd name="csY2" fmla="*/ 4169 h 272324"/>
                  <a:gd name="csX3" fmla="*/ 5596888 w 9772650"/>
                  <a:gd name="csY3" fmla="*/ 0 h 272324"/>
                  <a:gd name="csX4" fmla="*/ 9772650 w 9772650"/>
                  <a:gd name="csY4" fmla="*/ 264704 h 272324"/>
                  <a:gd name="csX0" fmla="*/ 9772650 w 9772650"/>
                  <a:gd name="csY0" fmla="*/ 260535 h 268155"/>
                  <a:gd name="csX1" fmla="*/ 0 w 9772650"/>
                  <a:gd name="csY1" fmla="*/ 268155 h 268155"/>
                  <a:gd name="csX2" fmla="*/ 3760858 w 9772650"/>
                  <a:gd name="csY2" fmla="*/ 0 h 268155"/>
                  <a:gd name="csX3" fmla="*/ 5632848 w 9772650"/>
                  <a:gd name="csY3" fmla="*/ 1272 h 268155"/>
                  <a:gd name="csX4" fmla="*/ 9772650 w 9772650"/>
                  <a:gd name="csY4" fmla="*/ 260535 h 268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9772650" h="268155">
                    <a:moveTo>
                      <a:pt x="9772650" y="260535"/>
                    </a:moveTo>
                    <a:lnTo>
                      <a:pt x="0" y="268155"/>
                    </a:lnTo>
                    <a:lnTo>
                      <a:pt x="3760858" y="0"/>
                    </a:lnTo>
                    <a:lnTo>
                      <a:pt x="5632848" y="1272"/>
                    </a:lnTo>
                    <a:lnTo>
                      <a:pt x="9772650" y="260535"/>
                    </a:lnTo>
                    <a:close/>
                  </a:path>
                </a:pathLst>
              </a:custGeom>
              <a:grpFill/>
              <a:ln w="9525">
                <a:solidFill>
                  <a:srgbClr val="C1DAF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" name="직선 연결선 5">
                <a:extLst>
                  <a:ext uri="{FF2B5EF4-FFF2-40B4-BE49-F238E27FC236}">
                    <a16:creationId xmlns:a16="http://schemas.microsoft.com/office/drawing/2014/main" id="{92B931A3-4B1B-E82C-F4AA-9E69C7B2C1D8}"/>
                  </a:ext>
                </a:extLst>
              </p:cNvPr>
              <p:cNvCxnSpPr>
                <a:cxnSpLocks/>
                <a:stCxn id="4" idx="2"/>
              </p:cNvCxnSpPr>
              <p:nvPr/>
            </p:nvCxnSpPr>
            <p:spPr>
              <a:xfrm flipH="1">
                <a:off x="1432493" y="2138727"/>
                <a:ext cx="3749496" cy="215706"/>
              </a:xfrm>
              <a:prstGeom prst="line">
                <a:avLst/>
              </a:prstGeom>
              <a:grpFill/>
              <a:ln w="12700">
                <a:solidFill>
                  <a:srgbClr val="C1DAF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5FAA76E5-CF19-1CAD-3079-1BA6F0E9A54C}"/>
                  </a:ext>
                </a:extLst>
              </p:cNvPr>
              <p:cNvCxnSpPr>
                <a:cxnSpLocks/>
                <a:stCxn id="4" idx="3"/>
              </p:cNvCxnSpPr>
              <p:nvPr/>
            </p:nvCxnSpPr>
            <p:spPr>
              <a:xfrm>
                <a:off x="7053979" y="2139751"/>
                <a:ext cx="4148603" cy="208533"/>
              </a:xfrm>
              <a:prstGeom prst="line">
                <a:avLst/>
              </a:prstGeom>
              <a:grpFill/>
              <a:ln w="12700">
                <a:solidFill>
                  <a:srgbClr val="C1DAF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3" name="사각형: 둥근 모서리 112">
              <a:extLst>
                <a:ext uri="{FF2B5EF4-FFF2-40B4-BE49-F238E27FC236}">
                  <a16:creationId xmlns:a16="http://schemas.microsoft.com/office/drawing/2014/main" id="{B9CD68B3-7737-2F23-757C-1D9CA590BBB2}"/>
                </a:ext>
              </a:extLst>
            </p:cNvPr>
            <p:cNvSpPr/>
            <p:nvPr/>
          </p:nvSpPr>
          <p:spPr>
            <a:xfrm>
              <a:off x="3981450" y="3655392"/>
              <a:ext cx="4533900" cy="24428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25000"/>
                <a:lumOff val="75000"/>
                <a:alpha val="73000"/>
              </a:schemeClr>
            </a:solidFill>
            <a:ln w="12700"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Pretendard" panose="02000503000000020004" pitchFamily="50" charset="-127"/>
                </a:rPr>
                <a:t>장소성</a:t>
              </a: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Pretendard" panose="02000503000000020004" pitchFamily="50" charset="-127"/>
                </a:rPr>
                <a:t> 정량화 시스템</a:t>
              </a:r>
              <a:endPara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84B11EA7-D026-40F4-E7ED-060C79765C8F}"/>
                </a:ext>
              </a:extLst>
            </p:cNvPr>
            <p:cNvSpPr/>
            <p:nvPr/>
          </p:nvSpPr>
          <p:spPr>
            <a:xfrm>
              <a:off x="3981450" y="3899678"/>
              <a:ext cx="4533900" cy="1651081"/>
            </a:xfrm>
            <a:prstGeom prst="rect">
              <a:avLst/>
            </a:prstGeom>
            <a:noFill/>
            <a:ln w="6350" cap="flat" cmpd="sng" algn="ctr">
              <a:solidFill>
                <a:schemeClr val="tx2">
                  <a:lumMod val="25000"/>
                  <a:lumOff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D702EA83-52BB-3224-EF87-31EC686C7653}"/>
                </a:ext>
              </a:extLst>
            </p:cNvPr>
            <p:cNvSpPr txBox="1"/>
            <p:nvPr/>
          </p:nvSpPr>
          <p:spPr>
            <a:xfrm>
              <a:off x="4310983" y="5255770"/>
              <a:ext cx="1645920" cy="548640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tx1"/>
              </a:solidFill>
              <a:prstDash val="dash"/>
            </a:ln>
          </p:spPr>
          <p:txBody>
            <a:bodyPr wrap="square" lIns="91440" rIns="91440" rtlCol="0" anchor="ctr">
              <a:spAutoFit/>
            </a:bodyPr>
            <a:lstStyle/>
            <a:p>
              <a:pPr algn="ctr"/>
              <a:r>
                <a:rPr lang="ko-KR" altLang="en-US" sz="1000" dirty="0"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선행연구 기반 </a:t>
              </a:r>
              <a:r>
                <a:rPr lang="ko-KR" altLang="en-US" sz="1000" dirty="0" err="1"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장소성</a:t>
              </a:r>
              <a:r>
                <a:rPr lang="ko-KR" altLang="en-US" sz="1000" dirty="0"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 요인 </a:t>
              </a: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1000" dirty="0"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평가 체계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D2617963-6C44-BA37-B1F6-35A1780E3AC9}"/>
                </a:ext>
              </a:extLst>
            </p:cNvPr>
            <p:cNvSpPr txBox="1"/>
            <p:nvPr/>
          </p:nvSpPr>
          <p:spPr>
            <a:xfrm>
              <a:off x="4310983" y="4070924"/>
              <a:ext cx="1645920" cy="548640"/>
            </a:xfrm>
            <a:prstGeom prst="rect">
              <a:avLst/>
            </a:prstGeom>
            <a:solidFill>
              <a:srgbClr val="DCEAF7"/>
            </a:solidFill>
            <a:ln>
              <a:noFill/>
            </a:ln>
          </p:spPr>
          <p:txBody>
            <a:bodyPr wrap="square" lIns="91440" rIns="91440" rtlCol="0" anchor="ctr">
              <a:spAutoFit/>
            </a:bodyPr>
            <a:lstStyle/>
            <a:p>
              <a:pPr algn="ctr"/>
              <a:r>
                <a:rPr lang="ko-KR" altLang="en-US" sz="1000" dirty="0" err="1"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장소성</a:t>
              </a:r>
              <a:r>
                <a:rPr lang="ko-KR" altLang="en-US" sz="1000" dirty="0"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 요인 매핑 모듈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99B2B86A-4069-A9F2-C35D-E4585F9A024B}"/>
                </a:ext>
              </a:extLst>
            </p:cNvPr>
            <p:cNvSpPr txBox="1"/>
            <p:nvPr/>
          </p:nvSpPr>
          <p:spPr>
            <a:xfrm>
              <a:off x="6521769" y="4070924"/>
              <a:ext cx="1645920" cy="548640"/>
            </a:xfrm>
            <a:prstGeom prst="rect">
              <a:avLst/>
            </a:prstGeom>
            <a:solidFill>
              <a:srgbClr val="DCEAF7"/>
            </a:solidFill>
            <a:ln>
              <a:noFill/>
            </a:ln>
          </p:spPr>
          <p:txBody>
            <a:bodyPr wrap="square" lIns="91440" rIns="91440" rtlCol="0" anchor="ctr">
              <a:spAutoFit/>
            </a:bodyPr>
            <a:lstStyle/>
            <a:p>
              <a:pPr algn="ctr"/>
              <a:r>
                <a:rPr lang="ko-KR" altLang="en-US" sz="1000" dirty="0" err="1"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장소성</a:t>
              </a:r>
              <a:r>
                <a:rPr lang="ko-KR" altLang="en-US" sz="1000" dirty="0"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 요인별 점수화 모듈</a:t>
              </a:r>
            </a:p>
          </p:txBody>
        </p:sp>
        <p:cxnSp>
          <p:nvCxnSpPr>
            <p:cNvPr id="120" name="직선 화살표 연결선 119">
              <a:extLst>
                <a:ext uri="{FF2B5EF4-FFF2-40B4-BE49-F238E27FC236}">
                  <a16:creationId xmlns:a16="http://schemas.microsoft.com/office/drawing/2014/main" id="{D9D43F02-6D53-0728-312B-06E9BAB5D337}"/>
                </a:ext>
              </a:extLst>
            </p:cNvPr>
            <p:cNvCxnSpPr>
              <a:cxnSpLocks/>
              <a:stCxn id="117" idx="3"/>
              <a:endCxn id="118" idx="1"/>
            </p:cNvCxnSpPr>
            <p:nvPr/>
          </p:nvCxnSpPr>
          <p:spPr>
            <a:xfrm>
              <a:off x="5956903" y="4345244"/>
              <a:ext cx="56486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2CC32160-0CC5-5CD3-8BFF-096B4ADB2563}"/>
                </a:ext>
              </a:extLst>
            </p:cNvPr>
            <p:cNvSpPr txBox="1"/>
            <p:nvPr/>
          </p:nvSpPr>
          <p:spPr>
            <a:xfrm>
              <a:off x="5177043" y="4858340"/>
              <a:ext cx="925253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평가 기준 참조</a:t>
              </a:r>
            </a:p>
          </p:txBody>
        </p:sp>
        <p:cxnSp>
          <p:nvCxnSpPr>
            <p:cNvPr id="125" name="직선 화살표 연결선 124">
              <a:extLst>
                <a:ext uri="{FF2B5EF4-FFF2-40B4-BE49-F238E27FC236}">
                  <a16:creationId xmlns:a16="http://schemas.microsoft.com/office/drawing/2014/main" id="{345009D0-25A9-30F4-906F-A901FC802494}"/>
                </a:ext>
              </a:extLst>
            </p:cNvPr>
            <p:cNvCxnSpPr>
              <a:cxnSpLocks/>
              <a:stCxn id="115" idx="0"/>
              <a:endCxn id="117" idx="2"/>
            </p:cNvCxnSpPr>
            <p:nvPr/>
          </p:nvCxnSpPr>
          <p:spPr>
            <a:xfrm flipV="1">
              <a:off x="5133943" y="4619564"/>
              <a:ext cx="0" cy="636206"/>
            </a:xfrm>
            <a:prstGeom prst="straightConnector1">
              <a:avLst/>
            </a:prstGeom>
            <a:ln>
              <a:solidFill>
                <a:schemeClr val="tx2">
                  <a:lumMod val="50000"/>
                  <a:lumOff val="50000"/>
                </a:schemeClr>
              </a:solidFill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242DF930-FB4D-7F17-1997-472A4F3B0A6A}"/>
              </a:ext>
            </a:extLst>
          </p:cNvPr>
          <p:cNvCxnSpPr>
            <a:cxnSpLocks/>
          </p:cNvCxnSpPr>
          <p:nvPr/>
        </p:nvCxnSpPr>
        <p:spPr>
          <a:xfrm>
            <a:off x="7889111" y="5841801"/>
            <a:ext cx="5648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FD9532C2-1342-7DBF-EB31-BD6DCEA94FFD}"/>
              </a:ext>
            </a:extLst>
          </p:cNvPr>
          <p:cNvCxnSpPr>
            <a:cxnSpLocks/>
          </p:cNvCxnSpPr>
          <p:nvPr/>
        </p:nvCxnSpPr>
        <p:spPr>
          <a:xfrm>
            <a:off x="7889111" y="6098976"/>
            <a:ext cx="564866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C47E4850-9024-79EF-FF78-052BE1DA5E20}"/>
              </a:ext>
            </a:extLst>
          </p:cNvPr>
          <p:cNvSpPr txBox="1"/>
          <p:nvPr/>
        </p:nvSpPr>
        <p:spPr>
          <a:xfrm>
            <a:off x="8585262" y="5722946"/>
            <a:ext cx="8418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모듈 진행</a:t>
            </a:r>
            <a:endParaRPr lang="en-US" altLang="ko-KR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r"/>
            <a:endParaRPr lang="en-US" altLang="ko-KR" sz="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r"/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 활용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C3A202-CEFF-31F8-0021-641AE5AEF1E6}"/>
              </a:ext>
            </a:extLst>
          </p:cNvPr>
          <p:cNvSpPr txBox="1"/>
          <p:nvPr/>
        </p:nvSpPr>
        <p:spPr>
          <a:xfrm>
            <a:off x="3981420" y="6461380"/>
            <a:ext cx="4778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&lt; </a:t>
            </a:r>
            <a:r>
              <a:rPr lang="ko-KR" altLang="en-US" sz="1100" b="1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장소성</a:t>
            </a:r>
            <a:r>
              <a:rPr lang="ko-KR" altLang="en-US" sz="11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정량화 시스템 내부 모듈</a:t>
            </a:r>
            <a:r>
              <a:rPr lang="en-US" altLang="ko-KR" sz="11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7593779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EC7FB-9E5B-7010-16BB-B475DC203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F5C1678-D3D8-BA8A-240C-08E08E827024}"/>
              </a:ext>
            </a:extLst>
          </p:cNvPr>
          <p:cNvSpPr/>
          <p:nvPr/>
        </p:nvSpPr>
        <p:spPr>
          <a:xfrm>
            <a:off x="7330050" y="2611070"/>
            <a:ext cx="3218989" cy="88105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706F941-58B3-8E9C-78D8-237E1C93550F}"/>
              </a:ext>
            </a:extLst>
          </p:cNvPr>
          <p:cNvSpPr/>
          <p:nvPr/>
        </p:nvSpPr>
        <p:spPr>
          <a:xfrm>
            <a:off x="1897379" y="1871381"/>
            <a:ext cx="8878237" cy="296293"/>
          </a:xfrm>
          <a:prstGeom prst="roundRect">
            <a:avLst>
              <a:gd name="adj" fmla="val 0"/>
            </a:avLst>
          </a:prstGeom>
          <a:solidFill>
            <a:schemeClr val="tx2">
              <a:lumMod val="25000"/>
              <a:lumOff val="75000"/>
              <a:alpha val="73000"/>
            </a:schemeClr>
          </a:solidFill>
          <a:ln w="1270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Pretendard" panose="02000503000000020004" pitchFamily="50" charset="-127"/>
              </a:rPr>
              <a:t>장소성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Pretendard" panose="02000503000000020004" pitchFamily="50" charset="-127"/>
              </a:rPr>
              <a:t> 정량화 시스템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OTF_ac Bold" panose="020B0600000101010101" pitchFamily="34" charset="-127"/>
              <a:ea typeface="나눔스퀘어OTF_ac Bold" panose="020B0600000101010101" pitchFamily="34" charset="-127"/>
              <a:cs typeface="Pretendard" panose="0200050300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242F9A7-8577-C63B-5C06-6B96DF28E2E5}"/>
              </a:ext>
            </a:extLst>
          </p:cNvPr>
          <p:cNvSpPr/>
          <p:nvPr/>
        </p:nvSpPr>
        <p:spPr>
          <a:xfrm>
            <a:off x="1897380" y="2259906"/>
            <a:ext cx="8878236" cy="2305302"/>
          </a:xfrm>
          <a:prstGeom prst="rect">
            <a:avLst/>
          </a:prstGeom>
          <a:noFill/>
          <a:ln w="6350" cap="flat" cmpd="sng" algn="ctr">
            <a:solidFill>
              <a:schemeClr val="tx2">
                <a:lumMod val="25000"/>
                <a:lumOff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D703EC9-0189-A507-5620-89AC13378E17}"/>
              </a:ext>
            </a:extLst>
          </p:cNvPr>
          <p:cNvSpPr txBox="1"/>
          <p:nvPr/>
        </p:nvSpPr>
        <p:spPr>
          <a:xfrm>
            <a:off x="6261382" y="3664673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평가 기준 참조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2C93CB5B-B4DA-C8AC-1164-37C138FC0123}"/>
              </a:ext>
            </a:extLst>
          </p:cNvPr>
          <p:cNvSpPr/>
          <p:nvPr/>
        </p:nvSpPr>
        <p:spPr>
          <a:xfrm>
            <a:off x="3093137" y="4011996"/>
            <a:ext cx="6200456" cy="272627"/>
          </a:xfrm>
          <a:prstGeom prst="roundRect">
            <a:avLst>
              <a:gd name="adj" fmla="val 0"/>
            </a:avLst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29240A-B45A-FAA7-CDF2-EEE52C59096E}"/>
              </a:ext>
            </a:extLst>
          </p:cNvPr>
          <p:cNvSpPr txBox="1"/>
          <p:nvPr/>
        </p:nvSpPr>
        <p:spPr>
          <a:xfrm>
            <a:off x="4560150" y="4028042"/>
            <a:ext cx="32682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선행연구 기반 </a:t>
            </a:r>
            <a:r>
              <a:rPr lang="ko-KR" altLang="en-US" sz="10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 평가 체계</a:t>
            </a:r>
            <a:endParaRPr lang="en-US" altLang="ko-KR" sz="10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87D160D7-5A4D-94AB-4B7B-56B19C511916}"/>
              </a:ext>
            </a:extLst>
          </p:cNvPr>
          <p:cNvSpPr/>
          <p:nvPr/>
        </p:nvSpPr>
        <p:spPr>
          <a:xfrm>
            <a:off x="3093137" y="4273673"/>
            <a:ext cx="6200456" cy="96133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0B8FA592-8222-04A0-2CD1-D8A32F55502B}"/>
              </a:ext>
            </a:extLst>
          </p:cNvPr>
          <p:cNvSpPr/>
          <p:nvPr/>
        </p:nvSpPr>
        <p:spPr>
          <a:xfrm>
            <a:off x="2108198" y="2387248"/>
            <a:ext cx="4944133" cy="223698"/>
          </a:xfrm>
          <a:prstGeom prst="roundRect">
            <a:avLst>
              <a:gd name="adj" fmla="val 0"/>
            </a:avLst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D5D4F41-4F62-8ABE-A806-923D22C08F28}"/>
              </a:ext>
            </a:extLst>
          </p:cNvPr>
          <p:cNvSpPr txBox="1"/>
          <p:nvPr/>
        </p:nvSpPr>
        <p:spPr>
          <a:xfrm>
            <a:off x="2275943" y="2394063"/>
            <a:ext cx="45611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 매핑 모듈</a:t>
            </a:r>
            <a:endParaRPr lang="en-US" altLang="ko-KR" sz="10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FDEB4DD5-F943-3F94-9566-C09F7D8CC42F}"/>
              </a:ext>
            </a:extLst>
          </p:cNvPr>
          <p:cNvSpPr/>
          <p:nvPr/>
        </p:nvSpPr>
        <p:spPr>
          <a:xfrm>
            <a:off x="2108202" y="2610946"/>
            <a:ext cx="4944132" cy="8811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C1776B38-5191-DBD6-701E-17191BA15D0A}"/>
              </a:ext>
            </a:extLst>
          </p:cNvPr>
          <p:cNvSpPr/>
          <p:nvPr/>
        </p:nvSpPr>
        <p:spPr>
          <a:xfrm>
            <a:off x="5509396" y="2751428"/>
            <a:ext cx="1363821" cy="603504"/>
          </a:xfrm>
          <a:prstGeom prst="roundRect">
            <a:avLst>
              <a:gd name="adj" fmla="val 0"/>
            </a:avLst>
          </a:prstGeom>
          <a:ln w="9525"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LLM </a:t>
            </a: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기반 리뷰 문장 </a:t>
            </a:r>
            <a:endParaRPr lang="en-US" altLang="ko-KR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ts val="12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구</a:t>
            </a:r>
            <a:r>
              <a: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절의 </a:t>
            </a:r>
            <a:r>
              <a:rPr lang="ko-KR" altLang="en-US" sz="9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 매핑</a:t>
            </a:r>
            <a:endParaRPr lang="en-US" altLang="ko-KR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4A1EFD51-9677-0191-D4B3-92CFB43C2DB3}"/>
              </a:ext>
            </a:extLst>
          </p:cNvPr>
          <p:cNvCxnSpPr>
            <a:cxnSpLocks/>
            <a:stCxn id="69" idx="0"/>
            <a:endCxn id="77" idx="2"/>
          </p:cNvCxnSpPr>
          <p:nvPr/>
        </p:nvCxnSpPr>
        <p:spPr>
          <a:xfrm flipV="1">
            <a:off x="6191307" y="3354932"/>
            <a:ext cx="0" cy="646837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4533C20E-CEB5-20AC-3E8C-0AFE1F63C3C4}"/>
              </a:ext>
            </a:extLst>
          </p:cNvPr>
          <p:cNvCxnSpPr>
            <a:cxnSpLocks/>
          </p:cNvCxnSpPr>
          <p:nvPr/>
        </p:nvCxnSpPr>
        <p:spPr>
          <a:xfrm>
            <a:off x="3692191" y="3051537"/>
            <a:ext cx="179463" cy="0"/>
          </a:xfrm>
          <a:prstGeom prst="straightConnector1">
            <a:avLst/>
          </a:prstGeom>
          <a:ln w="19050">
            <a:headEnd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1C69FF1-240E-89A6-A7F2-5829976674CB}"/>
              </a:ext>
            </a:extLst>
          </p:cNvPr>
          <p:cNvSpPr/>
          <p:nvPr/>
        </p:nvSpPr>
        <p:spPr>
          <a:xfrm>
            <a:off x="3924837" y="2750171"/>
            <a:ext cx="1322651" cy="603504"/>
          </a:xfrm>
          <a:prstGeom prst="roundRect">
            <a:avLst>
              <a:gd name="adj" fmla="val 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리뷰 문장 의미 단위 분리</a:t>
            </a:r>
            <a:endParaRPr lang="en-US" altLang="ko-KR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ts val="1200"/>
              </a:lnSpc>
            </a:pPr>
            <a:r>
              <a: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구</a:t>
            </a:r>
            <a:r>
              <a: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절 단위 분리</a:t>
            </a:r>
            <a:r>
              <a: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0291EAF9-2953-0DDB-BA7D-AD71B4347084}"/>
              </a:ext>
            </a:extLst>
          </p:cNvPr>
          <p:cNvSpPr/>
          <p:nvPr/>
        </p:nvSpPr>
        <p:spPr>
          <a:xfrm>
            <a:off x="3091079" y="4001769"/>
            <a:ext cx="6200456" cy="1233241"/>
          </a:xfrm>
          <a:prstGeom prst="roundRect">
            <a:avLst>
              <a:gd name="adj" fmla="val 1776"/>
            </a:avLst>
          </a:prstGeom>
          <a:noFill/>
          <a:ln w="12700">
            <a:solidFill>
              <a:schemeClr val="tx2">
                <a:lumMod val="90000"/>
                <a:lumOff val="1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이등변 삼각형 30">
            <a:extLst>
              <a:ext uri="{FF2B5EF4-FFF2-40B4-BE49-F238E27FC236}">
                <a16:creationId xmlns:a16="http://schemas.microsoft.com/office/drawing/2014/main" id="{2F5632FF-07B7-077C-2A0B-1861B94912D6}"/>
              </a:ext>
            </a:extLst>
          </p:cNvPr>
          <p:cNvSpPr/>
          <p:nvPr/>
        </p:nvSpPr>
        <p:spPr>
          <a:xfrm rot="5400000">
            <a:off x="1445355" y="3295778"/>
            <a:ext cx="510246" cy="160973"/>
          </a:xfrm>
          <a:prstGeom prst="triangle">
            <a:avLst/>
          </a:prstGeom>
          <a:solidFill>
            <a:schemeClr val="bg1">
              <a:lumMod val="85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498770DA-C813-EA91-B3BD-9C8C6E4656BC}"/>
              </a:ext>
            </a:extLst>
          </p:cNvPr>
          <p:cNvSpPr txBox="1"/>
          <p:nvPr/>
        </p:nvSpPr>
        <p:spPr>
          <a:xfrm>
            <a:off x="609120" y="1939230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CBF24601-1592-6CCD-8CEF-B6AB118B1FCD}"/>
              </a:ext>
            </a:extLst>
          </p:cNvPr>
          <p:cNvSpPr txBox="1"/>
          <p:nvPr/>
        </p:nvSpPr>
        <p:spPr>
          <a:xfrm>
            <a:off x="11202004" y="1939230"/>
            <a:ext cx="7409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5D3706CB-9BDA-98FF-6931-8916E3C4B0F9}"/>
              </a:ext>
            </a:extLst>
          </p:cNvPr>
          <p:cNvSpPr/>
          <p:nvPr/>
        </p:nvSpPr>
        <p:spPr>
          <a:xfrm>
            <a:off x="142198" y="2486554"/>
            <a:ext cx="1359838" cy="208460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36000" rtlCol="0" anchor="t"/>
          <a:lstStyle/>
          <a:p>
            <a:pPr algn="ctr">
              <a:lnSpc>
                <a:spcPts val="1400"/>
              </a:lnSpc>
            </a:pPr>
            <a:endParaRPr lang="en-US" altLang="ko-KR" sz="3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r>
              <a:rPr lang="ko-KR" altLang="en-US" sz="10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텍스트 리뷰 데이터</a:t>
            </a: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0E82A4D7-8880-6783-B5D9-57447D363CCA}"/>
              </a:ext>
            </a:extLst>
          </p:cNvPr>
          <p:cNvSpPr/>
          <p:nvPr/>
        </p:nvSpPr>
        <p:spPr>
          <a:xfrm>
            <a:off x="11154179" y="2499837"/>
            <a:ext cx="908576" cy="185832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36000" rtlCol="0" anchor="t"/>
          <a:lstStyle/>
          <a:p>
            <a:pPr algn="ctr">
              <a:lnSpc>
                <a:spcPts val="1400"/>
              </a:lnSpc>
            </a:pP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r>
              <a:rPr lang="ko-KR" altLang="en-US" sz="10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장소성</a:t>
            </a:r>
            <a:r>
              <a:rPr lang="ko-KR" altLang="en-US" sz="10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 점수</a:t>
            </a:r>
            <a:endParaRPr lang="en-US" altLang="ko-KR" sz="10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4A43B4E-3115-1B2B-D343-EDC833CDBAA9}"/>
              </a:ext>
            </a:extLst>
          </p:cNvPr>
          <p:cNvSpPr/>
          <p:nvPr/>
        </p:nvSpPr>
        <p:spPr>
          <a:xfrm>
            <a:off x="11224813" y="2980443"/>
            <a:ext cx="770628" cy="1123613"/>
          </a:xfrm>
          <a:prstGeom prst="rect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6F72D8A-1DC5-400E-A7B1-051CD329BD43}"/>
              </a:ext>
            </a:extLst>
          </p:cNvPr>
          <p:cNvSpPr txBox="1"/>
          <p:nvPr/>
        </p:nvSpPr>
        <p:spPr>
          <a:xfrm>
            <a:off x="11154739" y="3100361"/>
            <a:ext cx="9265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개방성</a:t>
            </a:r>
            <a:r>
              <a:rPr lang="en-US" altLang="ko-KR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0.95</a:t>
            </a:r>
          </a:p>
          <a:p>
            <a:pPr algn="ctr"/>
            <a:r>
              <a:rPr lang="ko-KR" altLang="en-US" sz="8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쾌적성</a:t>
            </a:r>
            <a:r>
              <a:rPr lang="en-US" altLang="ko-KR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0.8</a:t>
            </a:r>
          </a:p>
          <a:p>
            <a:pPr algn="ctr"/>
            <a:r>
              <a:rPr lang="ko-KR" altLang="en-US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활동성</a:t>
            </a:r>
            <a:r>
              <a:rPr lang="en-US" altLang="ko-KR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0.8</a:t>
            </a:r>
          </a:p>
          <a:p>
            <a:pPr algn="ctr"/>
            <a:r>
              <a:rPr lang="ko-KR" altLang="en-US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감각적 경험</a:t>
            </a:r>
            <a:r>
              <a:rPr lang="en-US" altLang="ko-KR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0.9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6AD1CBD-B1B2-AE1B-AE40-1EB5B5D37F8A}"/>
              </a:ext>
            </a:extLst>
          </p:cNvPr>
          <p:cNvSpPr txBox="1"/>
          <p:nvPr/>
        </p:nvSpPr>
        <p:spPr>
          <a:xfrm>
            <a:off x="11486530" y="3725619"/>
            <a:ext cx="400238" cy="188664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en-US" altLang="ko-KR" sz="1401" dirty="0"/>
              <a:t>…</a:t>
            </a:r>
            <a:endParaRPr lang="ko-KR" altLang="en-US" sz="140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E201AE3-82BD-416C-9301-F7F804230D57}"/>
              </a:ext>
            </a:extLst>
          </p:cNvPr>
          <p:cNvSpPr txBox="1"/>
          <p:nvPr/>
        </p:nvSpPr>
        <p:spPr>
          <a:xfrm>
            <a:off x="3888798" y="6337176"/>
            <a:ext cx="4778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&lt; </a:t>
            </a:r>
            <a:r>
              <a:rPr lang="ko-KR" altLang="en-US" sz="1100" b="1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장소성</a:t>
            </a:r>
            <a:r>
              <a:rPr lang="ko-KR" altLang="en-US" sz="11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정량화 시스템 내부 프로세스</a:t>
            </a:r>
            <a:r>
              <a:rPr lang="en-US" altLang="ko-KR" sz="11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</a:t>
            </a:r>
          </a:p>
        </p:txBody>
      </p:sp>
      <p:sp>
        <p:nvSpPr>
          <p:cNvPr id="82" name="말풍선: 모서리가 둥근 사각형 81">
            <a:extLst>
              <a:ext uri="{FF2B5EF4-FFF2-40B4-BE49-F238E27FC236}">
                <a16:creationId xmlns:a16="http://schemas.microsoft.com/office/drawing/2014/main" id="{42BA251B-16DF-3511-F7C7-CD58526A2E6E}"/>
              </a:ext>
            </a:extLst>
          </p:cNvPr>
          <p:cNvSpPr/>
          <p:nvPr/>
        </p:nvSpPr>
        <p:spPr>
          <a:xfrm>
            <a:off x="394196" y="2897982"/>
            <a:ext cx="1025949" cy="1285174"/>
          </a:xfrm>
          <a:prstGeom prst="wedgeRoundRectCallout">
            <a:avLst>
              <a:gd name="adj1" fmla="val -54947"/>
              <a:gd name="adj2" fmla="val 34883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36000" rIns="0" bIns="3600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“</a:t>
            </a:r>
            <a:r>
              <a:rPr lang="ko-KR" altLang="en-US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매장이 넓고 통창이라서 시야가 시원합니다</a:t>
            </a:r>
            <a:r>
              <a:rPr lang="en-US" altLang="ko-KR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. </a:t>
            </a:r>
          </a:p>
          <a:p>
            <a:pPr marL="0" marR="0" lvl="0" indent="0" algn="ctr" defTabSz="914400" rtl="0" eaLnBrk="1" fontAlgn="auto" latinLnBrk="1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2</a:t>
            </a:r>
            <a:r>
              <a:rPr lang="ko-KR" altLang="en-US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층은 많이 시끄럽고 </a:t>
            </a:r>
            <a:endParaRPr lang="en-US" altLang="ko-KR" sz="700" i="1" dirty="0"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1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3</a:t>
            </a:r>
            <a:r>
              <a:rPr lang="ko-KR" altLang="en-US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층은 조용한 편이에요</a:t>
            </a:r>
            <a:r>
              <a:rPr lang="en-US" altLang="ko-KR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화장실도 깔끔하고 </a:t>
            </a:r>
            <a:endParaRPr lang="en-US" altLang="ko-KR" sz="700" i="1" dirty="0"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1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커피가 </a:t>
            </a:r>
            <a:r>
              <a:rPr lang="en-US" altLang="ko-KR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XX</a:t>
            </a:r>
            <a:r>
              <a:rPr lang="ko-KR" altLang="en-US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매장 </a:t>
            </a:r>
            <a:endParaRPr lang="en-US" altLang="ko-KR" sz="700" i="1" dirty="0"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1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다녀본 곳 중에서는 제일 맛있는 것 같아요</a:t>
            </a:r>
            <a:r>
              <a:rPr lang="en-US" altLang="ko-KR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.”</a:t>
            </a:r>
          </a:p>
        </p:txBody>
      </p:sp>
      <p:pic>
        <p:nvPicPr>
          <p:cNvPr id="83" name="그림 82">
            <a:extLst>
              <a:ext uri="{FF2B5EF4-FFF2-40B4-BE49-F238E27FC236}">
                <a16:creationId xmlns:a16="http://schemas.microsoft.com/office/drawing/2014/main" id="{9A7C454B-E14B-94A2-39D3-8D6AC5A09F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9" b="16768"/>
          <a:stretch>
            <a:fillRect/>
          </a:stretch>
        </p:blipFill>
        <p:spPr>
          <a:xfrm>
            <a:off x="141506" y="4163204"/>
            <a:ext cx="415292" cy="335475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A7F3F0B0-93B3-83F0-C63F-677FB76481CD}"/>
              </a:ext>
            </a:extLst>
          </p:cNvPr>
          <p:cNvSpPr txBox="1"/>
          <p:nvPr/>
        </p:nvSpPr>
        <p:spPr>
          <a:xfrm>
            <a:off x="826602" y="4259091"/>
            <a:ext cx="400238" cy="229758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en-US" altLang="ko-KR" sz="1401" dirty="0"/>
              <a:t>…</a:t>
            </a:r>
            <a:endParaRPr lang="ko-KR" altLang="en-US" sz="1401" dirty="0"/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7264362A-9D6F-F36E-E3A9-E2202E58961C}"/>
              </a:ext>
            </a:extLst>
          </p:cNvPr>
          <p:cNvCxnSpPr>
            <a:cxnSpLocks/>
          </p:cNvCxnSpPr>
          <p:nvPr/>
        </p:nvCxnSpPr>
        <p:spPr>
          <a:xfrm>
            <a:off x="10607160" y="5190394"/>
            <a:ext cx="5648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032D01A4-D86E-8450-37C6-BD2C609C8F93}"/>
              </a:ext>
            </a:extLst>
          </p:cNvPr>
          <p:cNvCxnSpPr>
            <a:cxnSpLocks/>
          </p:cNvCxnSpPr>
          <p:nvPr/>
        </p:nvCxnSpPr>
        <p:spPr>
          <a:xfrm>
            <a:off x="10607160" y="5447569"/>
            <a:ext cx="564866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4270ABF9-D69D-6386-C6B2-2BD56607B380}"/>
              </a:ext>
            </a:extLst>
          </p:cNvPr>
          <p:cNvSpPr txBox="1"/>
          <p:nvPr/>
        </p:nvSpPr>
        <p:spPr>
          <a:xfrm>
            <a:off x="11172026" y="4958686"/>
            <a:ext cx="852955" cy="6678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>
              <a:lnSpc>
                <a:spcPct val="180000"/>
              </a:lnSpc>
            </a:pP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모듈 진행</a:t>
            </a:r>
            <a:endParaRPr lang="en-US" altLang="ko-KR" sz="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r">
              <a:lnSpc>
                <a:spcPct val="180000"/>
              </a:lnSpc>
            </a:pP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 활용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009D460-A47D-B480-49CF-9378A3B8E322}"/>
              </a:ext>
            </a:extLst>
          </p:cNvPr>
          <p:cNvSpPr/>
          <p:nvPr/>
        </p:nvSpPr>
        <p:spPr>
          <a:xfrm>
            <a:off x="7333534" y="2387372"/>
            <a:ext cx="3215505" cy="230587"/>
          </a:xfrm>
          <a:prstGeom prst="roundRect">
            <a:avLst>
              <a:gd name="adj" fmla="val 0"/>
            </a:avLst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74466E-51FB-AFAC-729C-0E9E1D8CB5B4}"/>
              </a:ext>
            </a:extLst>
          </p:cNvPr>
          <p:cNvSpPr txBox="1"/>
          <p:nvPr/>
        </p:nvSpPr>
        <p:spPr>
          <a:xfrm>
            <a:off x="7514157" y="2398011"/>
            <a:ext cx="30348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요인별 점수화 모듈</a:t>
            </a:r>
            <a:endParaRPr lang="en-US" altLang="ko-KR" sz="10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70DDEF0-46FA-BB03-C349-60D762BAB00C}"/>
              </a:ext>
            </a:extLst>
          </p:cNvPr>
          <p:cNvGrpSpPr/>
          <p:nvPr/>
        </p:nvGrpSpPr>
        <p:grpSpPr>
          <a:xfrm>
            <a:off x="7445037" y="2750594"/>
            <a:ext cx="2973085" cy="600988"/>
            <a:chOff x="4488307" y="3045127"/>
            <a:chExt cx="2870646" cy="740245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C759E51F-0145-5075-E16A-126A91B867E6}"/>
                </a:ext>
              </a:extLst>
            </p:cNvPr>
            <p:cNvSpPr/>
            <p:nvPr/>
          </p:nvSpPr>
          <p:spPr>
            <a:xfrm>
              <a:off x="4488307" y="3045127"/>
              <a:ext cx="1397834" cy="740245"/>
            </a:xfrm>
            <a:prstGeom prst="roundRect">
              <a:avLst>
                <a:gd name="adj" fmla="val 0"/>
              </a:avLst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요인별</a:t>
              </a:r>
              <a:r>
                <a:rPr lang="en-US" altLang="ko-KR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리뷰 문장 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algn="ctr">
                <a:lnSpc>
                  <a:spcPts val="1200"/>
                </a:lnSpc>
              </a:pP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긍정</a:t>
              </a:r>
              <a:r>
                <a:rPr lang="en-US" altLang="ko-KR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 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중립</a:t>
              </a:r>
              <a:r>
                <a:rPr lang="en-US" altLang="ko-KR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·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혼합</a:t>
              </a:r>
              <a:r>
                <a:rPr lang="en-US" altLang="ko-KR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 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부정 판단</a:t>
              </a: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B4D40851-8466-37C2-61F0-A0003B61BE03}"/>
                </a:ext>
              </a:extLst>
            </p:cNvPr>
            <p:cNvSpPr/>
            <p:nvPr/>
          </p:nvSpPr>
          <p:spPr>
            <a:xfrm>
              <a:off x="6122902" y="3045129"/>
              <a:ext cx="1236051" cy="740243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요인별 점수화 및 종합 점수 산출 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2C400D34-081D-0B4F-048C-BCCF0DC71CCA}"/>
              </a:ext>
            </a:extLst>
          </p:cNvPr>
          <p:cNvCxnSpPr>
            <a:cxnSpLocks/>
          </p:cNvCxnSpPr>
          <p:nvPr/>
        </p:nvCxnSpPr>
        <p:spPr>
          <a:xfrm>
            <a:off x="7065377" y="3051599"/>
            <a:ext cx="244671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이등변 삼각형 43">
            <a:extLst>
              <a:ext uri="{FF2B5EF4-FFF2-40B4-BE49-F238E27FC236}">
                <a16:creationId xmlns:a16="http://schemas.microsoft.com/office/drawing/2014/main" id="{76C1CEFF-0F37-7EDD-ECC4-3804A704082A}"/>
              </a:ext>
            </a:extLst>
          </p:cNvPr>
          <p:cNvSpPr/>
          <p:nvPr/>
        </p:nvSpPr>
        <p:spPr>
          <a:xfrm rot="5400000">
            <a:off x="10723880" y="3295777"/>
            <a:ext cx="510246" cy="160973"/>
          </a:xfrm>
          <a:prstGeom prst="triangle">
            <a:avLst/>
          </a:prstGeom>
          <a:solidFill>
            <a:schemeClr val="bg1">
              <a:lumMod val="85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7353EA21-E354-7715-824D-480D98D16039}"/>
              </a:ext>
            </a:extLst>
          </p:cNvPr>
          <p:cNvSpPr/>
          <p:nvPr/>
        </p:nvSpPr>
        <p:spPr>
          <a:xfrm>
            <a:off x="2275091" y="2750171"/>
            <a:ext cx="1372231" cy="603504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리뷰 데이터 형식 정제 및 공간 관련 리뷰 필터링</a:t>
            </a:r>
            <a:endParaRPr lang="en-US" altLang="ko-KR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C0381BE-29FE-39E5-0D9B-59931DB127A0}"/>
              </a:ext>
            </a:extLst>
          </p:cNvPr>
          <p:cNvSpPr/>
          <p:nvPr/>
        </p:nvSpPr>
        <p:spPr>
          <a:xfrm>
            <a:off x="3297637" y="4446808"/>
            <a:ext cx="1125979" cy="603504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ko-KR" altLang="en-US" sz="9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형성 요소</a:t>
            </a:r>
            <a:endParaRPr lang="en-US" altLang="ko-KR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ts val="12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재구성</a:t>
            </a:r>
            <a:endParaRPr lang="en-US" altLang="ko-KR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9CC9132-1A38-24DD-1947-03FDD5D2921F}"/>
              </a:ext>
            </a:extLst>
          </p:cNvPr>
          <p:cNvSpPr/>
          <p:nvPr/>
        </p:nvSpPr>
        <p:spPr>
          <a:xfrm>
            <a:off x="4787767" y="4446808"/>
            <a:ext cx="1183275" cy="603504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ko-KR" altLang="en-US" sz="9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요인별 </a:t>
            </a:r>
            <a:endParaRPr lang="en-US" altLang="ko-KR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ts val="12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건축계획 특성 정의</a:t>
            </a:r>
            <a:endParaRPr lang="en-US" altLang="ko-KR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486110F-BD69-9AB1-DFED-AC07201376FC}"/>
              </a:ext>
            </a:extLst>
          </p:cNvPr>
          <p:cNvSpPr/>
          <p:nvPr/>
        </p:nvSpPr>
        <p:spPr>
          <a:xfrm>
            <a:off x="6335192" y="4446808"/>
            <a:ext cx="1125979" cy="603504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ko-KR" altLang="en-US" sz="9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요인별 </a:t>
            </a:r>
            <a:endParaRPr lang="en-US" altLang="ko-KR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ts val="12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기준 문장 정의</a:t>
            </a:r>
            <a:endParaRPr lang="en-US" altLang="ko-KR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C40F751-BCC5-A5C4-CC7F-F79D03F9167A}"/>
              </a:ext>
            </a:extLst>
          </p:cNvPr>
          <p:cNvCxnSpPr>
            <a:cxnSpLocks/>
          </p:cNvCxnSpPr>
          <p:nvPr/>
        </p:nvCxnSpPr>
        <p:spPr>
          <a:xfrm>
            <a:off x="5295113" y="3070587"/>
            <a:ext cx="179463" cy="0"/>
          </a:xfrm>
          <a:prstGeom prst="straightConnector1">
            <a:avLst/>
          </a:prstGeom>
          <a:ln w="19050">
            <a:headEnd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AF8577BF-60F6-B882-CDFA-2E25690CB071}"/>
              </a:ext>
            </a:extLst>
          </p:cNvPr>
          <p:cNvCxnSpPr>
            <a:cxnSpLocks/>
          </p:cNvCxnSpPr>
          <p:nvPr/>
        </p:nvCxnSpPr>
        <p:spPr>
          <a:xfrm>
            <a:off x="4515960" y="4754188"/>
            <a:ext cx="179463" cy="0"/>
          </a:xfrm>
          <a:prstGeom prst="straightConnector1">
            <a:avLst/>
          </a:prstGeom>
          <a:ln w="19050">
            <a:headEnd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C797B4B5-56AB-D33F-C83C-07E39A09CBEB}"/>
              </a:ext>
            </a:extLst>
          </p:cNvPr>
          <p:cNvCxnSpPr>
            <a:cxnSpLocks/>
          </p:cNvCxnSpPr>
          <p:nvPr/>
        </p:nvCxnSpPr>
        <p:spPr>
          <a:xfrm>
            <a:off x="6063386" y="4754188"/>
            <a:ext cx="179463" cy="0"/>
          </a:xfrm>
          <a:prstGeom prst="straightConnector1">
            <a:avLst/>
          </a:prstGeom>
          <a:ln w="19050">
            <a:headEnd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6CAF9620-CC82-B544-7D26-223F9E0872BA}"/>
              </a:ext>
            </a:extLst>
          </p:cNvPr>
          <p:cNvCxnSpPr>
            <a:cxnSpLocks/>
          </p:cNvCxnSpPr>
          <p:nvPr/>
        </p:nvCxnSpPr>
        <p:spPr>
          <a:xfrm>
            <a:off x="8935939" y="3046780"/>
            <a:ext cx="179463" cy="0"/>
          </a:xfrm>
          <a:prstGeom prst="straightConnector1">
            <a:avLst/>
          </a:prstGeom>
          <a:ln w="19050">
            <a:headEnd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DA69C379-9A65-BBB5-54D0-E015B7459582}"/>
              </a:ext>
            </a:extLst>
          </p:cNvPr>
          <p:cNvSpPr/>
          <p:nvPr/>
        </p:nvSpPr>
        <p:spPr>
          <a:xfrm>
            <a:off x="7825320" y="4452436"/>
            <a:ext cx="1322173" cy="603504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ko-KR" altLang="en-US" sz="9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요인별 추출 </a:t>
            </a:r>
            <a:r>
              <a:rPr lang="ko-KR" altLang="en-US" sz="9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기준및</a:t>
            </a: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LLM </a:t>
            </a: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프롬프트 구조화</a:t>
            </a:r>
            <a:endParaRPr lang="en-US" altLang="ko-KR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00898B61-C521-42ED-21A0-4E39F9FF835C}"/>
              </a:ext>
            </a:extLst>
          </p:cNvPr>
          <p:cNvCxnSpPr>
            <a:cxnSpLocks/>
          </p:cNvCxnSpPr>
          <p:nvPr/>
        </p:nvCxnSpPr>
        <p:spPr>
          <a:xfrm>
            <a:off x="7553515" y="4759816"/>
            <a:ext cx="179463" cy="0"/>
          </a:xfrm>
          <a:prstGeom prst="straightConnector1">
            <a:avLst/>
          </a:prstGeom>
          <a:ln w="19050">
            <a:headEnd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6556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0226AC0-9CF3-B7E6-2153-3C41A67B35C3}"/>
              </a:ext>
            </a:extLst>
          </p:cNvPr>
          <p:cNvSpPr txBox="1"/>
          <p:nvPr/>
        </p:nvSpPr>
        <p:spPr>
          <a:xfrm>
            <a:off x="3569678" y="2178793"/>
            <a:ext cx="2305050" cy="82296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“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리뷰 문장에서 다음 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10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가지 </a:t>
            </a:r>
            <a:r>
              <a:rPr lang="ko-KR" altLang="en-US" sz="105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 중 어떤 요인을 언급하는지 다중 라벨로 매핑한다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…”</a:t>
            </a:r>
            <a:endParaRPr lang="ko-KR" altLang="en-US" sz="10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DB1E46-348F-618D-2E23-79F5881A9916}"/>
              </a:ext>
            </a:extLst>
          </p:cNvPr>
          <p:cNvSpPr txBox="1"/>
          <p:nvPr/>
        </p:nvSpPr>
        <p:spPr>
          <a:xfrm>
            <a:off x="5969978" y="2178793"/>
            <a:ext cx="2395588" cy="82296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개방성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공간의 배치와 시야 구성이 외부 조망과 시각적 연결을 확보하여 확장감과 낮은 폐쇄감을 느끼게 하는 특성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…</a:t>
            </a:r>
            <a:endParaRPr lang="ko-KR" altLang="en-US" sz="1050" dirty="0">
              <a:solidFill>
                <a:schemeClr val="dk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B6469B-4968-3124-70A2-64A67F08BC6F}"/>
              </a:ext>
            </a:extLst>
          </p:cNvPr>
          <p:cNvSpPr txBox="1"/>
          <p:nvPr/>
        </p:nvSpPr>
        <p:spPr>
          <a:xfrm>
            <a:off x="3569678" y="3467993"/>
            <a:ext cx="2314575" cy="118872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개방성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공간 배치</a:t>
            </a:r>
            <a:r>
              <a:rPr lang="en-US" altLang="ko-KR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시야 연속성</a:t>
            </a:r>
            <a:r>
              <a:rPr lang="en-US" altLang="ko-KR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채광</a:t>
            </a:r>
            <a:r>
              <a:rPr lang="en-US" altLang="ko-KR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외부 조망</a:t>
            </a:r>
            <a:r>
              <a:rPr lang="en-US" altLang="ko-KR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 err="1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통창</a:t>
            </a:r>
            <a:r>
              <a:rPr lang="en-US" altLang="ko-KR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넓다</a:t>
            </a:r>
            <a:r>
              <a:rPr lang="en-US" altLang="ko-KR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답답하다</a:t>
            </a:r>
            <a:r>
              <a:rPr lang="en-US" altLang="ko-KR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좌석 간격</a:t>
            </a:r>
            <a:r>
              <a:rPr lang="en-US" altLang="ko-KR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…</a:t>
            </a:r>
            <a:endParaRPr lang="ko-KR" altLang="en-US" sz="1050" dirty="0">
              <a:solidFill>
                <a:schemeClr val="dk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BC91D5-51AA-DA25-0901-84B5F2A49364}"/>
              </a:ext>
            </a:extLst>
          </p:cNvPr>
          <p:cNvSpPr txBox="1"/>
          <p:nvPr/>
        </p:nvSpPr>
        <p:spPr>
          <a:xfrm>
            <a:off x="5969978" y="3467993"/>
            <a:ext cx="2395588" cy="118872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altLang="ko-KR" sz="105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positive_examples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"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공간이 넓고 답답하지 않아서 좋다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.", "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창이 커서 개방감이 좋고 외부 뷰가 잘 보인다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.“…,</a:t>
            </a:r>
          </a:p>
          <a:p>
            <a:r>
              <a:rPr lang="en-US" altLang="ko-KR" sz="105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negative_examples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"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좌석 간격이 좁아서 답답하다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.", "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창이 작고 내부가 폐쇄적으로 느껴진다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.“…</a:t>
            </a:r>
            <a:endParaRPr lang="ko-KR" altLang="en-US" sz="10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DFF72A3-CA09-99C0-9332-7FC0FA9098D4}"/>
              </a:ext>
            </a:extLst>
          </p:cNvPr>
          <p:cNvSpPr/>
          <p:nvPr/>
        </p:nvSpPr>
        <p:spPr>
          <a:xfrm>
            <a:off x="3427465" y="1580147"/>
            <a:ext cx="5105400" cy="3224406"/>
          </a:xfrm>
          <a:prstGeom prst="roundRect">
            <a:avLst>
              <a:gd name="adj" fmla="val 6731"/>
            </a:avLst>
          </a:prstGeom>
          <a:noFill/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B74FD3-D1DC-A201-87C3-6B01891007B3}"/>
              </a:ext>
            </a:extLst>
          </p:cNvPr>
          <p:cNvSpPr txBox="1"/>
          <p:nvPr/>
        </p:nvSpPr>
        <p:spPr>
          <a:xfrm>
            <a:off x="5133877" y="1409888"/>
            <a:ext cx="1564073" cy="340519"/>
          </a:xfrm>
          <a:prstGeom prst="roundRect">
            <a:avLst/>
          </a:prstGeom>
          <a:ln w="127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CA9A4A1-70BA-F378-0A74-85A888D83CCE}"/>
              </a:ext>
            </a:extLst>
          </p:cNvPr>
          <p:cNvSpPr/>
          <p:nvPr/>
        </p:nvSpPr>
        <p:spPr>
          <a:xfrm>
            <a:off x="4195728" y="5894370"/>
            <a:ext cx="3568487" cy="782852"/>
          </a:xfrm>
          <a:prstGeom prst="roundRect">
            <a:avLst/>
          </a:prstGeom>
          <a:solidFill>
            <a:srgbClr val="FCFEF0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매핑 요인 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1)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개방성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근거 구절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: “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창이 커서 개방감이 좋고”</a:t>
            </a:r>
          </a:p>
          <a:p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매핑 요인 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2)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접근성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근거 구절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: “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주차는 불편했다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”</a:t>
            </a:r>
            <a:endParaRPr lang="ko-KR" altLang="en-US" sz="1100" dirty="0"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05A663FA-2842-7DD3-8EB7-7E5F8798865B}"/>
              </a:ext>
            </a:extLst>
          </p:cNvPr>
          <p:cNvCxnSpPr>
            <a:cxnSpLocks/>
          </p:cNvCxnSpPr>
          <p:nvPr/>
        </p:nvCxnSpPr>
        <p:spPr>
          <a:xfrm>
            <a:off x="5979972" y="4961206"/>
            <a:ext cx="387" cy="2911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908E6F9-0A2F-9AB8-817D-EA08671B47A4}"/>
              </a:ext>
            </a:extLst>
          </p:cNvPr>
          <p:cNvSpPr/>
          <p:nvPr/>
        </p:nvSpPr>
        <p:spPr>
          <a:xfrm>
            <a:off x="3103615" y="690195"/>
            <a:ext cx="5753100" cy="4271011"/>
          </a:xfrm>
          <a:prstGeom prst="roundRect">
            <a:avLst>
              <a:gd name="adj" fmla="val 158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CA2AE544-6E90-19FF-5BA8-07CF8FD439FD}"/>
              </a:ext>
            </a:extLst>
          </p:cNvPr>
          <p:cNvSpPr/>
          <p:nvPr/>
        </p:nvSpPr>
        <p:spPr>
          <a:xfrm>
            <a:off x="3699604" y="806277"/>
            <a:ext cx="4561122" cy="492728"/>
          </a:xfrm>
          <a:prstGeom prst="roundRect">
            <a:avLst/>
          </a:prstGeom>
          <a:solidFill>
            <a:srgbClr val="F0F8FE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en-US" altLang="ko-KR" sz="1100" b="1" dirty="0">
                <a:latin typeface="Times New Roman" panose="02020603050405020304" pitchFamily="18" charset="0"/>
                <a:ea typeface="나눔바른고딕" panose="020B0603020101020101" pitchFamily="50" charset="-127"/>
                <a:cs typeface="Times New Roman" panose="02020603050405020304" pitchFamily="18" charset="0"/>
              </a:rPr>
              <a:t>Input</a:t>
            </a:r>
            <a:r>
              <a:rPr lang="en-US" altLang="ko-KR" sz="1100" dirty="0">
                <a:latin typeface="Times New Roman" panose="02020603050405020304" pitchFamily="18" charset="0"/>
                <a:ea typeface="나눔바른고딕" panose="020B0603020101020101" pitchFamily="50" charset="-127"/>
                <a:cs typeface="Times New Roman" panose="02020603050405020304" pitchFamily="18" charset="0"/>
              </a:rPr>
              <a:t>: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“창이 커서 개방감이 좋고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주차는 불편했다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.”</a:t>
            </a:r>
            <a:endParaRPr lang="ko-KR" altLang="en-US" sz="1100" dirty="0"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9C93D-FECD-B084-7A1F-23BCBED4938D}"/>
              </a:ext>
            </a:extLst>
          </p:cNvPr>
          <p:cNvSpPr txBox="1"/>
          <p:nvPr/>
        </p:nvSpPr>
        <p:spPr>
          <a:xfrm>
            <a:off x="220526" y="185171"/>
            <a:ext cx="3418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 매핑 모듈</a:t>
            </a:r>
            <a:endParaRPr lang="en-US" altLang="ko-KR" sz="12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892614-38EB-49B1-93F4-CDA574C3037B}"/>
              </a:ext>
            </a:extLst>
          </p:cNvPr>
          <p:cNvSpPr txBox="1"/>
          <p:nvPr/>
        </p:nvSpPr>
        <p:spPr>
          <a:xfrm>
            <a:off x="3689417" y="1905104"/>
            <a:ext cx="551817" cy="340519"/>
          </a:xfrm>
          <a:prstGeom prst="roundRect">
            <a:avLst/>
          </a:prstGeom>
          <a:ln w="127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60EB6D-E0AD-07C0-6923-3049592A6D2C}"/>
              </a:ext>
            </a:extLst>
          </p:cNvPr>
          <p:cNvSpPr txBox="1"/>
          <p:nvPr/>
        </p:nvSpPr>
        <p:spPr>
          <a:xfrm>
            <a:off x="6065384" y="1905104"/>
            <a:ext cx="948799" cy="340519"/>
          </a:xfrm>
          <a:prstGeom prst="roundRect">
            <a:avLst/>
          </a:prstGeom>
          <a:ln w="127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871C76-0F87-D5A9-3374-C87159F16092}"/>
              </a:ext>
            </a:extLst>
          </p:cNvPr>
          <p:cNvSpPr txBox="1"/>
          <p:nvPr/>
        </p:nvSpPr>
        <p:spPr>
          <a:xfrm>
            <a:off x="3689417" y="3203437"/>
            <a:ext cx="866141" cy="340519"/>
          </a:xfrm>
          <a:prstGeom prst="roundRect">
            <a:avLst/>
          </a:prstGeom>
          <a:ln w="127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Kewords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86A4F8-CFA3-B9B1-AD4A-B3A1EAF80212}"/>
              </a:ext>
            </a:extLst>
          </p:cNvPr>
          <p:cNvSpPr txBox="1"/>
          <p:nvPr/>
        </p:nvSpPr>
        <p:spPr>
          <a:xfrm>
            <a:off x="6065384" y="3203437"/>
            <a:ext cx="919108" cy="340519"/>
          </a:xfrm>
          <a:prstGeom prst="roundRect">
            <a:avLst/>
          </a:prstGeom>
          <a:ln w="127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226303F4-92A9-0A88-A663-6539EC75BD1D}"/>
              </a:ext>
            </a:extLst>
          </p:cNvPr>
          <p:cNvSpPr/>
          <p:nvPr/>
        </p:nvSpPr>
        <p:spPr>
          <a:xfrm>
            <a:off x="5133490" y="5252369"/>
            <a:ext cx="1693351" cy="384355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en-US" altLang="ko-KR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LLM(GPT-4o-mini)</a:t>
            </a:r>
            <a:endParaRPr lang="ko-KR" altLang="en-US" sz="1100" dirty="0"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49664225-F4A1-D0AF-3CA1-17197094470D}"/>
              </a:ext>
            </a:extLst>
          </p:cNvPr>
          <p:cNvCxnSpPr>
            <a:cxnSpLocks/>
          </p:cNvCxnSpPr>
          <p:nvPr/>
        </p:nvCxnSpPr>
        <p:spPr>
          <a:xfrm>
            <a:off x="5979972" y="5636724"/>
            <a:ext cx="0" cy="2474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55399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682EB9D-F400-19F2-0AE7-6607DF173AAA}"/>
              </a:ext>
            </a:extLst>
          </p:cNvPr>
          <p:cNvSpPr/>
          <p:nvPr/>
        </p:nvSpPr>
        <p:spPr>
          <a:xfrm>
            <a:off x="3811758" y="828544"/>
            <a:ext cx="4682278" cy="884620"/>
          </a:xfrm>
          <a:prstGeom prst="roundRect">
            <a:avLst>
              <a:gd name="adj" fmla="val 12155"/>
            </a:avLst>
          </a:prstGeom>
          <a:solidFill>
            <a:srgbClr val="FCFEF0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en-US" altLang="ko-KR" sz="1100" b="1" dirty="0">
                <a:latin typeface="Times New Roman" panose="02020603050405020304" pitchFamily="18" charset="0"/>
                <a:ea typeface="나눔바른고딕" panose="020B0603020101020101" pitchFamily="50" charset="-127"/>
                <a:cs typeface="Times New Roman" panose="02020603050405020304" pitchFamily="18" charset="0"/>
              </a:rPr>
              <a:t>Input</a:t>
            </a:r>
            <a:r>
              <a:rPr lang="en-US" altLang="ko-KR" sz="1100" dirty="0">
                <a:latin typeface="Times New Roman" panose="02020603050405020304" pitchFamily="18" charset="0"/>
                <a:ea typeface="나눔바른고딕" panose="020B0603020101020101" pitchFamily="50" charset="-127"/>
                <a:cs typeface="Times New Roman" panose="02020603050405020304" pitchFamily="18" charset="0"/>
              </a:rPr>
              <a:t>: </a:t>
            </a:r>
          </a:p>
          <a:p>
            <a:pPr algn="ctr">
              <a:lnSpc>
                <a:spcPct val="130000"/>
              </a:lnSpc>
            </a:pP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매핑 요인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: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개방성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근거 구절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: “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창이 커서 개방감이 좋고”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, “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테라스가 탁 트여서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”, “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창 밖 풍경이 시원해서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”, “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엄청 넓은 매장에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”, …</a:t>
            </a:r>
            <a:endParaRPr lang="ko-KR" altLang="en-US" sz="1100" dirty="0"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C6C8DF0-E4F5-A6F0-EF58-B260BB496BBC}"/>
              </a:ext>
            </a:extLst>
          </p:cNvPr>
          <p:cNvSpPr/>
          <p:nvPr/>
        </p:nvSpPr>
        <p:spPr>
          <a:xfrm>
            <a:off x="1488572" y="2438287"/>
            <a:ext cx="4561122" cy="884620"/>
          </a:xfrm>
          <a:prstGeom prst="roundRect">
            <a:avLst>
              <a:gd name="adj" fmla="val 77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근거 구절을</a:t>
            </a:r>
            <a:endParaRPr lang="en-US" altLang="ko-KR" sz="1100" dirty="0"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ct val="130000"/>
              </a:lnSpc>
            </a:pP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긍정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/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중립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/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부정 중 하나로 분류 후 점수화</a:t>
            </a:r>
            <a:endParaRPr lang="en-US" altLang="ko-KR" sz="1100" dirty="0"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ct val="130000"/>
              </a:lnSpc>
            </a:pPr>
            <a:r>
              <a:rPr lang="en-US" altLang="ko-KR" sz="11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1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긍정 </a:t>
            </a:r>
            <a:r>
              <a:rPr lang="en-US" altLang="ko-KR" sz="11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= +1, </a:t>
            </a:r>
            <a:r>
              <a:rPr lang="ko-KR" altLang="en-US" sz="11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중립 </a:t>
            </a:r>
            <a:r>
              <a:rPr lang="en-US" altLang="ko-KR" sz="11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= 0, </a:t>
            </a:r>
            <a:r>
              <a:rPr lang="ko-KR" altLang="en-US" sz="11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부정 </a:t>
            </a:r>
            <a:r>
              <a:rPr lang="en-US" altLang="ko-KR" sz="11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= -1)</a:t>
            </a:r>
            <a:endParaRPr lang="ko-KR" altLang="en-US" sz="1100" b="1" dirty="0"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191A020-7716-8009-3A3B-0947C7AF92C6}"/>
              </a:ext>
            </a:extLst>
          </p:cNvPr>
          <p:cNvSpPr/>
          <p:nvPr/>
        </p:nvSpPr>
        <p:spPr>
          <a:xfrm>
            <a:off x="1488574" y="4529131"/>
            <a:ext cx="4561122" cy="649524"/>
          </a:xfrm>
          <a:prstGeom prst="roundRect">
            <a:avLst>
              <a:gd name="adj" fmla="val 4033"/>
            </a:avLst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Ex) </a:t>
            </a:r>
            <a:r>
              <a:rPr lang="ko-KR" altLang="en-US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개방성</a:t>
            </a:r>
            <a:r>
              <a:rPr lang="en-US" altLang="ko-KR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: </a:t>
            </a:r>
            <a:r>
              <a:rPr lang="ko-KR" altLang="en-US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긍정 </a:t>
            </a:r>
            <a:r>
              <a:rPr lang="en-US" altLang="ko-KR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8</a:t>
            </a:r>
            <a:r>
              <a:rPr lang="ko-KR" altLang="en-US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개</a:t>
            </a:r>
            <a:r>
              <a:rPr lang="en-US" altLang="ko-KR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중립 </a:t>
            </a:r>
            <a:r>
              <a:rPr lang="en-US" altLang="ko-KR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1</a:t>
            </a:r>
            <a:r>
              <a:rPr lang="ko-KR" altLang="en-US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개</a:t>
            </a:r>
            <a:r>
              <a:rPr lang="en-US" altLang="ko-KR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부정 </a:t>
            </a:r>
            <a:r>
              <a:rPr lang="en-US" altLang="ko-KR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1</a:t>
            </a:r>
            <a:r>
              <a:rPr lang="ko-KR" altLang="en-US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개</a:t>
            </a:r>
          </a:p>
          <a:p>
            <a:pPr lvl="0" algn="ctr">
              <a:lnSpc>
                <a:spcPct val="130000"/>
              </a:lnSpc>
              <a:defRPr/>
            </a:pPr>
            <a:r>
              <a:rPr lang="en-US" altLang="ko-KR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개방성 점수</a:t>
            </a:r>
            <a:r>
              <a:rPr lang="en-US" altLang="ko-KR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)</a:t>
            </a:r>
            <a:r>
              <a:rPr lang="ko-KR" altLang="en-US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= (8 – 1) / 10 = 0.7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87EECA8-D35B-B8B6-7E27-467B8467D6C2}"/>
              </a:ext>
            </a:extLst>
          </p:cNvPr>
          <p:cNvSpPr/>
          <p:nvPr/>
        </p:nvSpPr>
        <p:spPr>
          <a:xfrm>
            <a:off x="1488574" y="3758985"/>
            <a:ext cx="4561122" cy="777892"/>
          </a:xfrm>
          <a:prstGeom prst="roundRect">
            <a:avLst>
              <a:gd name="adj" fmla="val 7083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110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점수 </a:t>
            </a:r>
            <a:endParaRPr lang="en-US" altLang="ko-KR" sz="1100" dirty="0"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ct val="130000"/>
              </a:lnSpc>
            </a:pP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= (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긍정 문장 수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 -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부정 문장 수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)/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해당 요인에 </a:t>
            </a:r>
            <a:r>
              <a:rPr lang="ko-KR" altLang="en-US" sz="11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매핑된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 전체 문장 수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CDD6631-83CD-319C-CE52-72E488F6B79E}"/>
              </a:ext>
            </a:extLst>
          </p:cNvPr>
          <p:cNvSpPr/>
          <p:nvPr/>
        </p:nvSpPr>
        <p:spPr>
          <a:xfrm>
            <a:off x="6502172" y="4529131"/>
            <a:ext cx="4561122" cy="649524"/>
          </a:xfrm>
          <a:prstGeom prst="roundRect">
            <a:avLst>
              <a:gd name="adj" fmla="val 4033"/>
            </a:avLst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Ex) </a:t>
            </a:r>
            <a:r>
              <a:rPr lang="ko-KR" altLang="en-US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개방성</a:t>
            </a:r>
            <a:r>
              <a:rPr lang="en-US" altLang="ko-KR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: 10</a:t>
            </a:r>
            <a:r>
              <a:rPr lang="ko-KR" altLang="en-US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개</a:t>
            </a:r>
            <a:r>
              <a:rPr lang="en-US" altLang="ko-KR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전체 요인</a:t>
            </a:r>
            <a:r>
              <a:rPr lang="en-US" altLang="ko-KR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: 40</a:t>
            </a:r>
            <a:r>
              <a:rPr lang="ko-KR" altLang="en-US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개 매핑</a:t>
            </a:r>
            <a:endParaRPr lang="en-US" altLang="ko-KR" sz="11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개방성 언급 빈도</a:t>
            </a:r>
            <a:r>
              <a:rPr lang="en-US" altLang="ko-KR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) = 10 / 40 = 0.25</a:t>
            </a:r>
            <a:endParaRPr lang="ko-KR" altLang="en-US" sz="11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41D02A2-C71C-CBAE-3D9D-545E7ED18896}"/>
              </a:ext>
            </a:extLst>
          </p:cNvPr>
          <p:cNvSpPr/>
          <p:nvPr/>
        </p:nvSpPr>
        <p:spPr>
          <a:xfrm>
            <a:off x="6502172" y="3749895"/>
            <a:ext cx="4561122" cy="786982"/>
          </a:xfrm>
          <a:prstGeom prst="roundRect">
            <a:avLst>
              <a:gd name="adj" fmla="val 77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11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장소성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 요인별 언급 빈도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매핑 수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)</a:t>
            </a:r>
          </a:p>
          <a:p>
            <a:pPr algn="ctr">
              <a:lnSpc>
                <a:spcPct val="130000"/>
              </a:lnSpc>
            </a:pP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= (</a:t>
            </a:r>
            <a:r>
              <a:rPr lang="ko-KR" altLang="en-US" sz="11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매핑된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 구절 수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) / (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전체 요인 </a:t>
            </a:r>
            <a:r>
              <a:rPr lang="ko-KR" altLang="en-US" sz="11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매핑된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 구절 수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A676CBC-6AD9-822F-A56D-8AE198B084EE}"/>
              </a:ext>
            </a:extLst>
          </p:cNvPr>
          <p:cNvSpPr/>
          <p:nvPr/>
        </p:nvSpPr>
        <p:spPr>
          <a:xfrm>
            <a:off x="3811758" y="5671452"/>
            <a:ext cx="4682277" cy="671013"/>
          </a:xfrm>
          <a:prstGeom prst="roundRect">
            <a:avLst>
              <a:gd name="adj" fmla="val 12155"/>
            </a:avLst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en-US" altLang="ko-KR" sz="1100" b="1" dirty="0">
                <a:latin typeface="Times New Roman" panose="02020603050405020304" pitchFamily="18" charset="0"/>
                <a:ea typeface="나눔바른고딕" panose="020B0603020101020101" pitchFamily="50" charset="-127"/>
                <a:cs typeface="Times New Roman" panose="02020603050405020304" pitchFamily="18" charset="0"/>
              </a:rPr>
              <a:t>Output</a:t>
            </a:r>
            <a:r>
              <a:rPr lang="en-US" altLang="ko-KR" sz="1100" dirty="0">
                <a:latin typeface="Times New Roman" panose="02020603050405020304" pitchFamily="18" charset="0"/>
                <a:ea typeface="나눔바른고딕" panose="020B0603020101020101" pitchFamily="50" charset="-127"/>
                <a:cs typeface="Times New Roman" panose="02020603050405020304" pitchFamily="18" charset="0"/>
              </a:rPr>
              <a:t>: </a:t>
            </a:r>
          </a:p>
          <a:p>
            <a:pPr algn="ctr">
              <a:lnSpc>
                <a:spcPct val="130000"/>
              </a:lnSpc>
            </a:pP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개방성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: 0.7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점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, 0.25</a:t>
            </a:r>
            <a:endParaRPr lang="ko-KR" altLang="en-US" sz="1100" dirty="0"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171ABAA4-147B-2867-24C9-540D5728576B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rot="5400000">
            <a:off x="4598454" y="883843"/>
            <a:ext cx="725123" cy="23837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8376B372-39D0-FE58-9174-54143FFDD53D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3769133" y="3322907"/>
            <a:ext cx="2" cy="4360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72938EF6-2CEC-114D-59F7-680A201FFE03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 rot="16200000" flipH="1">
            <a:off x="6449450" y="1416611"/>
            <a:ext cx="2036731" cy="2629836"/>
          </a:xfrm>
          <a:prstGeom prst="bentConnector3">
            <a:avLst>
              <a:gd name="adj1" fmla="val 1793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CC5D42E3-056D-21AF-2A07-695AAB014903}"/>
              </a:ext>
            </a:extLst>
          </p:cNvPr>
          <p:cNvCxnSpPr>
            <a:cxnSpLocks/>
            <a:endCxn id="17" idx="0"/>
          </p:cNvCxnSpPr>
          <p:nvPr/>
        </p:nvCxnSpPr>
        <p:spPr>
          <a:xfrm rot="16200000" flipH="1">
            <a:off x="4714617" y="4233172"/>
            <a:ext cx="492796" cy="238376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48141EA4-26FA-A18F-FFE2-A83F8F95D13F}"/>
              </a:ext>
            </a:extLst>
          </p:cNvPr>
          <p:cNvCxnSpPr>
            <a:cxnSpLocks/>
            <a:stCxn id="15" idx="2"/>
            <a:endCxn id="17" idx="0"/>
          </p:cNvCxnSpPr>
          <p:nvPr/>
        </p:nvCxnSpPr>
        <p:spPr>
          <a:xfrm rot="5400000">
            <a:off x="7221417" y="4110135"/>
            <a:ext cx="492797" cy="26298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2ADB905-610B-CB16-A818-37D8C0E92E79}"/>
              </a:ext>
            </a:extLst>
          </p:cNvPr>
          <p:cNvSpPr txBox="1"/>
          <p:nvPr/>
        </p:nvSpPr>
        <p:spPr>
          <a:xfrm>
            <a:off x="220526" y="185171"/>
            <a:ext cx="3418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 점수화 모듈</a:t>
            </a:r>
            <a:endParaRPr lang="en-US" altLang="ko-KR" sz="12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033927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0C22F-8237-AFD5-F4E6-C336A307C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8D29E46-C43E-DD05-B4DF-01134F49E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63" y="170765"/>
            <a:ext cx="10515600" cy="8899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5. </a:t>
            </a:r>
            <a:r>
              <a:rPr lang="ko-KR" altLang="en-US" sz="2400" b="1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사용 데이터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4616BA-4436-1782-F608-34BF3683B624}"/>
              </a:ext>
            </a:extLst>
          </p:cNvPr>
          <p:cNvSpPr txBox="1"/>
          <p:nvPr/>
        </p:nvSpPr>
        <p:spPr>
          <a:xfrm>
            <a:off x="2335468" y="1249573"/>
            <a:ext cx="3422302" cy="739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장소</a:t>
            </a:r>
            <a:endParaRPr lang="en-US" altLang="ko-KR" sz="1401" b="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  <a:p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-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이용자가 방문하고 리뷰를 남긴 상업공간</a:t>
            </a:r>
            <a:endParaRPr lang="en-US" altLang="ko-KR" sz="140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  <a:p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-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실증 대상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: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서울시 카페</a:t>
            </a:r>
            <a:endParaRPr lang="en-US" altLang="ko-KR" sz="140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89B9DE-996F-6F63-0ED8-EC592317F21C}"/>
              </a:ext>
            </a:extLst>
          </p:cNvPr>
          <p:cNvSpPr txBox="1"/>
          <p:nvPr/>
        </p:nvSpPr>
        <p:spPr>
          <a:xfrm>
            <a:off x="2406261" y="2155036"/>
            <a:ext cx="2981325" cy="18697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28600" indent="-228600">
              <a:buAutoNum type="arabicParenR"/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서울시 내 카페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출처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105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공공데이터포털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https://www.data.go.kr/data/15083033/fileData.do)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업종 분류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28600" indent="-228600">
              <a:buAutoNum type="arabicParenBoth"/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음식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기타 간이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빵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도넛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28600" indent="-228600">
              <a:buAutoNum type="arabicParenBoth"/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음식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비알코올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카페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총 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27,661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곳</a:t>
            </a:r>
            <a:endParaRPr lang="en-US" altLang="ko-KR" sz="12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9808BF-82E6-2B64-85F4-FDB4EB848BE8}"/>
              </a:ext>
            </a:extLst>
          </p:cNvPr>
          <p:cNvSpPr txBox="1"/>
          <p:nvPr/>
        </p:nvSpPr>
        <p:spPr>
          <a:xfrm>
            <a:off x="2406260" y="4639557"/>
            <a:ext cx="2981325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2)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서울시 내 카페 표본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목록 내 서울시 행정구별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(25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100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개씩 무작위 선별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총 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2500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곳</a:t>
            </a:r>
            <a:endParaRPr lang="en-US" altLang="ko-KR" sz="12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F1351F-FC8C-6137-4DD6-6B3EC330F89D}"/>
              </a:ext>
            </a:extLst>
          </p:cNvPr>
          <p:cNvSpPr txBox="1"/>
          <p:nvPr/>
        </p:nvSpPr>
        <p:spPr>
          <a:xfrm>
            <a:off x="6454387" y="2155036"/>
            <a:ext cx="2981325" cy="10972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3)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서울시 카페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2500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곳의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구글맵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리뷰 수집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리뷰가 없는 곳을 제외한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1,728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곳을 대상으로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34,671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건 수집</a:t>
            </a:r>
            <a:endParaRPr lang="en-US" altLang="ko-KR" sz="12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4F2162-470E-F349-CE30-054851F6EA3F}"/>
              </a:ext>
            </a:extLst>
          </p:cNvPr>
          <p:cNvSpPr txBox="1"/>
          <p:nvPr/>
        </p:nvSpPr>
        <p:spPr>
          <a:xfrm>
            <a:off x="6363439" y="1175595"/>
            <a:ext cx="2964263" cy="388761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해당 장소의 리뷰 텍스트</a:t>
            </a:r>
            <a:endParaRPr lang="en-US" altLang="ko-KR" sz="1401" b="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E57F26-84E4-03B0-3525-552324CB7266}"/>
              </a:ext>
            </a:extLst>
          </p:cNvPr>
          <p:cNvSpPr txBox="1"/>
          <p:nvPr/>
        </p:nvSpPr>
        <p:spPr>
          <a:xfrm>
            <a:off x="6454387" y="3725157"/>
            <a:ext cx="2981325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4)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리뷰에서 장소성과 관련 있는 리뷰 선별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17,641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건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리뷰가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요인과 매핑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1,486 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곳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장소에 해당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6656E6C6-015A-CF97-0FCC-7C2E189C9E36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 flipH="1">
            <a:off x="3896923" y="4024779"/>
            <a:ext cx="1" cy="6147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45C7A640-EDEE-CB6D-B240-2E55353CD094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5387585" y="2703676"/>
            <a:ext cx="1066802" cy="253604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051CEEB-B4EE-4DFF-0F36-ACE3FD2404D0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>
            <a:off x="7945050" y="3252316"/>
            <a:ext cx="0" cy="4728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B6E2258-E420-59BE-1D43-7EB7580D86E7}"/>
              </a:ext>
            </a:extLst>
          </p:cNvPr>
          <p:cNvSpPr txBox="1"/>
          <p:nvPr/>
        </p:nvSpPr>
        <p:spPr>
          <a:xfrm>
            <a:off x="8428517" y="6264639"/>
            <a:ext cx="3676959" cy="523477"/>
          </a:xfrm>
          <a:prstGeom prst="rect">
            <a:avLst/>
          </a:prstGeom>
          <a:solidFill>
            <a:srgbClr val="FFE1E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* 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서울시 카페 전체를 대상으로 하여 리뷰 데이터 수집 중으로</a:t>
            </a: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사용 데이터는 바뀔 수 있습니다</a:t>
            </a: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.</a:t>
            </a:r>
            <a:endParaRPr lang="en-US" altLang="ko-KR" sz="140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1689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FF9AA-E15E-67E4-74F3-7BECBDAEA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40B1D071-26FF-A6B5-C9EF-B95B37FE4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63" y="170765"/>
            <a:ext cx="10515600" cy="8899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5. </a:t>
            </a:r>
            <a:r>
              <a:rPr lang="ko-KR" altLang="en-US" sz="2400" b="1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사용 데이터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C7B760-B3B3-7561-EC5E-00EAA399E19E}"/>
              </a:ext>
            </a:extLst>
          </p:cNvPr>
          <p:cNvSpPr txBox="1"/>
          <p:nvPr/>
        </p:nvSpPr>
        <p:spPr>
          <a:xfrm>
            <a:off x="566929" y="1188141"/>
            <a:ext cx="10927081" cy="1936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설문조사와 현장 관찰에 의존하는 기존 공간 환경 평가 방식의 한계를 보완하기 위해 데이터 기반 접근법 제시</a:t>
            </a:r>
            <a:endParaRPr lang="en-US" altLang="ko-KR" sz="140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  <a:p>
            <a:pPr marL="285753" indent="-285753">
              <a:lnSpc>
                <a:spcPct val="150000"/>
              </a:lnSpc>
              <a:buFontTx/>
              <a:buChar char="-"/>
            </a:pPr>
            <a:endParaRPr lang="en-US" altLang="ko-KR" sz="1100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  <a:p>
            <a:pPr marL="342904" indent="-342904">
              <a:lnSpc>
                <a:spcPct val="150000"/>
              </a:lnSpc>
              <a:buAutoNum type="arabicParenR"/>
            </a:pPr>
            <a:r>
              <a:rPr lang="ko-KR" altLang="en-US" sz="1401" b="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공공데이터포털</a:t>
            </a:r>
            <a:endParaRPr lang="en-US" altLang="ko-KR" sz="1401" b="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40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소상공인시장진흥공단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_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상가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(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상권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)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정보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2025/10/30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기준 데이터</a:t>
            </a:r>
            <a:endParaRPr lang="en-US" altLang="ko-KR" sz="140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영업 중인 전국 상가업소 데이터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(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상호명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업종코드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40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업종명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지번주소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도로명주소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행정구역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경도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·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위도 등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)</a:t>
            </a: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40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업종소분류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 중 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‘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카페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‘, ‘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빵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/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도넛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’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필터링 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-&gt;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서울시 내 카페 약 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25000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개소</a:t>
            </a:r>
            <a:endParaRPr lang="en-US" altLang="ko-KR" sz="140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7436F6C-8B04-D6DC-CD96-06BF85860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255702"/>
            <a:ext cx="4798702" cy="25666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2F0B4D0-D0CD-3791-AA27-1BF7BD427A92}"/>
              </a:ext>
            </a:extLst>
          </p:cNvPr>
          <p:cNvSpPr txBox="1"/>
          <p:nvPr/>
        </p:nvSpPr>
        <p:spPr>
          <a:xfrm>
            <a:off x="899046" y="6030779"/>
            <a:ext cx="4227439" cy="24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(</a:t>
            </a:r>
            <a:r>
              <a:rPr lang="ko-KR" altLang="en-US" sz="100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공공데이터포털</a:t>
            </a:r>
            <a:r>
              <a:rPr lang="ko-KR" altLang="en-US" sz="10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 </a:t>
            </a:r>
            <a:r>
              <a:rPr lang="en-US" altLang="ko-KR" sz="10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https://www.data.go.kr/data/15083033/fileData.do)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60C4E3F-CDD9-8A55-1A49-AE42B4409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4045" y="3255701"/>
            <a:ext cx="6383412" cy="256666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A80D7DD-7C79-522D-1BE2-DF911C8DB570}"/>
              </a:ext>
            </a:extLst>
          </p:cNvPr>
          <p:cNvSpPr/>
          <p:nvPr/>
        </p:nvSpPr>
        <p:spPr>
          <a:xfrm flipH="1">
            <a:off x="8229601" y="3587819"/>
            <a:ext cx="310551" cy="225179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4AEFDA-F4B0-FB75-03F8-D53C10934F00}"/>
              </a:ext>
            </a:extLst>
          </p:cNvPr>
          <p:cNvSpPr txBox="1"/>
          <p:nvPr/>
        </p:nvSpPr>
        <p:spPr>
          <a:xfrm>
            <a:off x="5642281" y="6011779"/>
            <a:ext cx="5650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①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 서울시 내 카페 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25,000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개 원본데이터</a:t>
            </a:r>
            <a:endParaRPr lang="en-US" altLang="ko-KR" sz="1200" b="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86373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FD7DE-E4BD-3523-7ADC-D75D0A6F4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7FDAEF78-5BB1-ECCA-7768-CBF1B251F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63" y="170765"/>
            <a:ext cx="10515600" cy="8899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5. </a:t>
            </a:r>
            <a:r>
              <a:rPr lang="ko-KR" altLang="en-US" sz="2400" b="1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사용 데이터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DE5576-8540-D00B-3420-8A9CD3A46DDE}"/>
              </a:ext>
            </a:extLst>
          </p:cNvPr>
          <p:cNvSpPr txBox="1"/>
          <p:nvPr/>
        </p:nvSpPr>
        <p:spPr>
          <a:xfrm>
            <a:off x="566929" y="1188141"/>
            <a:ext cx="10927081" cy="1358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4" indent="-342904">
              <a:lnSpc>
                <a:spcPct val="150000"/>
              </a:lnSpc>
              <a:buAutoNum type="arabicParenR"/>
            </a:pPr>
            <a:r>
              <a:rPr lang="ko-KR" altLang="en-US" sz="1401" b="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공공데이터포털</a:t>
            </a:r>
            <a:endParaRPr lang="en-US" altLang="ko-KR" sz="1401" b="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40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소상공인시장진흥공단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_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상가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(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상권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)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정보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2025/10/30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기준 데이터</a:t>
            </a:r>
            <a:endParaRPr lang="en-US" altLang="ko-KR" sz="140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영업 중인 전국 상가업소 데이터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(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상호명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업종코드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40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업종명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지번주소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도로명주소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행정구역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경도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·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위도 등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)</a:t>
            </a: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40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업종소분류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 중 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‘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카페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‘, ‘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빵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/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도넛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’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필터링 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-&gt;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서울시 내 카페 약 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25000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개소 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-&gt; 2500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개소 표본 데이터셋 구축</a:t>
            </a:r>
            <a:endParaRPr lang="en-US" altLang="ko-KR" sz="140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81985E-7C13-0406-D9CA-65275895B43E}"/>
              </a:ext>
            </a:extLst>
          </p:cNvPr>
          <p:cNvSpPr txBox="1"/>
          <p:nvPr/>
        </p:nvSpPr>
        <p:spPr>
          <a:xfrm>
            <a:off x="3141404" y="5917793"/>
            <a:ext cx="5909196" cy="769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② 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서울시 내 카페 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2500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개 데이터 </a:t>
            </a:r>
            <a:endParaRPr lang="en-US" altLang="ko-KR" sz="1200" b="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  <a:p>
            <a:pPr algn="ctr"/>
            <a:endParaRPr lang="en-US" altLang="ko-KR" sz="1200" b="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10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행정구마다 분포를 균등하게 맞추기 위해 원본 데이터에서 행정구별 카페 </a:t>
            </a:r>
            <a:r>
              <a:rPr lang="en-US" altLang="ko-KR" sz="10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100</a:t>
            </a:r>
            <a:r>
              <a:rPr lang="ko-KR" altLang="en-US" sz="10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개 랜덤 추출</a:t>
            </a:r>
            <a:r>
              <a:rPr lang="en-US" altLang="ko-KR" sz="10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(25</a:t>
            </a:r>
            <a:r>
              <a:rPr lang="ko-KR" altLang="en-US" sz="10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개 구</a:t>
            </a:r>
            <a:r>
              <a:rPr lang="en-US" altLang="ko-KR" sz="10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0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약 </a:t>
            </a:r>
            <a:r>
              <a:rPr lang="en-US" altLang="ko-KR" sz="10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2500</a:t>
            </a:r>
            <a:r>
              <a:rPr lang="ko-KR" altLang="en-US" sz="10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개</a:t>
            </a:r>
            <a:r>
              <a:rPr lang="en-US" altLang="ko-KR" sz="10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)</a:t>
            </a:r>
          </a:p>
          <a:p>
            <a:pPr algn="ctr"/>
            <a:r>
              <a:rPr lang="ko-KR" altLang="en-US" sz="10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서울시 </a:t>
            </a:r>
            <a:r>
              <a:rPr lang="en-US" altLang="ko-KR" sz="10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2</a:t>
            </a:r>
            <a:r>
              <a:rPr lang="ko-KR" altLang="en-US" sz="10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만 </a:t>
            </a:r>
            <a:r>
              <a:rPr lang="en-US" altLang="ko-KR" sz="10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5</a:t>
            </a:r>
            <a:r>
              <a:rPr lang="ko-KR" altLang="en-US" sz="10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천 개 </a:t>
            </a:r>
            <a:r>
              <a:rPr lang="en-US" altLang="ko-KR" sz="10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-&gt; 2500</a:t>
            </a:r>
            <a:r>
              <a:rPr lang="ko-KR" altLang="en-US" sz="10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개로 표본 데이터셋 구축</a:t>
            </a:r>
            <a:endParaRPr lang="en-US" altLang="ko-KR" sz="100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D0B73DE-9C6A-4B00-FFD3-7981F5720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901" y="2697112"/>
            <a:ext cx="8362949" cy="300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6879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51A30-F99C-3C95-2911-7B24A4AD6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318D17E0-659E-84AB-4E3A-2A1394782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63" y="170765"/>
            <a:ext cx="10515600" cy="8899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5. </a:t>
            </a:r>
            <a:r>
              <a:rPr lang="ko-KR" altLang="en-US" sz="2400" b="1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사용 데이터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5030A0-5536-AFF1-98C9-147281672736}"/>
              </a:ext>
            </a:extLst>
          </p:cNvPr>
          <p:cNvSpPr txBox="1"/>
          <p:nvPr/>
        </p:nvSpPr>
        <p:spPr>
          <a:xfrm>
            <a:off x="547878" y="1107726"/>
            <a:ext cx="10927081" cy="1682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2) 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구글 맵 리뷰 데이터</a:t>
            </a:r>
            <a:endParaRPr lang="en-US" altLang="ko-KR" sz="1401" b="1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서울시 내 상업공간에 대한 사용자 리뷰 수집</a:t>
            </a:r>
            <a:endParaRPr lang="en-US" altLang="ko-KR" sz="1401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서울시 표본 카페 </a:t>
            </a: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2500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곳을 대상으로 </a:t>
            </a: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Python 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패키지 활용하여 웹 </a:t>
            </a:r>
            <a:r>
              <a:rPr lang="ko-KR" altLang="en-US" sz="1401" b="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크롤링</a:t>
            </a: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리뷰 없는 곳을 제외하여 총 </a:t>
            </a: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1799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곳을 대상으로 함</a:t>
            </a:r>
            <a:endParaRPr lang="en-US" altLang="ko-KR" sz="1401" b="1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‘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상호명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+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행정구명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+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행정동명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’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검색하여 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‘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관련성순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’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으로 표기되는 리뷰 상위부터 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최대 </a:t>
            </a: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100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개까지 수집</a:t>
            </a:r>
            <a:endParaRPr lang="en-US" altLang="ko-KR" sz="1401" b="1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총 </a:t>
            </a: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34671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건 텍스트 리뷰 수집</a:t>
            </a: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평균 </a:t>
            </a: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19.3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개</a:t>
            </a: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C5D42DA-69FB-14EC-527F-C111DAECB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2071" y="2832861"/>
            <a:ext cx="6302130" cy="328611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C6C7305-DED9-686D-84F9-63ACC6069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037" y="3482402"/>
            <a:ext cx="5286700" cy="1998217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97DE5DF-3566-4A7F-353C-63DF991C9333}"/>
              </a:ext>
            </a:extLst>
          </p:cNvPr>
          <p:cNvSpPr/>
          <p:nvPr/>
        </p:nvSpPr>
        <p:spPr>
          <a:xfrm>
            <a:off x="400052" y="3664344"/>
            <a:ext cx="5114235" cy="11447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9D4543-719F-56C3-EC93-8E0955643295}"/>
              </a:ext>
            </a:extLst>
          </p:cNvPr>
          <p:cNvCxnSpPr>
            <a:stCxn id="8" idx="3"/>
          </p:cNvCxnSpPr>
          <p:nvPr/>
        </p:nvCxnSpPr>
        <p:spPr>
          <a:xfrm flipV="1">
            <a:off x="5514286" y="3010468"/>
            <a:ext cx="295964" cy="71111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5192411-F8B3-897A-3EAF-3F0651606464}"/>
              </a:ext>
            </a:extLst>
          </p:cNvPr>
          <p:cNvCxnSpPr>
            <a:stCxn id="8" idx="3"/>
          </p:cNvCxnSpPr>
          <p:nvPr/>
        </p:nvCxnSpPr>
        <p:spPr>
          <a:xfrm>
            <a:off x="5514286" y="3721583"/>
            <a:ext cx="295964" cy="2397387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FCE1787-897D-61D3-0DDE-F190352C3886}"/>
              </a:ext>
            </a:extLst>
          </p:cNvPr>
          <p:cNvSpPr txBox="1"/>
          <p:nvPr/>
        </p:nvSpPr>
        <p:spPr>
          <a:xfrm>
            <a:off x="3270663" y="6410236"/>
            <a:ext cx="5650674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카페 데이터에서 상호명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200" b="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시군구명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행정동명 사용하여 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1: N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리뷰 수집</a:t>
            </a:r>
            <a:endParaRPr lang="en-US" altLang="ko-KR" sz="1200" b="1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8646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4955B-8935-5FDE-6BB1-442637123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C721B2EB-25B7-AFA9-30CF-5EF37AA84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63" y="170765"/>
            <a:ext cx="10515600" cy="8899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5. </a:t>
            </a:r>
            <a:r>
              <a:rPr lang="ko-KR" altLang="en-US" sz="2400" b="1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사용 데이터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4302AD6-BFDC-0B2A-42AE-F93B5A13A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76" y="3112742"/>
            <a:ext cx="5714180" cy="307137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AC707D1-2A8A-D7E6-C570-25953556C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3082483"/>
            <a:ext cx="5826772" cy="313189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14377298-1026-51C3-B038-B062025E6B38}"/>
              </a:ext>
            </a:extLst>
          </p:cNvPr>
          <p:cNvSpPr/>
          <p:nvPr/>
        </p:nvSpPr>
        <p:spPr>
          <a:xfrm>
            <a:off x="1141112" y="4398379"/>
            <a:ext cx="3758693" cy="4571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8874BC6-024B-66FB-4EEB-5CF01371114A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4899804" y="4421236"/>
            <a:ext cx="2288875" cy="149362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CBA3511B-7344-D1BB-A412-05FBAF513144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4899804" y="4421236"/>
            <a:ext cx="2288875" cy="40240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2ECD59E-D0BD-EB78-1816-C3EEF8550487}"/>
              </a:ext>
            </a:extLst>
          </p:cNvPr>
          <p:cNvSpPr txBox="1"/>
          <p:nvPr/>
        </p:nvSpPr>
        <p:spPr>
          <a:xfrm>
            <a:off x="3270663" y="6410236"/>
            <a:ext cx="5650674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카페 데이터에서 상호명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200" b="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시군구명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행정동명 사용하여 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1: N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리뷰 수집</a:t>
            </a:r>
            <a:endParaRPr lang="en-US" altLang="ko-KR" sz="1200" b="1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31A585-B614-495B-98A7-B06C988B6101}"/>
              </a:ext>
            </a:extLst>
          </p:cNvPr>
          <p:cNvSpPr txBox="1"/>
          <p:nvPr/>
        </p:nvSpPr>
        <p:spPr>
          <a:xfrm>
            <a:off x="547878" y="1107726"/>
            <a:ext cx="10927081" cy="1682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2) 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구글 맵 리뷰 데이터</a:t>
            </a:r>
            <a:endParaRPr lang="en-US" altLang="ko-KR" sz="1401" b="1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서울시 내 상업공간에 대한 사용자 리뷰 수집</a:t>
            </a:r>
            <a:endParaRPr lang="en-US" altLang="ko-KR" sz="1401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서울시 표본 카페 </a:t>
            </a: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2500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곳을 대상으로 </a:t>
            </a: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Python 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패키지 활용하여 웹 </a:t>
            </a:r>
            <a:r>
              <a:rPr lang="ko-KR" altLang="en-US" sz="1401" b="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크롤링</a:t>
            </a: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리뷰 없는 곳을 제외하여 총 </a:t>
            </a: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1799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곳을 대상으로 함</a:t>
            </a:r>
            <a:endParaRPr lang="en-US" altLang="ko-KR" sz="1401" b="1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‘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상호명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+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행정구명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+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행정동명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’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검색하여 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‘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관련성순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’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으로 표기되는 리뷰 상위부터 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최대 </a:t>
            </a: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100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개까지 수집</a:t>
            </a:r>
            <a:endParaRPr lang="en-US" altLang="ko-KR" sz="1401" b="1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총 </a:t>
            </a: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34671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건 텍스트 리뷰 수집</a:t>
            </a: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평균 </a:t>
            </a: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19.3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개</a:t>
            </a: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922419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6AEA5FB8-8086-76AF-9DD8-E8B70AC2B1BB}"/>
              </a:ext>
            </a:extLst>
          </p:cNvPr>
          <p:cNvSpPr txBox="1">
            <a:spLocks/>
          </p:cNvSpPr>
          <p:nvPr/>
        </p:nvSpPr>
        <p:spPr>
          <a:xfrm>
            <a:off x="282863" y="170767"/>
            <a:ext cx="10515600" cy="810532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24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결론</a:t>
            </a:r>
            <a:endParaRPr kumimoji="1" lang="ko-KR" altLang="en-US" sz="2400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EB4A33-5BF1-AA3E-6190-A24F3E54A337}"/>
              </a:ext>
            </a:extLst>
          </p:cNvPr>
          <p:cNvSpPr txBox="1"/>
          <p:nvPr/>
        </p:nvSpPr>
        <p:spPr>
          <a:xfrm>
            <a:off x="538451" y="981297"/>
            <a:ext cx="10832329" cy="4592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본 연구는 사용자가 작성한 텍스트 리뷰 데이터를 활용하여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장소성을 형성하는 요인을 바탕으로 </a:t>
            </a:r>
            <a:r>
              <a:rPr lang="ko-KR" altLang="en-US" sz="140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정량화할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수 있음을 확인하였다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.</a:t>
            </a: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40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장소성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정량화 논리 체계를 제안하며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이는 서로 다른 장소가 비교 가능한 정량 지표를 만들 수 있다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.</a:t>
            </a: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웹에서 수집할 수 있는 리뷰 데이터를 활용함으로 기존의 현장 방문 위주 연구보다 시간과 비용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위치와 규모의 한계를 보완하였다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.</a:t>
            </a: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본 연구에서는 정량화 대상 공간을 카페로 한정하였으나 온라인 상에서 검색과 리뷰 수집이 가능한 공간이라면 공공시설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공원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문화시설 등 다양한 공간 유형으로의 확장이 가능하다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.</a:t>
            </a: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본 연구에서 제안한 </a:t>
            </a:r>
            <a:r>
              <a:rPr lang="ko-KR" altLang="en-US" sz="140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장소성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정량화 시스템은 향후 장소 추천 및 공간 비교를 지원하는 의사결정 도구로 확장할 수 있다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.</a:t>
            </a:r>
          </a:p>
          <a:p>
            <a:pPr marL="285753" indent="-285753">
              <a:lnSpc>
                <a:spcPct val="150000"/>
              </a:lnSpc>
              <a:buFontTx/>
              <a:buChar char="-"/>
            </a:pPr>
            <a:endParaRPr lang="en-US" altLang="ko-KR" sz="1401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Limitations</a:t>
            </a: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본 연구는 서울시 내 커피전문점을 실증 대상으로 하였기 때문에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연구 결과를 모든 공간 유형의 장소성으로 일반화하는 데에는 한계가 있다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.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장소성은 물리적 공간에서 사용자의 경험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활동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의미 부여를 통해 형성되는 복합적 개념이며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기존 </a:t>
            </a:r>
            <a:r>
              <a:rPr lang="ko-KR" altLang="en-US" sz="140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장소성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연구는 도시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거리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복합건축물 등 비교적 다양한 스케일과 유형의 공간을 대상으로 논의되어 왔다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.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이에 비해 본 연구의 대상은 소규모 상업공간에 한정되어 있으므로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본 연구의 결과는 </a:t>
            </a:r>
            <a:r>
              <a:rPr lang="ko-KR" altLang="en-US" sz="140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장소성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전반에 대한 </a:t>
            </a:r>
            <a:r>
              <a:rPr lang="ko-KR" altLang="en-US" sz="140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일반화라기보다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텍스트 리뷰 데이터를 활용한 </a:t>
            </a:r>
            <a:r>
              <a:rPr lang="ko-KR" altLang="en-US" sz="140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장소성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정량화 가능성을 실증적으로 검토한 사례로 이해될 필요가 있다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.</a:t>
            </a: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온라인 리뷰는 공간을 방문한 모든 사용자가 작성하는 것이 아니며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리뷰 작성자의 주관적 경험과 플랫폼 이용 특성이 반영된 데이터이다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.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따라서 리뷰 데이터만으로 모든 사용자의 공간 인식을 완전히 대변하기에는 한계가 있다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82593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2A655-CF11-9D64-0E3A-F7FC999AE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C9B79A5E-3848-586E-75BF-8C3252DD01F2}"/>
              </a:ext>
            </a:extLst>
          </p:cNvPr>
          <p:cNvSpPr txBox="1">
            <a:spLocks/>
          </p:cNvSpPr>
          <p:nvPr/>
        </p:nvSpPr>
        <p:spPr>
          <a:xfrm>
            <a:off x="282863" y="170767"/>
            <a:ext cx="10515600" cy="810532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24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레퍼런스</a:t>
            </a:r>
            <a:endParaRPr kumimoji="1" lang="ko-KR" altLang="en-US" sz="2400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2410FC-B666-37B4-A19C-3ED80175A1BF}"/>
              </a:ext>
            </a:extLst>
          </p:cNvPr>
          <p:cNvSpPr txBox="1"/>
          <p:nvPr/>
        </p:nvSpPr>
        <p:spPr>
          <a:xfrm>
            <a:off x="547878" y="1107724"/>
            <a:ext cx="10832329" cy="5484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6" indent="-457206" algn="just">
              <a:lnSpc>
                <a:spcPct val="120000"/>
              </a:lnSpc>
              <a:buFont typeface="+mj-lt"/>
              <a:buAutoNum type="arabicPeriod"/>
            </a:pPr>
            <a:r>
              <a:rPr lang="en-US" altLang="ko-KR" sz="1401" dirty="0">
                <a:latin typeface="나눔고딕" pitchFamily="2" charset="-127"/>
                <a:ea typeface="나눔고딕" pitchFamily="2" charset="-127"/>
              </a:rPr>
              <a:t>Relph, Edward, (1976). Place and Placelessness. London: Pion.</a:t>
            </a:r>
          </a:p>
          <a:p>
            <a:pPr marL="457206" indent="-457206" algn="just">
              <a:lnSpc>
                <a:spcPct val="120000"/>
              </a:lnSpc>
              <a:buFont typeface="+mj-lt"/>
              <a:buAutoNum type="arabicPeriod"/>
            </a:pPr>
            <a:r>
              <a:rPr lang="en-US" altLang="ko-KR" sz="1401" dirty="0">
                <a:latin typeface="나눔고딕" pitchFamily="2" charset="-127"/>
                <a:ea typeface="나눔고딕" pitchFamily="2" charset="-127"/>
              </a:rPr>
              <a:t>Yoo, Y., &amp; Lee, J.-K. (2025). Quantification and Analysis Methods of Architectural Styles Using Image-Text AI Models. Journal of the Architectural Institute of Korea, 41(5), 93–101.</a:t>
            </a:r>
          </a:p>
          <a:p>
            <a:pPr marL="457206" indent="-457206" algn="just">
              <a:lnSpc>
                <a:spcPct val="120000"/>
              </a:lnSpc>
              <a:buFont typeface="+mj-lt"/>
              <a:buAutoNum type="arabicPeriod"/>
            </a:pPr>
            <a:r>
              <a:rPr lang="en-US" altLang="ko-KR" sz="1401" dirty="0">
                <a:latin typeface="나눔고딕" pitchFamily="2" charset="-127"/>
                <a:ea typeface="나눔고딕" pitchFamily="2" charset="-127"/>
              </a:rPr>
              <a:t>Na, H., Lee, D., &amp; Lee, S. (2025). Analysis of Placeness of Major Places in Seoul, Korea : Using Text Mining and Large Language Models. Journal of Korea Planning Association, 60(5), 21-42.</a:t>
            </a:r>
          </a:p>
          <a:p>
            <a:pPr marL="457206" indent="-457206" algn="just">
              <a:lnSpc>
                <a:spcPct val="120000"/>
              </a:lnSpc>
              <a:buFont typeface="+mj-lt"/>
              <a:buAutoNum type="arabicPeriod"/>
            </a:pPr>
            <a:r>
              <a:rPr lang="en-US" altLang="ko-KR" sz="1401" dirty="0">
                <a:latin typeface="나눔고딕" pitchFamily="2" charset="-127"/>
                <a:ea typeface="나눔고딕" pitchFamily="2" charset="-127"/>
              </a:rPr>
              <a:t>Sun, S., &amp; Yu, Y. (2021). Dimension and formation of placeness of commercial public space in city center: A case study of Deji Plaza in Nanjing. Frontiers of Architectural Research, 10(2), 229–239.</a:t>
            </a:r>
          </a:p>
          <a:p>
            <a:pPr marL="457206" indent="-457206" algn="just">
              <a:lnSpc>
                <a:spcPct val="120000"/>
              </a:lnSpc>
              <a:buFont typeface="+mj-lt"/>
              <a:buAutoNum type="arabicPeriod"/>
            </a:pPr>
            <a:r>
              <a:rPr lang="en-US" altLang="ko-KR" sz="1401" dirty="0">
                <a:latin typeface="나눔고딕" pitchFamily="2" charset="-127"/>
                <a:ea typeface="나눔고딕" pitchFamily="2" charset="-127"/>
              </a:rPr>
              <a:t>Lyu, H. (1996). A Study on the Embodiment-Factors of the Sense of Place in Interior Space - focused on residential environment -. Journal of the Korean Institute of Interior Design,(7), 56-63.</a:t>
            </a:r>
          </a:p>
          <a:p>
            <a:pPr marL="457206" indent="-457206" algn="just">
              <a:lnSpc>
                <a:spcPct val="120000"/>
              </a:lnSpc>
              <a:buFont typeface="+mj-lt"/>
              <a:buAutoNum type="arabicPeriod"/>
            </a:pPr>
            <a:r>
              <a:rPr lang="en-US" altLang="ko-KR" sz="1401" dirty="0">
                <a:latin typeface="나눔고딕" pitchFamily="2" charset="-127"/>
                <a:ea typeface="나눔고딕" pitchFamily="2" charset="-127"/>
              </a:rPr>
              <a:t>Guo, </a:t>
            </a:r>
            <a:r>
              <a:rPr lang="en-US" altLang="ko-KR" sz="1401" dirty="0" err="1">
                <a:latin typeface="나눔고딕" pitchFamily="2" charset="-127"/>
                <a:ea typeface="나눔고딕" pitchFamily="2" charset="-127"/>
              </a:rPr>
              <a:t>Fengming</a:t>
            </a:r>
            <a:r>
              <a:rPr lang="en-US" altLang="ko-KR" sz="1401" dirty="0">
                <a:latin typeface="나눔고딕" pitchFamily="2" charset="-127"/>
                <a:ea typeface="나눔고딕" pitchFamily="2" charset="-127"/>
              </a:rPr>
              <a:t>, Hwang, </a:t>
            </a:r>
            <a:r>
              <a:rPr lang="en-US" altLang="ko-KR" sz="1401" dirty="0" err="1">
                <a:latin typeface="나눔고딕" pitchFamily="2" charset="-127"/>
                <a:ea typeface="나눔고딕" pitchFamily="2" charset="-127"/>
              </a:rPr>
              <a:t>Yeonsook</a:t>
            </a:r>
            <a:r>
              <a:rPr lang="en-US" altLang="ko-KR" sz="1401" dirty="0">
                <a:latin typeface="나눔고딕" pitchFamily="2" charset="-127"/>
                <a:ea typeface="나눔고딕" pitchFamily="2" charset="-127"/>
              </a:rPr>
              <a:t> and </a:t>
            </a:r>
            <a:r>
              <a:rPr lang="en-US" altLang="ko-KR" sz="1401" dirty="0" err="1">
                <a:latin typeface="나눔고딕" pitchFamily="2" charset="-127"/>
                <a:ea typeface="나눔고딕" pitchFamily="2" charset="-127"/>
              </a:rPr>
              <a:t>Juyoung</a:t>
            </a:r>
            <a:r>
              <a:rPr lang="en-US" altLang="ko-KR" sz="1401" dirty="0">
                <a:latin typeface="나눔고딕" pitchFamily="2" charset="-127"/>
                <a:ea typeface="나눔고딕" pitchFamily="2" charset="-127"/>
              </a:rPr>
              <a:t> Lee. (2025). User Perception Analysis of Museum Spatial Design Based on Place Characteristics. Journal of Korea </a:t>
            </a:r>
            <a:r>
              <a:rPr lang="en-US" altLang="ko-KR" sz="1401" dirty="0" err="1">
                <a:latin typeface="나눔고딕" pitchFamily="2" charset="-127"/>
                <a:ea typeface="나눔고딕" pitchFamily="2" charset="-127"/>
              </a:rPr>
              <a:t>Intitute</a:t>
            </a:r>
            <a:r>
              <a:rPr lang="en-US" altLang="ko-KR" sz="1401" dirty="0">
                <a:latin typeface="나눔고딕" pitchFamily="2" charset="-127"/>
                <a:ea typeface="나눔고딕" pitchFamily="2" charset="-127"/>
              </a:rPr>
              <a:t> of Spatial Design, 20(5), 181-190.</a:t>
            </a:r>
          </a:p>
          <a:p>
            <a:pPr marL="457206" indent="-457206" algn="just">
              <a:lnSpc>
                <a:spcPct val="120000"/>
              </a:lnSpc>
              <a:buFont typeface="+mj-lt"/>
              <a:buAutoNum type="arabicPeriod"/>
            </a:pPr>
            <a:r>
              <a:rPr lang="en-US" altLang="ko-KR" sz="1401" dirty="0">
                <a:latin typeface="나눔고딕" pitchFamily="2" charset="-127"/>
                <a:ea typeface="나눔고딕" pitchFamily="2" charset="-127"/>
              </a:rPr>
              <a:t>Hwang, Y., &amp; Hwang, Y. (2025). A case study of culturally regenerated idle spaces applying the formative factors of placeness. </a:t>
            </a:r>
            <a:r>
              <a:rPr lang="en-US" altLang="ko-KR" sz="1401" i="1" dirty="0">
                <a:latin typeface="나눔고딕" pitchFamily="2" charset="-127"/>
                <a:ea typeface="나눔고딕" pitchFamily="2" charset="-127"/>
              </a:rPr>
              <a:t>Proceedings of the Korean Institute of Interior Design Conference</a:t>
            </a:r>
            <a:r>
              <a:rPr lang="en-US" altLang="ko-KR" sz="1401" dirty="0">
                <a:latin typeface="나눔고딕" pitchFamily="2" charset="-127"/>
                <a:ea typeface="나눔고딕" pitchFamily="2" charset="-127"/>
              </a:rPr>
              <a:t>, </a:t>
            </a:r>
            <a:r>
              <a:rPr lang="en-US" altLang="ko-KR" sz="1401" i="1" dirty="0">
                <a:latin typeface="나눔고딕" pitchFamily="2" charset="-127"/>
                <a:ea typeface="나눔고딕" pitchFamily="2" charset="-127"/>
              </a:rPr>
              <a:t>27</a:t>
            </a:r>
            <a:r>
              <a:rPr lang="en-US" altLang="ko-KR" sz="1401" dirty="0">
                <a:latin typeface="나눔고딕" pitchFamily="2" charset="-127"/>
                <a:ea typeface="나눔고딕" pitchFamily="2" charset="-127"/>
              </a:rPr>
              <a:t>(1), 363–366.</a:t>
            </a:r>
          </a:p>
          <a:p>
            <a:pPr marL="457206" indent="-457206" algn="just">
              <a:lnSpc>
                <a:spcPct val="120000"/>
              </a:lnSpc>
              <a:buFont typeface="+mj-lt"/>
              <a:buAutoNum type="arabicPeriod"/>
            </a:pPr>
            <a:r>
              <a:rPr lang="en-US" altLang="ko-KR" sz="1401" dirty="0">
                <a:latin typeface="나눔고딕" pitchFamily="2" charset="-127"/>
                <a:ea typeface="나눔고딕" pitchFamily="2" charset="-127"/>
              </a:rPr>
              <a:t>CHOI SU YOUNG and Lee, Kyung-Hoon. (2023). A Study on the User Perception of the Place of Space Expression. Journal of the Architectural Institute of Korea, 39(6), 3-14.</a:t>
            </a:r>
          </a:p>
          <a:p>
            <a:pPr marL="457206" indent="-457206" algn="just">
              <a:lnSpc>
                <a:spcPct val="120000"/>
              </a:lnSpc>
              <a:buFont typeface="+mj-lt"/>
              <a:buAutoNum type="arabicPeriod"/>
            </a:pPr>
            <a:r>
              <a:rPr lang="en-US" altLang="ko-KR" sz="1401" dirty="0">
                <a:latin typeface="나눔고딕" pitchFamily="2" charset="-127"/>
                <a:ea typeface="나눔고딕" pitchFamily="2" charset="-127"/>
              </a:rPr>
              <a:t>Devlin, J., Chang, M.-W., Lee, K., &amp; Toutanova, K. (2019). BERT: Pre-training of deep bidirectional transformers for language understanding. </a:t>
            </a:r>
            <a:r>
              <a:rPr lang="en-US" altLang="ko-KR" sz="1401" dirty="0" err="1">
                <a:latin typeface="나눔고딕" pitchFamily="2" charset="-127"/>
                <a:ea typeface="나눔고딕" pitchFamily="2" charset="-127"/>
              </a:rPr>
              <a:t>arXiv</a:t>
            </a:r>
            <a:r>
              <a:rPr lang="en-US" altLang="ko-KR" sz="1401" dirty="0">
                <a:latin typeface="나눔고딕" pitchFamily="2" charset="-127"/>
                <a:ea typeface="나눔고딕" pitchFamily="2" charset="-127"/>
              </a:rPr>
              <a:t> preprint arXiv:1810.04805.</a:t>
            </a:r>
          </a:p>
          <a:p>
            <a:pPr marL="457206" indent="-457206" algn="just">
              <a:lnSpc>
                <a:spcPct val="120000"/>
              </a:lnSpc>
              <a:buFont typeface="+mj-lt"/>
              <a:buAutoNum type="arabicPeriod"/>
            </a:pPr>
            <a:r>
              <a:rPr lang="en-US" altLang="ko-KR" sz="1401" dirty="0">
                <a:latin typeface="나눔고딕" pitchFamily="2" charset="-127"/>
                <a:ea typeface="나눔고딕" pitchFamily="2" charset="-127"/>
              </a:rPr>
              <a:t>Reimers, N., &amp; </a:t>
            </a:r>
            <a:r>
              <a:rPr lang="en-US" altLang="ko-KR" sz="1401" dirty="0" err="1">
                <a:latin typeface="나눔고딕" pitchFamily="2" charset="-127"/>
                <a:ea typeface="나눔고딕" pitchFamily="2" charset="-127"/>
              </a:rPr>
              <a:t>Gurevych</a:t>
            </a:r>
            <a:r>
              <a:rPr lang="en-US" altLang="ko-KR" sz="1401" dirty="0">
                <a:latin typeface="나눔고딕" pitchFamily="2" charset="-127"/>
                <a:ea typeface="나눔고딕" pitchFamily="2" charset="-127"/>
              </a:rPr>
              <a:t>, I. (2019). Sentence-BERT: Sentence embeddings using Siamese BERT-networks. </a:t>
            </a:r>
            <a:r>
              <a:rPr lang="en-US" altLang="ko-KR" sz="1401" dirty="0" err="1">
                <a:latin typeface="나눔고딕" pitchFamily="2" charset="-127"/>
                <a:ea typeface="나눔고딕" pitchFamily="2" charset="-127"/>
              </a:rPr>
              <a:t>arXiv</a:t>
            </a:r>
            <a:r>
              <a:rPr lang="en-US" altLang="ko-KR" sz="1401" dirty="0">
                <a:latin typeface="나눔고딕" pitchFamily="2" charset="-127"/>
                <a:ea typeface="나눔고딕" pitchFamily="2" charset="-127"/>
              </a:rPr>
              <a:t> preprint arXiv:1908.10084.</a:t>
            </a:r>
          </a:p>
          <a:p>
            <a:pPr marL="457206" indent="-457206" algn="just">
              <a:lnSpc>
                <a:spcPct val="120000"/>
              </a:lnSpc>
              <a:buFont typeface="+mj-lt"/>
              <a:buAutoNum type="arabicPeriod"/>
            </a:pPr>
            <a:endParaRPr lang="en-US" altLang="ko-KR" sz="140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7206" indent="-457206" algn="just">
              <a:lnSpc>
                <a:spcPct val="120000"/>
              </a:lnSpc>
              <a:buFont typeface="+mj-lt"/>
              <a:buAutoNum type="arabicPeriod"/>
            </a:pPr>
            <a:endParaRPr lang="en-US" altLang="ko-KR" sz="140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67948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F3D7417-281A-B3A1-8619-5A594FCE6D7B}"/>
              </a:ext>
            </a:extLst>
          </p:cNvPr>
          <p:cNvSpPr txBox="1"/>
          <p:nvPr/>
        </p:nvSpPr>
        <p:spPr>
          <a:xfrm>
            <a:off x="783770" y="2775857"/>
            <a:ext cx="10624457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2400" b="1" i="1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Backup</a:t>
            </a:r>
          </a:p>
        </p:txBody>
      </p:sp>
    </p:spTree>
    <p:extLst>
      <p:ext uri="{BB962C8B-B14F-4D97-AF65-F5344CB8AC3E}">
        <p14:creationId xmlns:p14="http://schemas.microsoft.com/office/powerpoint/2010/main" val="1908467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A3B29-4C84-CA7A-9323-350BDCAD4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6F74B0D-1AF1-226C-0CE2-6213AA5F47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178496"/>
              </p:ext>
            </p:extLst>
          </p:nvPr>
        </p:nvGraphicFramePr>
        <p:xfrm>
          <a:off x="784951" y="1188533"/>
          <a:ext cx="11249961" cy="5636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3763">
                  <a:extLst>
                    <a:ext uri="{9D8B030D-6E8A-4147-A177-3AD203B41FA5}">
                      <a16:colId xmlns:a16="http://schemas.microsoft.com/office/drawing/2014/main" val="985567643"/>
                    </a:ext>
                  </a:extLst>
                </a:gridCol>
                <a:gridCol w="1667021">
                  <a:extLst>
                    <a:ext uri="{9D8B030D-6E8A-4147-A177-3AD203B41FA5}">
                      <a16:colId xmlns:a16="http://schemas.microsoft.com/office/drawing/2014/main" val="465856878"/>
                    </a:ext>
                  </a:extLst>
                </a:gridCol>
                <a:gridCol w="7190183">
                  <a:extLst>
                    <a:ext uri="{9D8B030D-6E8A-4147-A177-3AD203B41FA5}">
                      <a16:colId xmlns:a16="http://schemas.microsoft.com/office/drawing/2014/main" val="1724319181"/>
                    </a:ext>
                  </a:extLst>
                </a:gridCol>
                <a:gridCol w="1158994">
                  <a:extLst>
                    <a:ext uri="{9D8B030D-6E8A-4147-A177-3AD203B41FA5}">
                      <a16:colId xmlns:a16="http://schemas.microsoft.com/office/drawing/2014/main" val="3009942746"/>
                    </a:ext>
                  </a:extLst>
                </a:gridCol>
              </a:tblGrid>
              <a:tr h="2540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rgbClr val="3D3838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대분류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세부 항목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참조 논문의 서술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레퍼런스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680214"/>
                  </a:ext>
                </a:extLst>
              </a:tr>
              <a:tr h="416562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1)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물리적 특성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심미성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(Aesthetics)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장소성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구성 환경심리적 요소 중 심미성 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(Aesthetics).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건축환경에 대해 느끼는 통상적인 의미에서의 </a:t>
                      </a:r>
                      <a:r>
                        <a:rPr lang="ko-KR" altLang="en-US" sz="1100" b="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아름다움뿐만이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아니라 체험을 통해 발생되는 </a:t>
                      </a:r>
                      <a:r>
                        <a:rPr lang="ko-KR" altLang="en-US" sz="1100" b="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생성적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lang="ko-KR" altLang="en-US" sz="1100" b="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질로서의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아름다움도 의미한다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.[2]</a:t>
                      </a:r>
                      <a:endParaRPr lang="ko-KR" altLang="en-US" sz="1100" b="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[2]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250419"/>
                  </a:ext>
                </a:extLst>
              </a:tr>
              <a:tr h="57912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개방성</a:t>
                      </a:r>
                      <a:r>
                        <a:rPr lang="en-US" altLang="ko-KR" sz="1100" b="1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(Openness)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Spatial Perception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의 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Visual accessibility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건축적 이미지가 눈에 띔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).[1],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공간적 특성의 중심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축과 방향성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경계 및 에워쌈을 통한 공간적 질서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공간적 질서는 한 장소 내에서 존재하는 질서로 크기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형태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배치에 의한 질서이다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.[2],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개방성은 공간 외부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내부에 쉽게 접근할 수 있도록 설계하는 전략으로 유니버설 디자인 기반의 시설과 효율적인 동선 설계 등을 통해 편의성을 높이고 대중성을 확보해 지속적인 방문을 유도한다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.[4]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[1], [2], [4]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551722"/>
                  </a:ext>
                </a:extLst>
              </a:tr>
              <a:tr h="4165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감각적 경험</a:t>
                      </a:r>
                      <a:r>
                        <a:rPr lang="en-US" altLang="ko-KR" sz="1100" b="1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(Sensory)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실내디자인 요소의 재료의 질감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/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색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/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패턴 등 촉각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청각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후각적 요소는 장소에 대한 특별한 의미를 주고 장소성을 부각시킴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.[2]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감각적 체험성은 오감을 자극하는 연출과 자연요소의 도입 테마 기반 인테리어 등을 통해 공간 몰입과 브랜드 애착 형성을 유도하였다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[2], [4]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685339"/>
                  </a:ext>
                </a:extLst>
              </a:tr>
              <a:tr h="4165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쾌적성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(Amenity)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Spatial Perception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의 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Safe and clean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안전하고 깨끗한 환경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).[1] </a:t>
                      </a:r>
                      <a:r>
                        <a:rPr lang="ko-KR" altLang="en-US" sz="1100" b="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온습도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b="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대기질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조명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등 물리적 환경 요소를 통한 신체적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정신적 쾌적함 충족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[3]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[1],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[3]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1827028"/>
                  </a:ext>
                </a:extLst>
              </a:tr>
              <a:tr h="4165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접근성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(Accessibility)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Spatial Perception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의 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Traffic accessibility (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다양한 교통수단으로 도달 가능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)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및 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Walkability (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걷기 편리함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).[1]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장소에 대한 원활한 도달과 교통 연계 확보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.[3],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개방적 접근성은 주차 연계성 도로 접근성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동선 구성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포용적 시설 등 다양한 요소를 통해 이용자 편의를 </a:t>
                      </a:r>
                      <a:r>
                        <a:rPr lang="ko-KR" altLang="en-US" sz="1100" b="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증대시키고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공간의 공공성과 접근 용이성을 높인다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.[4]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[1], [3], [4]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967790"/>
                  </a:ext>
                </a:extLst>
              </a:tr>
              <a:tr h="57912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2) </a:t>
                      </a:r>
                      <a:r>
                        <a:rPr lang="ko-KR" altLang="en-US" sz="1200" b="1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활동적 특성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활동성</a:t>
                      </a:r>
                      <a:r>
                        <a:rPr lang="en-US" altLang="ko-KR" sz="1100" b="1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(Activity)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Social Perception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의 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Self participation, sufficient seats, environmental fun level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및 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Sufficient seats.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자신과 동행인이 할 수 있는 모든 자발적 활동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).[1]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환경심리적 요소의 다양성 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(Variety)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을 통한 행동 선택의 자유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.[2]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체험 및 참여하는 상호작용성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.[3]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[1], [2], [3]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1673614"/>
                  </a:ext>
                </a:extLst>
              </a:tr>
              <a:tr h="4165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상호작용성</a:t>
                      </a:r>
                      <a:r>
                        <a:rPr lang="en-US" altLang="ko-KR" sz="1100" b="1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lang="en-US" altLang="ko-KR" sz="1100" b="1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Interactivity</a:t>
                      </a:r>
                      <a:r>
                        <a:rPr lang="en-US" altLang="ko-KR" sz="1100" b="1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)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Social Perception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의 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Social participation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낯선 이들과 활동에 참여할 의향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).[1]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사람들은 실내디자인 요소의 경계 지워진 편안한 공간을 공유할 때 공동 유대감을 느끼게 되고 사회성 욕구를 충족할 수 있다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.[2]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[1], [2]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205496"/>
                  </a:ext>
                </a:extLst>
              </a:tr>
              <a:tr h="478704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3)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의미적 특성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상징성</a:t>
                      </a:r>
                      <a:r>
                        <a:rPr lang="en-US" altLang="ko-KR" sz="1100" b="1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(Symbolism)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공간에 내포된 역사적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문화적 의미를 통한 상징적 해석과 장소에 대한 인식 유발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[3]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[3]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495290"/>
                  </a:ext>
                </a:extLst>
              </a:tr>
              <a:tr h="47870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기억 및 선호</a:t>
                      </a:r>
                      <a:r>
                        <a:rPr lang="en-US" altLang="ko-KR" sz="1100" b="1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(Preference)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Personal Identity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의 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Functional attachment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기능적 애착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)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및 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Preference, meaning.[1]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특정 공간에 대한 강한 애착심의 형성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환경을 통한 자신감 확보를 통해 정체성이 형성되고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이는 공간의 장소화로 연결된다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.[2]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[1], [2]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868955"/>
                  </a:ext>
                </a:extLst>
              </a:tr>
              <a:tr h="4165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지역 정체성</a:t>
                      </a:r>
                      <a:r>
                        <a:rPr lang="en-US" altLang="ko-KR" sz="1100" b="1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(Local Identity)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Regional Identity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의 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Cultural image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뛰어난 문화적 특성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)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및 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Regional landmark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도시의 랜드마크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).[1]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지역적 정체성이 공간의 특성으로 사용될 때도 그 공간은 강한 장소성을 갖게 된다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.[2]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맥락적 장소성은 지역의 역사 문화 환경을 공간디자인에 반영하여 장소 정체성을 구축하고 지역사회와의 연계를 통해 차별화된 공간 가치를 창출하였다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.[4]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[1], [2], [4]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482054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E91551D-6268-95FC-1347-320E3686792A}"/>
              </a:ext>
            </a:extLst>
          </p:cNvPr>
          <p:cNvSpPr txBox="1"/>
          <p:nvPr/>
        </p:nvSpPr>
        <p:spPr>
          <a:xfrm>
            <a:off x="3887257" y="97668"/>
            <a:ext cx="9718651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[1] </a:t>
            </a:r>
            <a:r>
              <a:rPr lang="en-US" altLang="ko-KR" sz="7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Shijie</a:t>
            </a:r>
            <a:r>
              <a:rPr lang="en-US" altLang="ko-KR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Sun, Yun Yu, Dimension and formation of placeness of commercial public space in city center: A case study of </a:t>
            </a:r>
            <a:r>
              <a:rPr lang="en-US" altLang="ko-KR" sz="7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Deji</a:t>
            </a:r>
            <a:r>
              <a:rPr lang="en-US" altLang="ko-KR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Plaza in Nanjing, Frontiers of Architectural Research, Volume 10, Issue 2, 2021, Pages 229-239.</a:t>
            </a:r>
            <a:endParaRPr lang="en-US" altLang="ko-KR" sz="700" dirty="0"/>
          </a:p>
          <a:p>
            <a:pPr latinLnBrk="1"/>
            <a:r>
              <a:rPr lang="en-US" altLang="ko-KR" sz="700" dirty="0"/>
              <a:t>[2] </a:t>
            </a:r>
            <a:r>
              <a:rPr lang="ko-KR" altLang="en-US" sz="700" dirty="0" err="1"/>
              <a:t>류호창</a:t>
            </a:r>
            <a:r>
              <a:rPr lang="en-US" altLang="ko-KR" sz="700" dirty="0"/>
              <a:t>, "</a:t>
            </a:r>
            <a:r>
              <a:rPr lang="ko-KR" altLang="en-US" sz="700" dirty="0"/>
              <a:t>실내공간에서의 </a:t>
            </a:r>
            <a:r>
              <a:rPr lang="ko-KR" altLang="en-US" sz="700" dirty="0" err="1"/>
              <a:t>장소성</a:t>
            </a:r>
            <a:r>
              <a:rPr lang="ko-KR" altLang="en-US" sz="700" dirty="0"/>
              <a:t> 구현 요소에 관한 연구</a:t>
            </a:r>
            <a:r>
              <a:rPr lang="en-US" altLang="ko-KR" sz="700" dirty="0"/>
              <a:t>: </a:t>
            </a:r>
            <a:r>
              <a:rPr lang="ko-KR" altLang="en-US" sz="700" dirty="0"/>
              <a:t>주거공간을 중심으로</a:t>
            </a:r>
            <a:r>
              <a:rPr lang="en-US" altLang="ko-KR" sz="700" dirty="0"/>
              <a:t>," </a:t>
            </a:r>
            <a:r>
              <a:rPr lang="ko-KR" altLang="en-US" sz="700" i="1" dirty="0"/>
              <a:t>한국실내디자인학회 논문집</a:t>
            </a:r>
            <a:r>
              <a:rPr lang="en-US" altLang="ko-KR" sz="700" dirty="0"/>
              <a:t>, 7</a:t>
            </a:r>
            <a:r>
              <a:rPr lang="ko-KR" altLang="en-US" sz="700" dirty="0"/>
              <a:t>호</a:t>
            </a:r>
            <a:r>
              <a:rPr lang="en-US" altLang="ko-KR" sz="700" dirty="0"/>
              <a:t>, </a:t>
            </a:r>
            <a:r>
              <a:rPr lang="ko-KR" altLang="en-US" sz="700" dirty="0"/>
              <a:t>한국실내디자인학회</a:t>
            </a:r>
            <a:r>
              <a:rPr lang="en-US" altLang="ko-KR" sz="700" dirty="0"/>
              <a:t>, 1996. 4, 56-63</a:t>
            </a:r>
            <a:r>
              <a:rPr lang="ko-KR" altLang="en-US" sz="700" dirty="0"/>
              <a:t>쪽</a:t>
            </a:r>
            <a:r>
              <a:rPr lang="en-US" altLang="ko-KR" sz="700" dirty="0"/>
              <a:t>.</a:t>
            </a:r>
          </a:p>
          <a:p>
            <a:pPr latinLnBrk="1"/>
            <a:r>
              <a:rPr lang="en-US" altLang="ko-KR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[3] </a:t>
            </a:r>
            <a:r>
              <a:rPr lang="ko-KR" altLang="en-US" sz="7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곽풍명</a:t>
            </a:r>
            <a:r>
              <a:rPr lang="en-US" altLang="ko-KR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7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황연숙</a:t>
            </a:r>
            <a:r>
              <a:rPr lang="en-US" altLang="ko-KR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&amp; </a:t>
            </a:r>
            <a:r>
              <a:rPr lang="ko-KR" altLang="en-US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이주영</a:t>
            </a:r>
            <a:r>
              <a:rPr lang="en-US" altLang="ko-KR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. (2025). </a:t>
            </a:r>
            <a:r>
              <a:rPr lang="ko-KR" altLang="en-US" sz="7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장소성</a:t>
            </a:r>
            <a:r>
              <a:rPr lang="ko-KR" altLang="en-US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기반 박물관 공간디자인에 대한 사용자 인식 분석 연구</a:t>
            </a:r>
            <a:r>
              <a:rPr lang="en-US" altLang="ko-KR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. </a:t>
            </a:r>
            <a:r>
              <a:rPr lang="ko-KR" altLang="en-US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한국공간디자인학회 논문집</a:t>
            </a:r>
            <a:r>
              <a:rPr lang="en-US" altLang="ko-KR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20(5), 181-190.</a:t>
            </a:r>
          </a:p>
          <a:p>
            <a:r>
              <a:rPr lang="en-US" altLang="ko-KR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[4] </a:t>
            </a:r>
            <a:r>
              <a:rPr lang="ko-KR" altLang="ko-KR" sz="800" dirty="0">
                <a:latin typeface="Arial" panose="020B0604020202020204" pitchFamily="34" charset="0"/>
              </a:rPr>
              <a:t>이지혜 and 김지현. (2025). 복합문화공간 관점에서 본 대형카페의 공간디자인 전략 연구. 한국공간디자인학회 논문집, 20(8), 415-428.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B85FCD6E-56EA-B209-4179-876BF4A8DD39}"/>
              </a:ext>
            </a:extLst>
          </p:cNvPr>
          <p:cNvSpPr txBox="1">
            <a:spLocks/>
          </p:cNvSpPr>
          <p:nvPr/>
        </p:nvSpPr>
        <p:spPr>
          <a:xfrm>
            <a:off x="702452" y="570174"/>
            <a:ext cx="10515600" cy="810532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1" dirty="0" err="1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  <a:sym typeface="Wingdings" panose="05000000000000000000" pitchFamily="2" charset="2"/>
              </a:rPr>
              <a:t>장소성</a:t>
            </a:r>
            <a:r>
              <a:rPr lang="ko-KR" altLang="en-US" sz="1401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  <a:sym typeface="Wingdings" panose="05000000000000000000" pitchFamily="2" charset="2"/>
              </a:rPr>
              <a:t> 세부 요인에 대한 근거</a:t>
            </a:r>
            <a:endParaRPr kumimoji="1" lang="ko-KR" altLang="en-US" sz="140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08B5F66F-1236-700F-613F-889746946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63" y="0"/>
            <a:ext cx="10515600" cy="8899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7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2. </a:t>
            </a:r>
            <a:r>
              <a:rPr lang="ko-KR" altLang="en-US" sz="27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이론적 고찰</a:t>
            </a: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17892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960A4-AA25-B58F-6166-2F960C2ED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451B68F-4102-C652-2AF8-20FE32824FAD}"/>
              </a:ext>
            </a:extLst>
          </p:cNvPr>
          <p:cNvSpPr/>
          <p:nvPr/>
        </p:nvSpPr>
        <p:spPr>
          <a:xfrm>
            <a:off x="7247834" y="2430596"/>
            <a:ext cx="3451839" cy="62200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0D6DB73-7A7A-B2DB-B6C1-F00235EB154B}"/>
              </a:ext>
            </a:extLst>
          </p:cNvPr>
          <p:cNvSpPr/>
          <p:nvPr/>
        </p:nvSpPr>
        <p:spPr>
          <a:xfrm>
            <a:off x="1520460" y="1690907"/>
            <a:ext cx="9388469" cy="296293"/>
          </a:xfrm>
          <a:prstGeom prst="roundRect">
            <a:avLst>
              <a:gd name="adj" fmla="val 0"/>
            </a:avLst>
          </a:prstGeom>
          <a:solidFill>
            <a:schemeClr val="tx2">
              <a:lumMod val="25000"/>
              <a:lumOff val="75000"/>
              <a:alpha val="73000"/>
            </a:schemeClr>
          </a:solidFill>
          <a:ln w="1270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장소성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 정량화 시스템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3F07EAC-8140-8087-B3C4-2924FEE90E3D}"/>
              </a:ext>
            </a:extLst>
          </p:cNvPr>
          <p:cNvSpPr/>
          <p:nvPr/>
        </p:nvSpPr>
        <p:spPr>
          <a:xfrm>
            <a:off x="1520460" y="2079431"/>
            <a:ext cx="9388469" cy="2311256"/>
          </a:xfrm>
          <a:prstGeom prst="rect">
            <a:avLst/>
          </a:prstGeom>
          <a:noFill/>
          <a:ln w="6350" cap="flat" cmpd="sng" algn="ctr">
            <a:solidFill>
              <a:schemeClr val="tx2">
                <a:lumMod val="25000"/>
                <a:lumOff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44A0B81-298A-2623-BF1D-1FE3E9EB0771}"/>
              </a:ext>
            </a:extLst>
          </p:cNvPr>
          <p:cNvSpPr txBox="1"/>
          <p:nvPr/>
        </p:nvSpPr>
        <p:spPr>
          <a:xfrm>
            <a:off x="5005681" y="3143030"/>
            <a:ext cx="10390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외부 데이터 적용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504326B-98F6-9C7B-5953-8F2581383297}"/>
              </a:ext>
            </a:extLst>
          </p:cNvPr>
          <p:cNvSpPr/>
          <p:nvPr/>
        </p:nvSpPr>
        <p:spPr>
          <a:xfrm>
            <a:off x="1633945" y="3501908"/>
            <a:ext cx="6915386" cy="259795"/>
          </a:xfrm>
          <a:prstGeom prst="roundRect">
            <a:avLst>
              <a:gd name="adj" fmla="val 0"/>
            </a:avLst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84311E-BB74-8FBF-6BFD-9E01E5910B28}"/>
              </a:ext>
            </a:extLst>
          </p:cNvPr>
          <p:cNvSpPr txBox="1"/>
          <p:nvPr/>
        </p:nvSpPr>
        <p:spPr>
          <a:xfrm>
            <a:off x="3526037" y="3539210"/>
            <a:ext cx="32682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레퍼런스 기반 </a:t>
            </a:r>
            <a:r>
              <a:rPr lang="ko-KR" altLang="en-US" sz="10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 분류 및 표준 문장 체계</a:t>
            </a:r>
            <a:endParaRPr lang="en-US" altLang="ko-KR" sz="10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8EC93C76-F134-ACC2-6D19-194709698137}"/>
              </a:ext>
            </a:extLst>
          </p:cNvPr>
          <p:cNvSpPr/>
          <p:nvPr/>
        </p:nvSpPr>
        <p:spPr>
          <a:xfrm>
            <a:off x="1633943" y="3763584"/>
            <a:ext cx="6915386" cy="195887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7155AFB5-11A8-9556-7ED6-EE9854D20041}"/>
              </a:ext>
            </a:extLst>
          </p:cNvPr>
          <p:cNvSpPr/>
          <p:nvPr/>
        </p:nvSpPr>
        <p:spPr>
          <a:xfrm>
            <a:off x="3189112" y="2206774"/>
            <a:ext cx="3699417" cy="228600"/>
          </a:xfrm>
          <a:prstGeom prst="roundRect">
            <a:avLst>
              <a:gd name="adj" fmla="val 0"/>
            </a:avLst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0FD35DD-7BD0-6DA3-5897-300060F60F0E}"/>
              </a:ext>
            </a:extLst>
          </p:cNvPr>
          <p:cNvSpPr txBox="1"/>
          <p:nvPr/>
        </p:nvSpPr>
        <p:spPr>
          <a:xfrm>
            <a:off x="3114483" y="2223985"/>
            <a:ext cx="32682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 매핑 모듈</a:t>
            </a:r>
            <a:endParaRPr lang="en-US" altLang="ko-KR" sz="10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1833276F-911E-EC48-C3F8-EC02447C2A67}"/>
              </a:ext>
            </a:extLst>
          </p:cNvPr>
          <p:cNvSpPr/>
          <p:nvPr/>
        </p:nvSpPr>
        <p:spPr>
          <a:xfrm>
            <a:off x="3190036" y="2430472"/>
            <a:ext cx="3698495" cy="62661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1F26224E-F957-081E-C1B9-E849071001E0}"/>
              </a:ext>
            </a:extLst>
          </p:cNvPr>
          <p:cNvGrpSpPr/>
          <p:nvPr/>
        </p:nvGrpSpPr>
        <p:grpSpPr>
          <a:xfrm>
            <a:off x="4233941" y="2506320"/>
            <a:ext cx="2679105" cy="389504"/>
            <a:chOff x="5091853" y="3097356"/>
            <a:chExt cx="2381851" cy="389504"/>
          </a:xfrm>
        </p:grpSpPr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6504164B-21CC-2AB2-832A-EB32D16D9DD8}"/>
                </a:ext>
              </a:extLst>
            </p:cNvPr>
            <p:cNvSpPr/>
            <p:nvPr/>
          </p:nvSpPr>
          <p:spPr>
            <a:xfrm>
              <a:off x="5159292" y="3097356"/>
              <a:ext cx="1112951" cy="387278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요인별 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algn="ctr">
                <a:lnSpc>
                  <a:spcPts val="1200"/>
                </a:lnSpc>
              </a:pP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근거 문장 추출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cxnSp>
          <p:nvCxnSpPr>
            <p:cNvPr id="78" name="직선 화살표 연결선 77">
              <a:extLst>
                <a:ext uri="{FF2B5EF4-FFF2-40B4-BE49-F238E27FC236}">
                  <a16:creationId xmlns:a16="http://schemas.microsoft.com/office/drawing/2014/main" id="{8F16D4AA-F95E-D246-D003-F83AF3D28194}"/>
                </a:ext>
              </a:extLst>
            </p:cNvPr>
            <p:cNvCxnSpPr>
              <a:cxnSpLocks/>
            </p:cNvCxnSpPr>
            <p:nvPr/>
          </p:nvCxnSpPr>
          <p:spPr>
            <a:xfrm>
              <a:off x="5091853" y="3291641"/>
              <a:ext cx="127522" cy="0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E7AB5910-9909-92FF-982F-AA0C3A223F48}"/>
                </a:ext>
              </a:extLst>
            </p:cNvPr>
            <p:cNvSpPr/>
            <p:nvPr/>
          </p:nvSpPr>
          <p:spPr>
            <a:xfrm>
              <a:off x="6403244" y="3099582"/>
              <a:ext cx="1070460" cy="387278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요인별 관련성 높은 리뷰 문장과 매핑</a:t>
              </a:r>
            </a:p>
          </p:txBody>
        </p:sp>
      </p:grp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777CE567-BB24-3AB5-695F-E6BB8DA000EC}"/>
              </a:ext>
            </a:extLst>
          </p:cNvPr>
          <p:cNvCxnSpPr>
            <a:cxnSpLocks/>
          </p:cNvCxnSpPr>
          <p:nvPr/>
        </p:nvCxnSpPr>
        <p:spPr>
          <a:xfrm flipV="1">
            <a:off x="4929998" y="3028300"/>
            <a:ext cx="0" cy="453553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2E6AF7C-39DF-2B8E-8196-CF2479C00416}"/>
              </a:ext>
            </a:extLst>
          </p:cNvPr>
          <p:cNvCxnSpPr>
            <a:cxnSpLocks/>
          </p:cNvCxnSpPr>
          <p:nvPr/>
        </p:nvCxnSpPr>
        <p:spPr>
          <a:xfrm>
            <a:off x="3002419" y="2697549"/>
            <a:ext cx="127522" cy="0"/>
          </a:xfrm>
          <a:prstGeom prst="straightConnector1">
            <a:avLst/>
          </a:prstGeom>
          <a:ln>
            <a:headEnd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0C73F221-EF6B-A28E-9ED9-C5384E664BEE}"/>
              </a:ext>
            </a:extLst>
          </p:cNvPr>
          <p:cNvSpPr/>
          <p:nvPr/>
        </p:nvSpPr>
        <p:spPr>
          <a:xfrm>
            <a:off x="3351625" y="2520171"/>
            <a:ext cx="893321" cy="387278"/>
          </a:xfrm>
          <a:prstGeom prst="roundRect">
            <a:avLst>
              <a:gd name="adj" fmla="val 0"/>
            </a:avLst>
          </a:prstGeom>
          <a:noFill/>
          <a:ln w="63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리뷰 문장 속성 단위 분리</a:t>
            </a:r>
            <a:endParaRPr lang="en-US" altLang="ko-KR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6EF2A549-7D42-ED56-4B6B-5949AAE710C5}"/>
              </a:ext>
            </a:extLst>
          </p:cNvPr>
          <p:cNvSpPr/>
          <p:nvPr/>
        </p:nvSpPr>
        <p:spPr>
          <a:xfrm>
            <a:off x="1633945" y="3491681"/>
            <a:ext cx="6915386" cy="2230781"/>
          </a:xfrm>
          <a:prstGeom prst="roundRect">
            <a:avLst>
              <a:gd name="adj" fmla="val 1776"/>
            </a:avLst>
          </a:prstGeom>
          <a:noFill/>
          <a:ln w="19050">
            <a:solidFill>
              <a:schemeClr val="tx2">
                <a:lumMod val="90000"/>
                <a:lumOff val="1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68">
            <a:extLst>
              <a:ext uri="{FF2B5EF4-FFF2-40B4-BE49-F238E27FC236}">
                <a16:creationId xmlns:a16="http://schemas.microsoft.com/office/drawing/2014/main" id="{0A9302F1-2D02-AD98-94E6-5280C619831B}"/>
              </a:ext>
            </a:extLst>
          </p:cNvPr>
          <p:cNvSpPr/>
          <p:nvPr/>
        </p:nvSpPr>
        <p:spPr>
          <a:xfrm>
            <a:off x="3371737" y="2463602"/>
            <a:ext cx="2012111" cy="443842"/>
          </a:xfrm>
          <a:prstGeom prst="roundRect">
            <a:avLst>
              <a:gd name="adj" fmla="val 1776"/>
            </a:avLst>
          </a:prstGeom>
          <a:noFill/>
          <a:ln w="12700">
            <a:solidFill>
              <a:schemeClr val="tx2">
                <a:lumMod val="90000"/>
                <a:lumOff val="1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이등변 삼각형 30">
            <a:extLst>
              <a:ext uri="{FF2B5EF4-FFF2-40B4-BE49-F238E27FC236}">
                <a16:creationId xmlns:a16="http://schemas.microsoft.com/office/drawing/2014/main" id="{A64230CB-1FB5-F856-AE93-B40FEEFAAB3A}"/>
              </a:ext>
            </a:extLst>
          </p:cNvPr>
          <p:cNvSpPr/>
          <p:nvPr/>
        </p:nvSpPr>
        <p:spPr>
          <a:xfrm rot="5400000">
            <a:off x="1105254" y="3115301"/>
            <a:ext cx="510246" cy="160973"/>
          </a:xfrm>
          <a:prstGeom prst="triangle">
            <a:avLst/>
          </a:prstGeom>
          <a:solidFill>
            <a:schemeClr val="bg1">
              <a:lumMod val="85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B5E2E6B4-3CA5-FF32-A022-4BA95F28F8EE}"/>
              </a:ext>
            </a:extLst>
          </p:cNvPr>
          <p:cNvCxnSpPr>
            <a:cxnSpLocks/>
            <a:stCxn id="61" idx="3"/>
            <a:endCxn id="62" idx="1"/>
          </p:cNvCxnSpPr>
          <p:nvPr/>
        </p:nvCxnSpPr>
        <p:spPr>
          <a:xfrm flipV="1">
            <a:off x="2437233" y="4270878"/>
            <a:ext cx="212967" cy="53909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89578417-B209-2762-D594-FEF89AA24DC6}"/>
              </a:ext>
            </a:extLst>
          </p:cNvPr>
          <p:cNvCxnSpPr>
            <a:cxnSpLocks/>
            <a:endCxn id="63" idx="1"/>
          </p:cNvCxnSpPr>
          <p:nvPr/>
        </p:nvCxnSpPr>
        <p:spPr>
          <a:xfrm>
            <a:off x="2263273" y="4813593"/>
            <a:ext cx="38692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6B44D24D-0A37-9B57-5B8A-AA2AAA059E95}"/>
              </a:ext>
            </a:extLst>
          </p:cNvPr>
          <p:cNvCxnSpPr>
            <a:cxnSpLocks/>
            <a:stCxn id="61" idx="3"/>
            <a:endCxn id="64" idx="1"/>
          </p:cNvCxnSpPr>
          <p:nvPr/>
        </p:nvCxnSpPr>
        <p:spPr>
          <a:xfrm>
            <a:off x="2437233" y="4809968"/>
            <a:ext cx="212967" cy="54938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1A9E7819-C656-A6D2-0D59-5C2D70EC69EC}"/>
              </a:ext>
            </a:extLst>
          </p:cNvPr>
          <p:cNvSpPr/>
          <p:nvPr/>
        </p:nvSpPr>
        <p:spPr>
          <a:xfrm>
            <a:off x="1771123" y="3973854"/>
            <a:ext cx="2757880" cy="1665144"/>
          </a:xfrm>
          <a:prstGeom prst="roundRect">
            <a:avLst>
              <a:gd name="adj" fmla="val 4618"/>
            </a:avLst>
          </a:prstGeom>
          <a:noFill/>
          <a:ln w="12700">
            <a:solidFill>
              <a:schemeClr val="tx2">
                <a:lumMod val="90000"/>
                <a:lumOff val="1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36000" rtlCol="0" anchor="t"/>
          <a:lstStyle/>
          <a:p>
            <a:pPr algn="ctr">
              <a:lnSpc>
                <a:spcPts val="1400"/>
              </a:lnSpc>
            </a:pP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DA05634-0A4E-04C7-D77C-661EBD0F152B}"/>
              </a:ext>
            </a:extLst>
          </p:cNvPr>
          <p:cNvSpPr txBox="1"/>
          <p:nvPr/>
        </p:nvSpPr>
        <p:spPr>
          <a:xfrm>
            <a:off x="3981218" y="4815785"/>
            <a:ext cx="400238" cy="188664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en-US" altLang="ko-KR" sz="1401" dirty="0"/>
              <a:t>…</a:t>
            </a:r>
            <a:endParaRPr lang="ko-KR" altLang="en-US" sz="1401" dirty="0"/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A99498CD-88EB-79AA-1A98-20BF2FCCF290}"/>
              </a:ext>
            </a:extLst>
          </p:cNvPr>
          <p:cNvSpPr/>
          <p:nvPr/>
        </p:nvSpPr>
        <p:spPr>
          <a:xfrm>
            <a:off x="3739691" y="4302966"/>
            <a:ext cx="718867" cy="241713"/>
          </a:xfrm>
          <a:prstGeom prst="roundRect">
            <a:avLst>
              <a:gd name="adj" fmla="val 308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심미성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0D4ED252-F3A4-28A5-E74A-6087BA223700}"/>
              </a:ext>
            </a:extLst>
          </p:cNvPr>
          <p:cNvSpPr/>
          <p:nvPr/>
        </p:nvSpPr>
        <p:spPr>
          <a:xfrm>
            <a:off x="3753836" y="5354560"/>
            <a:ext cx="718867" cy="241713"/>
          </a:xfrm>
          <a:prstGeom prst="roundRect">
            <a:avLst>
              <a:gd name="adj" fmla="val 308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지역정체성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A7706394-E1A8-5974-C6FB-4E3AD71233CD}"/>
              </a:ext>
            </a:extLst>
          </p:cNvPr>
          <p:cNvCxnSpPr>
            <a:cxnSpLocks/>
            <a:stCxn id="62" idx="3"/>
            <a:endCxn id="65" idx="1"/>
          </p:cNvCxnSpPr>
          <p:nvPr/>
        </p:nvCxnSpPr>
        <p:spPr>
          <a:xfrm flipV="1">
            <a:off x="3526037" y="4141812"/>
            <a:ext cx="214003" cy="129066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2535ED18-9A94-5DB8-DE83-2158CB7652BB}"/>
              </a:ext>
            </a:extLst>
          </p:cNvPr>
          <p:cNvCxnSpPr>
            <a:cxnSpLocks/>
            <a:stCxn id="62" idx="3"/>
            <a:endCxn id="66" idx="1"/>
          </p:cNvCxnSpPr>
          <p:nvPr/>
        </p:nvCxnSpPr>
        <p:spPr>
          <a:xfrm>
            <a:off x="3526037" y="4270878"/>
            <a:ext cx="213654" cy="15294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14E06E06-AF68-829A-D85F-9D42CDA3CC15}"/>
              </a:ext>
            </a:extLst>
          </p:cNvPr>
          <p:cNvCxnSpPr>
            <a:cxnSpLocks/>
            <a:stCxn id="64" idx="3"/>
            <a:endCxn id="68" idx="1"/>
          </p:cNvCxnSpPr>
          <p:nvPr/>
        </p:nvCxnSpPr>
        <p:spPr>
          <a:xfrm>
            <a:off x="3526037" y="5359355"/>
            <a:ext cx="227799" cy="116062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982B598B-1AA7-2808-A846-BF115AE8E0BB}"/>
              </a:ext>
            </a:extLst>
          </p:cNvPr>
          <p:cNvSpPr txBox="1"/>
          <p:nvPr/>
        </p:nvSpPr>
        <p:spPr>
          <a:xfrm>
            <a:off x="6247355" y="5072761"/>
            <a:ext cx="400238" cy="188664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en-US" altLang="ko-KR" sz="1401" dirty="0"/>
              <a:t>…</a:t>
            </a:r>
            <a:endParaRPr lang="ko-KR" altLang="en-US" sz="1401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62C959A9-7E8C-F625-B029-DA3CEEC25129}"/>
              </a:ext>
            </a:extLst>
          </p:cNvPr>
          <p:cNvSpPr txBox="1"/>
          <p:nvPr/>
        </p:nvSpPr>
        <p:spPr>
          <a:xfrm>
            <a:off x="376277" y="1758758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0673BD9E-831E-17AC-3526-33A012A7D78C}"/>
              </a:ext>
            </a:extLst>
          </p:cNvPr>
          <p:cNvSpPr txBox="1"/>
          <p:nvPr/>
        </p:nvSpPr>
        <p:spPr>
          <a:xfrm>
            <a:off x="11281396" y="1758757"/>
            <a:ext cx="7409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사각형: 둥근 모서리 138">
            <a:extLst>
              <a:ext uri="{FF2B5EF4-FFF2-40B4-BE49-F238E27FC236}">
                <a16:creationId xmlns:a16="http://schemas.microsoft.com/office/drawing/2014/main" id="{6D598F01-42EA-E6F3-3660-65594F7E62E9}"/>
              </a:ext>
            </a:extLst>
          </p:cNvPr>
          <p:cNvSpPr/>
          <p:nvPr/>
        </p:nvSpPr>
        <p:spPr>
          <a:xfrm>
            <a:off x="6574411" y="3967392"/>
            <a:ext cx="1769405" cy="822960"/>
          </a:xfrm>
          <a:prstGeom prst="roundRect">
            <a:avLst>
              <a:gd name="adj" fmla="val 3080"/>
            </a:avLst>
          </a:prstGeom>
          <a:noFill/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공간의 배치와 시야 구성이 외부 조망과 시각적 연결을 확보하여</a:t>
            </a:r>
            <a:r>
              <a:rPr lang="en-US" altLang="ko-KR" sz="8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8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이용자에게 확장감과 낮은 폐쇄감을 느끼게 하는 특성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6E6DB371-FD85-87EF-636B-A626F3F64BA6}"/>
              </a:ext>
            </a:extLst>
          </p:cNvPr>
          <p:cNvSpPr/>
          <p:nvPr/>
        </p:nvSpPr>
        <p:spPr>
          <a:xfrm>
            <a:off x="6517763" y="3768759"/>
            <a:ext cx="1677721" cy="174905"/>
          </a:xfrm>
          <a:prstGeom prst="roundRect">
            <a:avLst>
              <a:gd name="adj" fmla="val 0"/>
            </a:avLst>
          </a:prstGeom>
          <a:noFill/>
          <a:ln w="63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ko-KR" altLang="en-US" sz="9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설명</a:t>
            </a:r>
          </a:p>
        </p:txBody>
      </p: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E2588E68-37E6-8FDA-DF11-7E43DB71074C}"/>
              </a:ext>
            </a:extLst>
          </p:cNvPr>
          <p:cNvSpPr/>
          <p:nvPr/>
        </p:nvSpPr>
        <p:spPr>
          <a:xfrm>
            <a:off x="4716499" y="3967392"/>
            <a:ext cx="1594341" cy="822960"/>
          </a:xfrm>
          <a:prstGeom prst="roundRect">
            <a:avLst>
              <a:gd name="adj" fmla="val 3080"/>
            </a:avLst>
          </a:prstGeom>
          <a:noFill/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큰 창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,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높은 천장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,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시야를 막지 않는 배치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,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외부 경관과의 시각적 연결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6" name="사각형: 둥근 모서리 145">
            <a:extLst>
              <a:ext uri="{FF2B5EF4-FFF2-40B4-BE49-F238E27FC236}">
                <a16:creationId xmlns:a16="http://schemas.microsoft.com/office/drawing/2014/main" id="{22D5AE31-F15C-B24B-6E9F-0669F993A87D}"/>
              </a:ext>
            </a:extLst>
          </p:cNvPr>
          <p:cNvSpPr/>
          <p:nvPr/>
        </p:nvSpPr>
        <p:spPr>
          <a:xfrm>
            <a:off x="4649739" y="3809266"/>
            <a:ext cx="1248141" cy="112656"/>
          </a:xfrm>
          <a:prstGeom prst="roundRect">
            <a:avLst>
              <a:gd name="adj" fmla="val 0"/>
            </a:avLst>
          </a:prstGeom>
          <a:noFill/>
          <a:ln w="63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ko-KR" altLang="en-US" sz="9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키워드</a:t>
            </a:r>
          </a:p>
        </p:txBody>
      </p: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AB091E86-312B-8191-C834-6CCA0C6C2605}"/>
              </a:ext>
            </a:extLst>
          </p:cNvPr>
          <p:cNvCxnSpPr>
            <a:cxnSpLocks/>
          </p:cNvCxnSpPr>
          <p:nvPr/>
        </p:nvCxnSpPr>
        <p:spPr>
          <a:xfrm>
            <a:off x="6320537" y="4134524"/>
            <a:ext cx="253874" cy="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id="{DAB19FCA-834D-FD95-4E48-F65F81EC55CB}"/>
              </a:ext>
            </a:extLst>
          </p:cNvPr>
          <p:cNvCxnSpPr>
            <a:cxnSpLocks/>
          </p:cNvCxnSpPr>
          <p:nvPr/>
        </p:nvCxnSpPr>
        <p:spPr>
          <a:xfrm>
            <a:off x="4458558" y="4134524"/>
            <a:ext cx="256112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E722FE04-297E-0F2E-2069-C7405AA72E68}"/>
              </a:ext>
            </a:extLst>
          </p:cNvPr>
          <p:cNvSpPr/>
          <p:nvPr/>
        </p:nvSpPr>
        <p:spPr>
          <a:xfrm>
            <a:off x="2650200" y="4084920"/>
            <a:ext cx="875837" cy="371916"/>
          </a:xfrm>
          <a:prstGeom prst="roundRect">
            <a:avLst>
              <a:gd name="adj" fmla="val 308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물리적 특성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5ADC98AC-6BFD-ED15-BCF6-C94063C1F4C4}"/>
              </a:ext>
            </a:extLst>
          </p:cNvPr>
          <p:cNvSpPr/>
          <p:nvPr/>
        </p:nvSpPr>
        <p:spPr>
          <a:xfrm>
            <a:off x="2650200" y="4627635"/>
            <a:ext cx="875837" cy="371916"/>
          </a:xfrm>
          <a:prstGeom prst="roundRect">
            <a:avLst>
              <a:gd name="adj" fmla="val 308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활동적 특성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397C4C10-912F-8424-F2BA-61FAC5799296}"/>
              </a:ext>
            </a:extLst>
          </p:cNvPr>
          <p:cNvSpPr/>
          <p:nvPr/>
        </p:nvSpPr>
        <p:spPr>
          <a:xfrm>
            <a:off x="2650200" y="5173397"/>
            <a:ext cx="875837" cy="371916"/>
          </a:xfrm>
          <a:prstGeom prst="roundRect">
            <a:avLst>
              <a:gd name="adj" fmla="val 308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의미적 특성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F4DE4E8C-5218-4089-43D4-743453F48652}"/>
              </a:ext>
            </a:extLst>
          </p:cNvPr>
          <p:cNvSpPr/>
          <p:nvPr/>
        </p:nvSpPr>
        <p:spPr>
          <a:xfrm>
            <a:off x="1821634" y="4570981"/>
            <a:ext cx="615599" cy="477973"/>
          </a:xfrm>
          <a:prstGeom prst="roundRect">
            <a:avLst>
              <a:gd name="adj" fmla="val 19928"/>
            </a:avLst>
          </a:prstGeom>
          <a:solidFill>
            <a:srgbClr val="DCEAF7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장소성</a:t>
            </a:r>
            <a:endParaRPr lang="en-US" altLang="ko-KR" sz="10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720649F-867E-29C1-3E59-E41DFE216E18}"/>
              </a:ext>
            </a:extLst>
          </p:cNvPr>
          <p:cNvSpPr/>
          <p:nvPr/>
        </p:nvSpPr>
        <p:spPr>
          <a:xfrm>
            <a:off x="1681569" y="3806314"/>
            <a:ext cx="956173" cy="147671"/>
          </a:xfrm>
          <a:prstGeom prst="roundRect">
            <a:avLst>
              <a:gd name="adj" fmla="val 0"/>
            </a:avLst>
          </a:prstGeom>
          <a:noFill/>
          <a:ln w="63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ko-KR" altLang="en-US" sz="900" b="1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9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구성 요소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043FC7D-988E-C861-68B5-1A991ACF48E3}"/>
              </a:ext>
            </a:extLst>
          </p:cNvPr>
          <p:cNvSpPr/>
          <p:nvPr/>
        </p:nvSpPr>
        <p:spPr>
          <a:xfrm>
            <a:off x="73428" y="2066534"/>
            <a:ext cx="1126868" cy="23903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36000" rtlCol="0" anchor="t"/>
          <a:lstStyle/>
          <a:p>
            <a:pPr algn="ctr">
              <a:lnSpc>
                <a:spcPts val="1400"/>
              </a:lnSpc>
            </a:pPr>
            <a:endParaRPr lang="en-US" altLang="ko-KR" sz="3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r>
              <a:rPr lang="ko-KR" altLang="en-US" sz="10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텍스트 리뷰 </a:t>
            </a:r>
            <a:endParaRPr lang="en-US" altLang="ko-KR" sz="10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r>
              <a:rPr lang="ko-KR" altLang="en-US" sz="10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데이터</a:t>
            </a:r>
            <a:endParaRPr lang="en-US" altLang="ko-KR" sz="10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785F4206-29C1-C53E-786D-71ED2DA07159}"/>
              </a:ext>
            </a:extLst>
          </p:cNvPr>
          <p:cNvSpPr/>
          <p:nvPr/>
        </p:nvSpPr>
        <p:spPr>
          <a:xfrm>
            <a:off x="11220619" y="2183660"/>
            <a:ext cx="908576" cy="211930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36000" rtlCol="0" anchor="t"/>
          <a:lstStyle/>
          <a:p>
            <a:pPr algn="ctr">
              <a:lnSpc>
                <a:spcPts val="1400"/>
              </a:lnSpc>
            </a:pP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r>
              <a:rPr lang="ko-KR" altLang="en-US" sz="10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장소성</a:t>
            </a:r>
            <a:r>
              <a:rPr lang="ko-KR" altLang="en-US" sz="10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 점수</a:t>
            </a:r>
            <a:endParaRPr lang="en-US" altLang="ko-KR" sz="10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FD7AC6B-0BC0-887B-8CD7-E728DBC06014}"/>
              </a:ext>
            </a:extLst>
          </p:cNvPr>
          <p:cNvSpPr/>
          <p:nvPr/>
        </p:nvSpPr>
        <p:spPr>
          <a:xfrm>
            <a:off x="11294760" y="2815319"/>
            <a:ext cx="770628" cy="1253510"/>
          </a:xfrm>
          <a:prstGeom prst="rect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91F858E-B104-C424-7DD5-651C5409A40E}"/>
              </a:ext>
            </a:extLst>
          </p:cNvPr>
          <p:cNvSpPr txBox="1"/>
          <p:nvPr/>
        </p:nvSpPr>
        <p:spPr>
          <a:xfrm>
            <a:off x="11202689" y="3003732"/>
            <a:ext cx="9265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개방성</a:t>
            </a:r>
            <a:r>
              <a:rPr lang="en-US" altLang="ko-KR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0.95</a:t>
            </a:r>
          </a:p>
          <a:p>
            <a:pPr algn="ctr"/>
            <a:r>
              <a:rPr lang="ko-KR" altLang="en-US" sz="8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쾌적성</a:t>
            </a:r>
            <a:r>
              <a:rPr lang="en-US" altLang="ko-KR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0.8</a:t>
            </a:r>
          </a:p>
          <a:p>
            <a:pPr algn="ctr"/>
            <a:r>
              <a:rPr lang="ko-KR" altLang="en-US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활동성</a:t>
            </a:r>
            <a:r>
              <a:rPr lang="en-US" altLang="ko-KR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0.8</a:t>
            </a:r>
          </a:p>
          <a:p>
            <a:pPr algn="ctr"/>
            <a:r>
              <a:rPr lang="ko-KR" altLang="en-US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감각적 경험</a:t>
            </a:r>
            <a:r>
              <a:rPr lang="en-US" altLang="ko-KR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0.9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3418AD5-A5CE-9540-A0A2-9EDE76CE9704}"/>
              </a:ext>
            </a:extLst>
          </p:cNvPr>
          <p:cNvSpPr txBox="1"/>
          <p:nvPr/>
        </p:nvSpPr>
        <p:spPr>
          <a:xfrm>
            <a:off x="11558681" y="3615031"/>
            <a:ext cx="400238" cy="188664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en-US" altLang="ko-KR" sz="1401" dirty="0"/>
              <a:t>…</a:t>
            </a:r>
            <a:endParaRPr lang="ko-KR" altLang="en-US" sz="140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E785535-92E7-9160-F9DC-C806B592AC69}"/>
              </a:ext>
            </a:extLst>
          </p:cNvPr>
          <p:cNvSpPr txBox="1"/>
          <p:nvPr/>
        </p:nvSpPr>
        <p:spPr>
          <a:xfrm>
            <a:off x="3981420" y="6461380"/>
            <a:ext cx="4778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&lt; </a:t>
            </a:r>
            <a:r>
              <a:rPr lang="ko-KR" altLang="en-US" sz="1100" b="1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장소성</a:t>
            </a:r>
            <a:r>
              <a:rPr lang="ko-KR" altLang="en-US" sz="11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정량화 시스템 내부 상세 프로세스</a:t>
            </a:r>
            <a:r>
              <a:rPr lang="en-US" altLang="ko-KR" sz="11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</a:t>
            </a:r>
          </a:p>
        </p:txBody>
      </p:sp>
      <p:sp>
        <p:nvSpPr>
          <p:cNvPr id="82" name="말풍선: 모서리가 둥근 사각형 81">
            <a:extLst>
              <a:ext uri="{FF2B5EF4-FFF2-40B4-BE49-F238E27FC236}">
                <a16:creationId xmlns:a16="http://schemas.microsoft.com/office/drawing/2014/main" id="{4EDA650E-FDAE-893E-C9B7-E30728780E14}"/>
              </a:ext>
            </a:extLst>
          </p:cNvPr>
          <p:cNvSpPr/>
          <p:nvPr/>
        </p:nvSpPr>
        <p:spPr>
          <a:xfrm>
            <a:off x="407409" y="2669421"/>
            <a:ext cx="732133" cy="1546336"/>
          </a:xfrm>
          <a:prstGeom prst="wedgeRoundRectCallout">
            <a:avLst>
              <a:gd name="adj1" fmla="val -55600"/>
              <a:gd name="adj2" fmla="val 33301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36000" rIns="0" bIns="3600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“</a:t>
            </a:r>
            <a:r>
              <a:rPr lang="ko-KR" altLang="en-US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매장이 넓고 통창이라서 시야가 시원합니다</a:t>
            </a:r>
            <a:r>
              <a:rPr lang="en-US" altLang="ko-KR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. 2</a:t>
            </a:r>
            <a:r>
              <a:rPr lang="ko-KR" altLang="en-US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층은 많이 시끄럽고 </a:t>
            </a:r>
            <a:r>
              <a:rPr lang="en-US" altLang="ko-KR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3</a:t>
            </a:r>
            <a:r>
              <a:rPr lang="ko-KR" altLang="en-US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층은 조용한 편이에요</a:t>
            </a:r>
            <a:r>
              <a:rPr lang="en-US" altLang="ko-KR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화장실도 깔끔하고 커피가 </a:t>
            </a:r>
            <a:r>
              <a:rPr lang="en-US" altLang="ko-KR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XX</a:t>
            </a:r>
            <a:r>
              <a:rPr lang="ko-KR" altLang="en-US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매장 다녀본 곳 중에서는 제일 맛있는 것 같아요</a:t>
            </a:r>
            <a:r>
              <a:rPr lang="en-US" altLang="ko-KR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.”</a:t>
            </a:r>
          </a:p>
        </p:txBody>
      </p:sp>
      <p:pic>
        <p:nvPicPr>
          <p:cNvPr id="83" name="그림 82">
            <a:extLst>
              <a:ext uri="{FF2B5EF4-FFF2-40B4-BE49-F238E27FC236}">
                <a16:creationId xmlns:a16="http://schemas.microsoft.com/office/drawing/2014/main" id="{26E230E1-41EA-6950-2C41-7B7938C2AF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9" b="16768"/>
          <a:stretch>
            <a:fillRect/>
          </a:stretch>
        </p:blipFill>
        <p:spPr>
          <a:xfrm>
            <a:off x="51955" y="4009798"/>
            <a:ext cx="395805" cy="335475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A061BBA3-5F5A-E180-3D07-5B41FA2973E2}"/>
              </a:ext>
            </a:extLst>
          </p:cNvPr>
          <p:cNvSpPr txBox="1"/>
          <p:nvPr/>
        </p:nvSpPr>
        <p:spPr>
          <a:xfrm>
            <a:off x="664584" y="4201491"/>
            <a:ext cx="400238" cy="229758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en-US" altLang="ko-KR" sz="1401" dirty="0"/>
              <a:t>…</a:t>
            </a:r>
            <a:endParaRPr lang="ko-KR" altLang="en-US" sz="1401" dirty="0"/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59A7FB19-9114-F0AC-0B17-26356DE24166}"/>
              </a:ext>
            </a:extLst>
          </p:cNvPr>
          <p:cNvCxnSpPr>
            <a:cxnSpLocks/>
          </p:cNvCxnSpPr>
          <p:nvPr/>
        </p:nvCxnSpPr>
        <p:spPr>
          <a:xfrm>
            <a:off x="10421030" y="6337176"/>
            <a:ext cx="5648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19499BB4-0E55-C0E4-FB2D-3EF601BE83F5}"/>
              </a:ext>
            </a:extLst>
          </p:cNvPr>
          <p:cNvCxnSpPr>
            <a:cxnSpLocks/>
          </p:cNvCxnSpPr>
          <p:nvPr/>
        </p:nvCxnSpPr>
        <p:spPr>
          <a:xfrm>
            <a:off x="10421030" y="6594351"/>
            <a:ext cx="564866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507B5A41-2DEC-8F11-E681-FD5CC4B3628F}"/>
              </a:ext>
            </a:extLst>
          </p:cNvPr>
          <p:cNvSpPr txBox="1"/>
          <p:nvPr/>
        </p:nvSpPr>
        <p:spPr>
          <a:xfrm>
            <a:off x="11136231" y="6218321"/>
            <a:ext cx="8418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모듈 진행</a:t>
            </a:r>
            <a:endParaRPr lang="en-US" altLang="ko-KR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 활용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AB51C171-EB77-D16B-6608-E237B14FB86D}"/>
              </a:ext>
            </a:extLst>
          </p:cNvPr>
          <p:cNvSpPr/>
          <p:nvPr/>
        </p:nvSpPr>
        <p:spPr>
          <a:xfrm>
            <a:off x="7251318" y="2206898"/>
            <a:ext cx="3448355" cy="230587"/>
          </a:xfrm>
          <a:prstGeom prst="roundRect">
            <a:avLst>
              <a:gd name="adj" fmla="val 0"/>
            </a:avLst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39BD72-A4D1-D636-C963-CF6E65AA69F6}"/>
              </a:ext>
            </a:extLst>
          </p:cNvPr>
          <p:cNvSpPr txBox="1"/>
          <p:nvPr/>
        </p:nvSpPr>
        <p:spPr>
          <a:xfrm>
            <a:off x="7540695" y="2215866"/>
            <a:ext cx="30348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요인별 점수화 모듈</a:t>
            </a:r>
            <a:endParaRPr lang="en-US" altLang="ko-KR" sz="10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2A4809F-B1EE-C1B7-84BF-FCA6B84685E9}"/>
              </a:ext>
            </a:extLst>
          </p:cNvPr>
          <p:cNvGrpSpPr/>
          <p:nvPr/>
        </p:nvGrpSpPr>
        <p:grpSpPr>
          <a:xfrm>
            <a:off x="7784066" y="2534599"/>
            <a:ext cx="2379375" cy="387278"/>
            <a:chOff x="4774165" y="3075419"/>
            <a:chExt cx="2333594" cy="387278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A529660B-0090-EEB4-B72E-EA61D67EF1A7}"/>
                </a:ext>
              </a:extLst>
            </p:cNvPr>
            <p:cNvSpPr/>
            <p:nvPr/>
          </p:nvSpPr>
          <p:spPr>
            <a:xfrm>
              <a:off x="4774165" y="3075419"/>
              <a:ext cx="1110286" cy="387278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요인별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algn="ctr">
                <a:lnSpc>
                  <a:spcPts val="12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매핑된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리뷰 문장의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algn="ctr">
                <a:lnSpc>
                  <a:spcPts val="1200"/>
                </a:lnSpc>
              </a:pP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긍정</a:t>
              </a:r>
              <a:r>
                <a:rPr lang="en-US" altLang="ko-KR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 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부정 평가</a:t>
              </a: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6ADFA7C7-71D5-B016-8B47-A36C2E69DF5A}"/>
                </a:ext>
              </a:extLst>
            </p:cNvPr>
            <p:cNvSpPr/>
            <p:nvPr/>
          </p:nvSpPr>
          <p:spPr>
            <a:xfrm>
              <a:off x="5850707" y="3075419"/>
              <a:ext cx="1257052" cy="387278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요인별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algn="ctr">
                <a:lnSpc>
                  <a:spcPts val="1200"/>
                </a:lnSpc>
              </a:pP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종합 점수 산출 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B60B63FD-41BC-B8C7-AA7D-C5E322971509}"/>
                </a:ext>
              </a:extLst>
            </p:cNvPr>
            <p:cNvCxnSpPr>
              <a:cxnSpLocks/>
            </p:cNvCxnSpPr>
            <p:nvPr/>
          </p:nvCxnSpPr>
          <p:spPr>
            <a:xfrm>
              <a:off x="5902942" y="3293213"/>
              <a:ext cx="121563" cy="0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DC222855-19FF-1694-55BB-89E87A5C05C6}"/>
              </a:ext>
            </a:extLst>
          </p:cNvPr>
          <p:cNvSpPr/>
          <p:nvPr/>
        </p:nvSpPr>
        <p:spPr>
          <a:xfrm>
            <a:off x="3740040" y="4020955"/>
            <a:ext cx="718867" cy="241713"/>
          </a:xfrm>
          <a:prstGeom prst="roundRect">
            <a:avLst>
              <a:gd name="adj" fmla="val 3080"/>
            </a:avLst>
          </a:prstGeom>
          <a:solidFill>
            <a:srgbClr val="F2F2F2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개방성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805FABA6-DF84-42A4-DF43-117331B2687B}"/>
              </a:ext>
            </a:extLst>
          </p:cNvPr>
          <p:cNvCxnSpPr>
            <a:cxnSpLocks/>
            <a:stCxn id="73" idx="3"/>
            <a:endCxn id="19" idx="1"/>
          </p:cNvCxnSpPr>
          <p:nvPr/>
        </p:nvCxnSpPr>
        <p:spPr>
          <a:xfrm flipV="1">
            <a:off x="6888531" y="2741600"/>
            <a:ext cx="359303" cy="2177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이등변 삼각형 43">
            <a:extLst>
              <a:ext uri="{FF2B5EF4-FFF2-40B4-BE49-F238E27FC236}">
                <a16:creationId xmlns:a16="http://schemas.microsoft.com/office/drawing/2014/main" id="{8E9419DA-393F-976A-783D-4D229003C6F1}"/>
              </a:ext>
            </a:extLst>
          </p:cNvPr>
          <p:cNvSpPr/>
          <p:nvPr/>
        </p:nvSpPr>
        <p:spPr>
          <a:xfrm rot="5400000">
            <a:off x="10813150" y="3115302"/>
            <a:ext cx="510246" cy="160973"/>
          </a:xfrm>
          <a:prstGeom prst="triangle">
            <a:avLst/>
          </a:prstGeom>
          <a:solidFill>
            <a:schemeClr val="bg1">
              <a:lumMod val="85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921FC5F9-2AAC-040B-DEBC-7CCD01E62B51}"/>
              </a:ext>
            </a:extLst>
          </p:cNvPr>
          <p:cNvCxnSpPr>
            <a:cxnSpLocks/>
          </p:cNvCxnSpPr>
          <p:nvPr/>
        </p:nvCxnSpPr>
        <p:spPr>
          <a:xfrm>
            <a:off x="5584714" y="2697549"/>
            <a:ext cx="126983" cy="0"/>
          </a:xfrm>
          <a:prstGeom prst="straightConnector1">
            <a:avLst/>
          </a:prstGeom>
          <a:ln>
            <a:headEnd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9156F36-0EA9-6C10-5542-E1500AA32FF9}"/>
              </a:ext>
            </a:extLst>
          </p:cNvPr>
          <p:cNvSpPr/>
          <p:nvPr/>
        </p:nvSpPr>
        <p:spPr>
          <a:xfrm>
            <a:off x="1975581" y="2443083"/>
            <a:ext cx="995885" cy="60952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48790DEF-138E-9765-3770-3E83B55E7D07}"/>
              </a:ext>
            </a:extLst>
          </p:cNvPr>
          <p:cNvSpPr/>
          <p:nvPr/>
        </p:nvSpPr>
        <p:spPr>
          <a:xfrm>
            <a:off x="1966726" y="2548683"/>
            <a:ext cx="1019168" cy="387278"/>
          </a:xfrm>
          <a:prstGeom prst="roundRect">
            <a:avLst>
              <a:gd name="adj" fmla="val 0"/>
            </a:avLst>
          </a:prstGeom>
          <a:noFill/>
          <a:ln w="63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리뷰 데이터 형식 정제 및 공간 관련 리뷰 선별</a:t>
            </a:r>
            <a:endParaRPr lang="en-US" altLang="ko-KR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B2C941F-1C91-B1F4-F386-3A1DBB62CED6}"/>
              </a:ext>
            </a:extLst>
          </p:cNvPr>
          <p:cNvSpPr/>
          <p:nvPr/>
        </p:nvSpPr>
        <p:spPr>
          <a:xfrm>
            <a:off x="3279654" y="2852156"/>
            <a:ext cx="821551" cy="200449"/>
          </a:xfrm>
          <a:prstGeom prst="roundRect">
            <a:avLst>
              <a:gd name="adj" fmla="val 0"/>
            </a:avLst>
          </a:prstGeom>
          <a:noFill/>
          <a:ln w="63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600" i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LLM </a:t>
            </a:r>
            <a:r>
              <a:rPr lang="ko-KR" altLang="en-US" sz="600" i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활용</a:t>
            </a:r>
            <a:endParaRPr lang="en-US" altLang="ko-KR" sz="600" i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39541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E3C52-EDDB-FB7F-DD02-4DFCBE32C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93044B8-4F17-B3C8-2DC2-2A725BA0B82B}"/>
              </a:ext>
            </a:extLst>
          </p:cNvPr>
          <p:cNvSpPr/>
          <p:nvPr/>
        </p:nvSpPr>
        <p:spPr>
          <a:xfrm>
            <a:off x="1520460" y="1690907"/>
            <a:ext cx="9388469" cy="296293"/>
          </a:xfrm>
          <a:prstGeom prst="roundRect">
            <a:avLst>
              <a:gd name="adj" fmla="val 0"/>
            </a:avLst>
          </a:prstGeom>
          <a:solidFill>
            <a:schemeClr val="tx2">
              <a:lumMod val="25000"/>
              <a:lumOff val="75000"/>
              <a:alpha val="73000"/>
            </a:schemeClr>
          </a:solidFill>
          <a:ln w="1270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장소성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 정량화 시스템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B464E0B-BF1E-9A29-140E-9124A8F18A3A}"/>
              </a:ext>
            </a:extLst>
          </p:cNvPr>
          <p:cNvSpPr/>
          <p:nvPr/>
        </p:nvSpPr>
        <p:spPr>
          <a:xfrm>
            <a:off x="1520460" y="2079431"/>
            <a:ext cx="9388469" cy="2311256"/>
          </a:xfrm>
          <a:prstGeom prst="rect">
            <a:avLst/>
          </a:prstGeom>
          <a:noFill/>
          <a:ln w="6350" cap="flat" cmpd="sng" algn="ctr">
            <a:solidFill>
              <a:schemeClr val="tx2">
                <a:lumMod val="25000"/>
                <a:lumOff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98C9528-E963-37EC-AC7F-0556F5BF491E}"/>
              </a:ext>
            </a:extLst>
          </p:cNvPr>
          <p:cNvSpPr txBox="1"/>
          <p:nvPr/>
        </p:nvSpPr>
        <p:spPr>
          <a:xfrm>
            <a:off x="5834512" y="3182015"/>
            <a:ext cx="10390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외부 데이터 적용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29F288E-96A3-CA52-51A2-82EE208E1DB9}"/>
              </a:ext>
            </a:extLst>
          </p:cNvPr>
          <p:cNvSpPr/>
          <p:nvPr/>
        </p:nvSpPr>
        <p:spPr>
          <a:xfrm>
            <a:off x="1633944" y="3501908"/>
            <a:ext cx="8797399" cy="259795"/>
          </a:xfrm>
          <a:prstGeom prst="roundRect">
            <a:avLst>
              <a:gd name="adj" fmla="val 0"/>
            </a:avLst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D8EE66-8243-B218-C209-79E8E51B1B45}"/>
              </a:ext>
            </a:extLst>
          </p:cNvPr>
          <p:cNvSpPr txBox="1"/>
          <p:nvPr/>
        </p:nvSpPr>
        <p:spPr>
          <a:xfrm>
            <a:off x="4503862" y="3529580"/>
            <a:ext cx="32682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레퍼런스 기반 </a:t>
            </a:r>
            <a:r>
              <a:rPr lang="ko-KR" altLang="en-US" sz="10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 분류 및 표준 문장 체계</a:t>
            </a:r>
            <a:endParaRPr lang="en-US" altLang="ko-KR" sz="10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78216EFF-D4A8-1C3C-D0DC-A2718189A125}"/>
              </a:ext>
            </a:extLst>
          </p:cNvPr>
          <p:cNvSpPr/>
          <p:nvPr/>
        </p:nvSpPr>
        <p:spPr>
          <a:xfrm>
            <a:off x="1633943" y="3763583"/>
            <a:ext cx="8797400" cy="193778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C3FC06E6-2D4D-C30A-68CA-15E8D0DBAB80}"/>
              </a:ext>
            </a:extLst>
          </p:cNvPr>
          <p:cNvSpPr/>
          <p:nvPr/>
        </p:nvSpPr>
        <p:spPr>
          <a:xfrm>
            <a:off x="3216455" y="2220090"/>
            <a:ext cx="4435204" cy="262132"/>
          </a:xfrm>
          <a:prstGeom prst="roundRect">
            <a:avLst>
              <a:gd name="adj" fmla="val 0"/>
            </a:avLst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811B6D5-29DD-59E9-C890-5C0B25D50711}"/>
              </a:ext>
            </a:extLst>
          </p:cNvPr>
          <p:cNvSpPr txBox="1"/>
          <p:nvPr/>
        </p:nvSpPr>
        <p:spPr>
          <a:xfrm>
            <a:off x="3838770" y="2232592"/>
            <a:ext cx="32682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 매핑 모듈</a:t>
            </a:r>
            <a:endParaRPr lang="en-US" altLang="ko-KR" sz="10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2E9209D2-866B-3846-82CD-713EE42C3632}"/>
              </a:ext>
            </a:extLst>
          </p:cNvPr>
          <p:cNvSpPr/>
          <p:nvPr/>
        </p:nvSpPr>
        <p:spPr>
          <a:xfrm>
            <a:off x="3216455" y="2445244"/>
            <a:ext cx="4442876" cy="5795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3076E0A3-92B6-8640-4DCE-11EE7852D77F}"/>
              </a:ext>
            </a:extLst>
          </p:cNvPr>
          <p:cNvGrpSpPr/>
          <p:nvPr/>
        </p:nvGrpSpPr>
        <p:grpSpPr>
          <a:xfrm>
            <a:off x="4986606" y="2513527"/>
            <a:ext cx="2721529" cy="395418"/>
            <a:chOff x="4721003" y="3092091"/>
            <a:chExt cx="2605352" cy="395418"/>
          </a:xfrm>
        </p:grpSpPr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6DC58802-1100-3DF8-392D-EB5AB5CED74A}"/>
                </a:ext>
              </a:extLst>
            </p:cNvPr>
            <p:cNvSpPr/>
            <p:nvPr/>
          </p:nvSpPr>
          <p:spPr>
            <a:xfrm>
              <a:off x="4861465" y="3092091"/>
              <a:ext cx="1372190" cy="387278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필터링된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리뷰 문장과 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algn="ctr">
                <a:lnSpc>
                  <a:spcPts val="12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요인 표준 문장 비교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cxnSp>
          <p:nvCxnSpPr>
            <p:cNvPr id="78" name="직선 화살표 연결선 77">
              <a:extLst>
                <a:ext uri="{FF2B5EF4-FFF2-40B4-BE49-F238E27FC236}">
                  <a16:creationId xmlns:a16="http://schemas.microsoft.com/office/drawing/2014/main" id="{5498EB8E-CD6C-4458-B364-8B5123534709}"/>
                </a:ext>
              </a:extLst>
            </p:cNvPr>
            <p:cNvCxnSpPr>
              <a:cxnSpLocks/>
            </p:cNvCxnSpPr>
            <p:nvPr/>
          </p:nvCxnSpPr>
          <p:spPr>
            <a:xfrm>
              <a:off x="4721003" y="3283498"/>
              <a:ext cx="127522" cy="0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8BD7DB10-48C6-8FCD-088D-8F614E07562B}"/>
                </a:ext>
              </a:extLst>
            </p:cNvPr>
            <p:cNvSpPr/>
            <p:nvPr/>
          </p:nvSpPr>
          <p:spPr>
            <a:xfrm>
              <a:off x="6241004" y="3100231"/>
              <a:ext cx="1085351" cy="387278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리뷰 문장과 관련된 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algn="ctr">
                <a:lnSpc>
                  <a:spcPts val="12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요인 매핑</a:t>
              </a:r>
            </a:p>
          </p:txBody>
        </p:sp>
        <p:cxnSp>
          <p:nvCxnSpPr>
            <p:cNvPr id="80" name="직선 화살표 연결선 79">
              <a:extLst>
                <a:ext uri="{FF2B5EF4-FFF2-40B4-BE49-F238E27FC236}">
                  <a16:creationId xmlns:a16="http://schemas.microsoft.com/office/drawing/2014/main" id="{7EC01114-7065-0F72-FC27-F49DE95037D6}"/>
                </a:ext>
              </a:extLst>
            </p:cNvPr>
            <p:cNvCxnSpPr>
              <a:cxnSpLocks/>
            </p:cNvCxnSpPr>
            <p:nvPr/>
          </p:nvCxnSpPr>
          <p:spPr>
            <a:xfrm>
              <a:off x="6226225" y="3292408"/>
              <a:ext cx="121563" cy="0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D29F7FD2-71C0-21D1-61DF-B2B8C90F0496}"/>
              </a:ext>
            </a:extLst>
          </p:cNvPr>
          <p:cNvSpPr/>
          <p:nvPr/>
        </p:nvSpPr>
        <p:spPr>
          <a:xfrm rot="5400000">
            <a:off x="9628578" y="3127792"/>
            <a:ext cx="2116333" cy="234019"/>
          </a:xfrm>
          <a:prstGeom prst="roundRect">
            <a:avLst>
              <a:gd name="adj" fmla="val 0"/>
            </a:avLst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FAB3536-A4F0-DB66-9E04-023BA9C582EB}"/>
              </a:ext>
            </a:extLst>
          </p:cNvPr>
          <p:cNvSpPr txBox="1"/>
          <p:nvPr/>
        </p:nvSpPr>
        <p:spPr>
          <a:xfrm rot="5400000">
            <a:off x="9747019" y="3138001"/>
            <a:ext cx="18522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요인별 점수화 모듈</a:t>
            </a:r>
            <a:endParaRPr lang="en-US" altLang="ko-KR" sz="10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A855E4F4-81BA-6FA6-75AA-BDC99EBCFEF8}"/>
              </a:ext>
            </a:extLst>
          </p:cNvPr>
          <p:cNvCxnSpPr>
            <a:cxnSpLocks/>
          </p:cNvCxnSpPr>
          <p:nvPr/>
        </p:nvCxnSpPr>
        <p:spPr>
          <a:xfrm flipV="1">
            <a:off x="5824121" y="2989975"/>
            <a:ext cx="0" cy="49933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682FDC41-EB4D-D9F0-EEB7-783F575AC4EC}"/>
              </a:ext>
            </a:extLst>
          </p:cNvPr>
          <p:cNvCxnSpPr>
            <a:cxnSpLocks/>
          </p:cNvCxnSpPr>
          <p:nvPr/>
        </p:nvCxnSpPr>
        <p:spPr>
          <a:xfrm>
            <a:off x="4052188" y="2700559"/>
            <a:ext cx="127522" cy="0"/>
          </a:xfrm>
          <a:prstGeom prst="straightConnector1">
            <a:avLst/>
          </a:prstGeom>
          <a:ln>
            <a:headEnd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02C393B6-F302-E81C-5874-54D2962FE54F}"/>
              </a:ext>
            </a:extLst>
          </p:cNvPr>
          <p:cNvSpPr/>
          <p:nvPr/>
        </p:nvSpPr>
        <p:spPr>
          <a:xfrm>
            <a:off x="4156463" y="2513527"/>
            <a:ext cx="869327" cy="387278"/>
          </a:xfrm>
          <a:prstGeom prst="roundRect">
            <a:avLst>
              <a:gd name="adj" fmla="val 0"/>
            </a:avLst>
          </a:prstGeom>
          <a:noFill/>
          <a:ln w="63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공간 관련 리뷰 의미적 필터링</a:t>
            </a:r>
            <a:endParaRPr lang="en-US" altLang="ko-KR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97D444D9-4C82-93F3-794D-F9621C3E9857}"/>
              </a:ext>
            </a:extLst>
          </p:cNvPr>
          <p:cNvSpPr/>
          <p:nvPr/>
        </p:nvSpPr>
        <p:spPr>
          <a:xfrm>
            <a:off x="3230655" y="2508938"/>
            <a:ext cx="869327" cy="387278"/>
          </a:xfrm>
          <a:prstGeom prst="roundRect">
            <a:avLst>
              <a:gd name="adj" fmla="val 0"/>
            </a:avLst>
          </a:prstGeom>
          <a:noFill/>
          <a:ln w="63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리뷰 데이터 </a:t>
            </a:r>
            <a:endParaRPr lang="en-US" altLang="ko-KR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ts val="12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형식 정제</a:t>
            </a:r>
            <a:endParaRPr lang="en-US" altLang="ko-KR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4055EC27-54A7-3F23-4AEA-2B9EFF365707}"/>
              </a:ext>
            </a:extLst>
          </p:cNvPr>
          <p:cNvSpPr/>
          <p:nvPr/>
        </p:nvSpPr>
        <p:spPr>
          <a:xfrm>
            <a:off x="1633945" y="3491682"/>
            <a:ext cx="8797400" cy="2209692"/>
          </a:xfrm>
          <a:prstGeom prst="roundRect">
            <a:avLst>
              <a:gd name="adj" fmla="val 1776"/>
            </a:avLst>
          </a:prstGeom>
          <a:noFill/>
          <a:ln w="19050">
            <a:solidFill>
              <a:schemeClr val="tx2">
                <a:lumMod val="90000"/>
                <a:lumOff val="1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68">
            <a:extLst>
              <a:ext uri="{FF2B5EF4-FFF2-40B4-BE49-F238E27FC236}">
                <a16:creationId xmlns:a16="http://schemas.microsoft.com/office/drawing/2014/main" id="{96D47E93-6673-83D0-C357-9E5C29EE4970}"/>
              </a:ext>
            </a:extLst>
          </p:cNvPr>
          <p:cNvSpPr/>
          <p:nvPr/>
        </p:nvSpPr>
        <p:spPr>
          <a:xfrm>
            <a:off x="5172852" y="2472588"/>
            <a:ext cx="1345053" cy="511038"/>
          </a:xfrm>
          <a:prstGeom prst="roundRect">
            <a:avLst>
              <a:gd name="adj" fmla="val 1776"/>
            </a:avLst>
          </a:prstGeom>
          <a:noFill/>
          <a:ln w="12700">
            <a:solidFill>
              <a:schemeClr val="tx2">
                <a:lumMod val="90000"/>
                <a:lumOff val="1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이등변 삼각형 30">
            <a:extLst>
              <a:ext uri="{FF2B5EF4-FFF2-40B4-BE49-F238E27FC236}">
                <a16:creationId xmlns:a16="http://schemas.microsoft.com/office/drawing/2014/main" id="{D514039E-8704-13B9-67D9-13694175F5D2}"/>
              </a:ext>
            </a:extLst>
          </p:cNvPr>
          <p:cNvSpPr/>
          <p:nvPr/>
        </p:nvSpPr>
        <p:spPr>
          <a:xfrm rot="5400000">
            <a:off x="1066187" y="3093762"/>
            <a:ext cx="588789" cy="176505"/>
          </a:xfrm>
          <a:prstGeom prst="triangle">
            <a:avLst/>
          </a:prstGeom>
          <a:solidFill>
            <a:schemeClr val="bg1">
              <a:lumMod val="85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8" name="이등변 삼각형 7">
            <a:extLst>
              <a:ext uri="{FF2B5EF4-FFF2-40B4-BE49-F238E27FC236}">
                <a16:creationId xmlns:a16="http://schemas.microsoft.com/office/drawing/2014/main" id="{34B99375-6076-77B5-B7A7-AFAF22E92762}"/>
              </a:ext>
            </a:extLst>
          </p:cNvPr>
          <p:cNvSpPr/>
          <p:nvPr/>
        </p:nvSpPr>
        <p:spPr>
          <a:xfrm rot="5400000">
            <a:off x="10776928" y="3146806"/>
            <a:ext cx="588789" cy="176505"/>
          </a:xfrm>
          <a:prstGeom prst="triangle">
            <a:avLst/>
          </a:prstGeom>
          <a:solidFill>
            <a:schemeClr val="bg1">
              <a:lumMod val="85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69FCD9A9-666D-FD10-B845-9C4B9CC35096}"/>
              </a:ext>
            </a:extLst>
          </p:cNvPr>
          <p:cNvSpPr/>
          <p:nvPr/>
        </p:nvSpPr>
        <p:spPr>
          <a:xfrm>
            <a:off x="8002668" y="2209596"/>
            <a:ext cx="1368166" cy="123875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36000" rtlCol="0" anchor="t"/>
          <a:lstStyle/>
          <a:p>
            <a:pPr algn="ctr">
              <a:lnSpc>
                <a:spcPts val="1400"/>
              </a:lnSpc>
            </a:pPr>
            <a:r>
              <a:rPr lang="ko-KR" altLang="en-US" sz="10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리뷰 문장에</a:t>
            </a:r>
            <a:endParaRPr lang="en-US" altLang="ko-KR" sz="10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r>
              <a:rPr lang="ko-KR" altLang="en-US" sz="10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매핑된</a:t>
            </a:r>
            <a:r>
              <a:rPr lang="ko-KR" altLang="en-US" sz="10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0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장소성</a:t>
            </a:r>
            <a:r>
              <a:rPr lang="ko-KR" altLang="en-US" sz="10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 요인</a:t>
            </a:r>
            <a:endParaRPr lang="en-US" altLang="ko-KR" sz="10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381829B-0370-6F67-64D5-4356325CE43F}"/>
              </a:ext>
            </a:extLst>
          </p:cNvPr>
          <p:cNvSpPr/>
          <p:nvPr/>
        </p:nvSpPr>
        <p:spPr>
          <a:xfrm>
            <a:off x="8254522" y="2591262"/>
            <a:ext cx="864458" cy="749273"/>
          </a:xfrm>
          <a:prstGeom prst="rect">
            <a:avLst/>
          </a:prstGeom>
          <a:solidFill>
            <a:schemeClr val="bg1"/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5623B7-420C-BC07-F1D2-862C913F5407}"/>
              </a:ext>
            </a:extLst>
          </p:cNvPr>
          <p:cNvSpPr txBox="1"/>
          <p:nvPr/>
        </p:nvSpPr>
        <p:spPr>
          <a:xfrm>
            <a:off x="8308282" y="2569003"/>
            <a:ext cx="756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개방성</a:t>
            </a:r>
            <a:r>
              <a:rPr lang="en-US" altLang="ko-KR" sz="9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</a:p>
          <a:p>
            <a:pPr algn="ctr"/>
            <a:r>
              <a:rPr lang="ko-KR" altLang="en-US" sz="9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활동성</a:t>
            </a:r>
            <a:r>
              <a:rPr lang="en-US" altLang="ko-KR" sz="9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</a:p>
          <a:p>
            <a:pPr algn="ctr"/>
            <a:r>
              <a:rPr lang="ko-KR" altLang="en-US" sz="9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쾌적성</a:t>
            </a:r>
            <a:r>
              <a:rPr lang="en-US" altLang="ko-KR" sz="9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</a:p>
          <a:p>
            <a:pPr algn="ctr"/>
            <a:r>
              <a:rPr lang="ko-KR" altLang="en-US" sz="9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감각적 경험</a:t>
            </a:r>
            <a:r>
              <a:rPr lang="en-US" altLang="ko-KR" sz="9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B96204-ECF3-99D2-F919-A85FFBFE7CD4}"/>
              </a:ext>
            </a:extLst>
          </p:cNvPr>
          <p:cNvSpPr txBox="1"/>
          <p:nvPr/>
        </p:nvSpPr>
        <p:spPr>
          <a:xfrm>
            <a:off x="8555112" y="3159731"/>
            <a:ext cx="353943" cy="168958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en-US" altLang="ko-KR" sz="1100" dirty="0"/>
              <a:t>…</a:t>
            </a:r>
            <a:endParaRPr lang="ko-KR" altLang="en-US" sz="1100" dirty="0"/>
          </a:p>
        </p:txBody>
      </p: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79CE7571-D64F-0B3C-7AF9-8CA2A7EDA69E}"/>
              </a:ext>
            </a:extLst>
          </p:cNvPr>
          <p:cNvCxnSpPr>
            <a:cxnSpLocks/>
            <a:stCxn id="61" idx="3"/>
            <a:endCxn id="62" idx="1"/>
          </p:cNvCxnSpPr>
          <p:nvPr/>
        </p:nvCxnSpPr>
        <p:spPr>
          <a:xfrm flipV="1">
            <a:off x="2389608" y="4270878"/>
            <a:ext cx="212967" cy="53909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3C59CF1D-D034-52F6-4BA4-333E80D4923F}"/>
              </a:ext>
            </a:extLst>
          </p:cNvPr>
          <p:cNvCxnSpPr>
            <a:cxnSpLocks/>
            <a:endCxn id="63" idx="1"/>
          </p:cNvCxnSpPr>
          <p:nvPr/>
        </p:nvCxnSpPr>
        <p:spPr>
          <a:xfrm>
            <a:off x="2215648" y="4813593"/>
            <a:ext cx="38692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6DB8469E-7C75-2EB6-625A-23FCB1E54AAE}"/>
              </a:ext>
            </a:extLst>
          </p:cNvPr>
          <p:cNvCxnSpPr>
            <a:cxnSpLocks/>
            <a:stCxn id="61" idx="3"/>
            <a:endCxn id="64" idx="1"/>
          </p:cNvCxnSpPr>
          <p:nvPr/>
        </p:nvCxnSpPr>
        <p:spPr>
          <a:xfrm>
            <a:off x="2389608" y="4809968"/>
            <a:ext cx="212967" cy="54938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C60FC639-BFA5-1DDB-4E89-8BE68A52CE71}"/>
              </a:ext>
            </a:extLst>
          </p:cNvPr>
          <p:cNvSpPr/>
          <p:nvPr/>
        </p:nvSpPr>
        <p:spPr>
          <a:xfrm>
            <a:off x="1723498" y="3973854"/>
            <a:ext cx="2757880" cy="1665144"/>
          </a:xfrm>
          <a:prstGeom prst="roundRect">
            <a:avLst>
              <a:gd name="adj" fmla="val 4618"/>
            </a:avLst>
          </a:prstGeom>
          <a:noFill/>
          <a:ln w="12700">
            <a:solidFill>
              <a:schemeClr val="tx2">
                <a:lumMod val="90000"/>
                <a:lumOff val="1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36000" rtlCol="0" anchor="t"/>
          <a:lstStyle/>
          <a:p>
            <a:pPr algn="ctr">
              <a:lnSpc>
                <a:spcPts val="1400"/>
              </a:lnSpc>
            </a:pP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F9DC345-AD5B-39A7-1D6A-EA96B991CC50}"/>
              </a:ext>
            </a:extLst>
          </p:cNvPr>
          <p:cNvSpPr txBox="1"/>
          <p:nvPr/>
        </p:nvSpPr>
        <p:spPr>
          <a:xfrm>
            <a:off x="3933593" y="4815785"/>
            <a:ext cx="400238" cy="188664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en-US" altLang="ko-KR" sz="1401" dirty="0"/>
              <a:t>…</a:t>
            </a:r>
            <a:endParaRPr lang="ko-KR" altLang="en-US" sz="1401" dirty="0"/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258F6640-FE4E-8542-45CF-2CD5F0F6BAE7}"/>
              </a:ext>
            </a:extLst>
          </p:cNvPr>
          <p:cNvSpPr/>
          <p:nvPr/>
        </p:nvSpPr>
        <p:spPr>
          <a:xfrm>
            <a:off x="3692415" y="4020955"/>
            <a:ext cx="718867" cy="241713"/>
          </a:xfrm>
          <a:prstGeom prst="roundRect">
            <a:avLst>
              <a:gd name="adj" fmla="val 3080"/>
            </a:avLst>
          </a:prstGeom>
          <a:solidFill>
            <a:srgbClr val="F2F2F2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개방성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6B26EEDB-6EB0-08FE-EDA6-4AAD0155BFF2}"/>
              </a:ext>
            </a:extLst>
          </p:cNvPr>
          <p:cNvSpPr/>
          <p:nvPr/>
        </p:nvSpPr>
        <p:spPr>
          <a:xfrm>
            <a:off x="3692066" y="4302966"/>
            <a:ext cx="718867" cy="241713"/>
          </a:xfrm>
          <a:prstGeom prst="roundRect">
            <a:avLst>
              <a:gd name="adj" fmla="val 308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심미성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2025D289-9992-9A4C-B62E-29EABA947B8A}"/>
              </a:ext>
            </a:extLst>
          </p:cNvPr>
          <p:cNvSpPr/>
          <p:nvPr/>
        </p:nvSpPr>
        <p:spPr>
          <a:xfrm>
            <a:off x="3706211" y="5354560"/>
            <a:ext cx="718867" cy="241713"/>
          </a:xfrm>
          <a:prstGeom prst="roundRect">
            <a:avLst>
              <a:gd name="adj" fmla="val 308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지역정체성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CA522B40-481D-DDF0-1DFE-23FC203C89A5}"/>
              </a:ext>
            </a:extLst>
          </p:cNvPr>
          <p:cNvCxnSpPr>
            <a:cxnSpLocks/>
            <a:stCxn id="62" idx="3"/>
            <a:endCxn id="65" idx="1"/>
          </p:cNvCxnSpPr>
          <p:nvPr/>
        </p:nvCxnSpPr>
        <p:spPr>
          <a:xfrm flipV="1">
            <a:off x="3478412" y="4141812"/>
            <a:ext cx="214003" cy="129066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D9F30A5E-B3FB-5AF3-092D-7CF74F1464E4}"/>
              </a:ext>
            </a:extLst>
          </p:cNvPr>
          <p:cNvCxnSpPr>
            <a:cxnSpLocks/>
            <a:stCxn id="62" idx="3"/>
            <a:endCxn id="66" idx="1"/>
          </p:cNvCxnSpPr>
          <p:nvPr/>
        </p:nvCxnSpPr>
        <p:spPr>
          <a:xfrm>
            <a:off x="3478412" y="4270878"/>
            <a:ext cx="213654" cy="15294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AB927407-005A-349D-A7B7-C4A5CBA853DD}"/>
              </a:ext>
            </a:extLst>
          </p:cNvPr>
          <p:cNvCxnSpPr>
            <a:cxnSpLocks/>
            <a:stCxn id="64" idx="3"/>
            <a:endCxn id="68" idx="1"/>
          </p:cNvCxnSpPr>
          <p:nvPr/>
        </p:nvCxnSpPr>
        <p:spPr>
          <a:xfrm>
            <a:off x="3478412" y="5359355"/>
            <a:ext cx="227799" cy="116062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C3C37595-F15A-1478-C16C-5697DBF19D95}"/>
              </a:ext>
            </a:extLst>
          </p:cNvPr>
          <p:cNvSpPr txBox="1"/>
          <p:nvPr/>
        </p:nvSpPr>
        <p:spPr>
          <a:xfrm>
            <a:off x="7307897" y="5004449"/>
            <a:ext cx="400238" cy="188664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en-US" altLang="ko-KR" sz="1401" dirty="0"/>
              <a:t>…</a:t>
            </a:r>
            <a:endParaRPr lang="ko-KR" altLang="en-US" sz="1401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5A15B9FC-4C18-3C73-BE74-8B3864FDFFFE}"/>
              </a:ext>
            </a:extLst>
          </p:cNvPr>
          <p:cNvSpPr txBox="1"/>
          <p:nvPr/>
        </p:nvSpPr>
        <p:spPr>
          <a:xfrm>
            <a:off x="376277" y="1758758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6AF8520F-B086-616D-5EFC-434D8DA5A3E6}"/>
              </a:ext>
            </a:extLst>
          </p:cNvPr>
          <p:cNvSpPr txBox="1"/>
          <p:nvPr/>
        </p:nvSpPr>
        <p:spPr>
          <a:xfrm>
            <a:off x="11281396" y="1758757"/>
            <a:ext cx="7409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사각형: 둥근 모서리 138">
            <a:extLst>
              <a:ext uri="{FF2B5EF4-FFF2-40B4-BE49-F238E27FC236}">
                <a16:creationId xmlns:a16="http://schemas.microsoft.com/office/drawing/2014/main" id="{454D00BE-2EC5-1E2A-71A8-6D2E3B0246DA}"/>
              </a:ext>
            </a:extLst>
          </p:cNvPr>
          <p:cNvSpPr/>
          <p:nvPr/>
        </p:nvSpPr>
        <p:spPr>
          <a:xfrm>
            <a:off x="4662653" y="4012850"/>
            <a:ext cx="1769405" cy="827317"/>
          </a:xfrm>
          <a:prstGeom prst="roundRect">
            <a:avLst>
              <a:gd name="adj" fmla="val 3080"/>
            </a:avLst>
          </a:prstGeom>
          <a:noFill/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공간의 배치와 시야 구성이 외부 조망과 시각적 연결을 확보하여</a:t>
            </a:r>
            <a:r>
              <a:rPr lang="en-US" altLang="ko-KR" sz="8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8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이용자에게 확장감과 낮은 폐쇄감을 느끼게 하는 특성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5AC35F29-C8AB-069A-6B8E-1F9BF02F877B}"/>
              </a:ext>
            </a:extLst>
          </p:cNvPr>
          <p:cNvSpPr/>
          <p:nvPr/>
        </p:nvSpPr>
        <p:spPr>
          <a:xfrm>
            <a:off x="4662653" y="3823019"/>
            <a:ext cx="1677721" cy="174905"/>
          </a:xfrm>
          <a:prstGeom prst="roundRect">
            <a:avLst>
              <a:gd name="adj" fmla="val 0"/>
            </a:avLst>
          </a:prstGeom>
          <a:noFill/>
          <a:ln w="63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ko-KR" altLang="en-US" sz="9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요인 개념 정의</a:t>
            </a:r>
          </a:p>
        </p:txBody>
      </p: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373A9B61-645B-049B-869A-0309579F8EAC}"/>
              </a:ext>
            </a:extLst>
          </p:cNvPr>
          <p:cNvSpPr/>
          <p:nvPr/>
        </p:nvSpPr>
        <p:spPr>
          <a:xfrm>
            <a:off x="6689420" y="4009798"/>
            <a:ext cx="1469424" cy="830370"/>
          </a:xfrm>
          <a:prstGeom prst="roundRect">
            <a:avLst>
              <a:gd name="adj" fmla="val 3080"/>
            </a:avLst>
          </a:prstGeom>
          <a:noFill/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큰 창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,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높은 천장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,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시야를 막지 않는 배치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,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외부 경관과의 시각적 연결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6" name="사각형: 둥근 모서리 145">
            <a:extLst>
              <a:ext uri="{FF2B5EF4-FFF2-40B4-BE49-F238E27FC236}">
                <a16:creationId xmlns:a16="http://schemas.microsoft.com/office/drawing/2014/main" id="{92405D3B-236A-32ED-7CFB-DD340546F7E5}"/>
              </a:ext>
            </a:extLst>
          </p:cNvPr>
          <p:cNvSpPr/>
          <p:nvPr/>
        </p:nvSpPr>
        <p:spPr>
          <a:xfrm>
            <a:off x="6652614" y="3859080"/>
            <a:ext cx="1135817" cy="127376"/>
          </a:xfrm>
          <a:prstGeom prst="roundRect">
            <a:avLst>
              <a:gd name="adj" fmla="val 0"/>
            </a:avLst>
          </a:prstGeom>
          <a:noFill/>
          <a:ln w="63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ko-KR" altLang="en-US" sz="9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건축적 판별 기준</a:t>
            </a:r>
          </a:p>
        </p:txBody>
      </p: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F18D3A3D-E4CB-760B-23D1-B5E7DB3932C0}"/>
              </a:ext>
            </a:extLst>
          </p:cNvPr>
          <p:cNvCxnSpPr>
            <a:cxnSpLocks/>
          </p:cNvCxnSpPr>
          <p:nvPr/>
        </p:nvCxnSpPr>
        <p:spPr>
          <a:xfrm>
            <a:off x="6432058" y="4134524"/>
            <a:ext cx="253874" cy="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headEnd w="sm" len="sm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사각형: 둥근 모서리 147">
            <a:extLst>
              <a:ext uri="{FF2B5EF4-FFF2-40B4-BE49-F238E27FC236}">
                <a16:creationId xmlns:a16="http://schemas.microsoft.com/office/drawing/2014/main" id="{56F7724A-E176-CDB5-CF39-358ACB995EFF}"/>
              </a:ext>
            </a:extLst>
          </p:cNvPr>
          <p:cNvSpPr/>
          <p:nvPr/>
        </p:nvSpPr>
        <p:spPr>
          <a:xfrm>
            <a:off x="8426966" y="3996440"/>
            <a:ext cx="1926791" cy="843727"/>
          </a:xfrm>
          <a:prstGeom prst="roundRect">
            <a:avLst>
              <a:gd name="adj" fmla="val 3080"/>
            </a:avLst>
          </a:prstGeom>
          <a:noFill/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창이 커서 시원하고 답답하지 않다</a:t>
            </a:r>
            <a:r>
              <a:rPr lang="en-US" altLang="ko-KR" sz="8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marR="0" lvl="0" indent="-171450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시야가 탁 트였다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marR="0" lvl="0" indent="-171450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테이블 간 간격이 넓다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marR="0" lvl="0" indent="-171450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테라스가 있고 외부 뷰가 넓게 보인다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49" name="사각형: 둥근 모서리 148">
            <a:extLst>
              <a:ext uri="{FF2B5EF4-FFF2-40B4-BE49-F238E27FC236}">
                <a16:creationId xmlns:a16="http://schemas.microsoft.com/office/drawing/2014/main" id="{8204F620-9DF5-111D-4AF6-29BCCA74003A}"/>
              </a:ext>
            </a:extLst>
          </p:cNvPr>
          <p:cNvSpPr/>
          <p:nvPr/>
        </p:nvSpPr>
        <p:spPr>
          <a:xfrm>
            <a:off x="8364682" y="3800474"/>
            <a:ext cx="2155443" cy="176634"/>
          </a:xfrm>
          <a:prstGeom prst="roundRect">
            <a:avLst>
              <a:gd name="adj" fmla="val 0"/>
            </a:avLst>
          </a:prstGeom>
          <a:noFill/>
          <a:ln w="63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ko-KR" altLang="en-US" sz="9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리뷰 데이터에서 관찰가능한 예시 문장</a:t>
            </a:r>
          </a:p>
        </p:txBody>
      </p:sp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A03E968A-6444-B676-087F-2CAF38FF1728}"/>
              </a:ext>
            </a:extLst>
          </p:cNvPr>
          <p:cNvCxnSpPr>
            <a:cxnSpLocks/>
          </p:cNvCxnSpPr>
          <p:nvPr/>
        </p:nvCxnSpPr>
        <p:spPr>
          <a:xfrm>
            <a:off x="8158844" y="4134524"/>
            <a:ext cx="265902" cy="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headEnd w="sm" len="sm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id="{D9E85FAD-BEEC-1FED-B9FB-9431F3C29B21}"/>
              </a:ext>
            </a:extLst>
          </p:cNvPr>
          <p:cNvCxnSpPr>
            <a:cxnSpLocks/>
          </p:cNvCxnSpPr>
          <p:nvPr/>
        </p:nvCxnSpPr>
        <p:spPr>
          <a:xfrm>
            <a:off x="4410933" y="4141811"/>
            <a:ext cx="256112" cy="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headEnd w="sm" len="sm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B0CBD477-52F0-3E52-D80F-240D428802B0}"/>
              </a:ext>
            </a:extLst>
          </p:cNvPr>
          <p:cNvSpPr/>
          <p:nvPr/>
        </p:nvSpPr>
        <p:spPr>
          <a:xfrm>
            <a:off x="2602575" y="4084920"/>
            <a:ext cx="875837" cy="371916"/>
          </a:xfrm>
          <a:prstGeom prst="roundRect">
            <a:avLst>
              <a:gd name="adj" fmla="val 308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물리적 특성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7463B304-9FF7-0C41-B41F-19C3B4B0DA1D}"/>
              </a:ext>
            </a:extLst>
          </p:cNvPr>
          <p:cNvSpPr/>
          <p:nvPr/>
        </p:nvSpPr>
        <p:spPr>
          <a:xfrm>
            <a:off x="2602575" y="4627635"/>
            <a:ext cx="875837" cy="371916"/>
          </a:xfrm>
          <a:prstGeom prst="roundRect">
            <a:avLst>
              <a:gd name="adj" fmla="val 308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활동적 특성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10BB5992-CCF7-DB0D-D784-0B76F52CE2A7}"/>
              </a:ext>
            </a:extLst>
          </p:cNvPr>
          <p:cNvSpPr/>
          <p:nvPr/>
        </p:nvSpPr>
        <p:spPr>
          <a:xfrm>
            <a:off x="2602575" y="5173397"/>
            <a:ext cx="875837" cy="371916"/>
          </a:xfrm>
          <a:prstGeom prst="roundRect">
            <a:avLst>
              <a:gd name="adj" fmla="val 308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의미적 특성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7E65EEF4-0ABF-60BE-F690-14BAFBE76A0C}"/>
              </a:ext>
            </a:extLst>
          </p:cNvPr>
          <p:cNvSpPr/>
          <p:nvPr/>
        </p:nvSpPr>
        <p:spPr>
          <a:xfrm>
            <a:off x="1774009" y="4570981"/>
            <a:ext cx="615599" cy="477973"/>
          </a:xfrm>
          <a:prstGeom prst="roundRect">
            <a:avLst>
              <a:gd name="adj" fmla="val 19928"/>
            </a:avLst>
          </a:prstGeom>
          <a:solidFill>
            <a:srgbClr val="DCEAF7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장소성</a:t>
            </a:r>
            <a:endParaRPr lang="en-US" altLang="ko-KR" sz="10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7AFD632-97B7-B588-B27C-829C9A2205A3}"/>
              </a:ext>
            </a:extLst>
          </p:cNvPr>
          <p:cNvSpPr/>
          <p:nvPr/>
        </p:nvSpPr>
        <p:spPr>
          <a:xfrm>
            <a:off x="1633944" y="3819683"/>
            <a:ext cx="956173" cy="147671"/>
          </a:xfrm>
          <a:prstGeom prst="roundRect">
            <a:avLst>
              <a:gd name="adj" fmla="val 0"/>
            </a:avLst>
          </a:prstGeom>
          <a:noFill/>
          <a:ln w="63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ko-KR" altLang="en-US" sz="900" b="1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9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 구성</a:t>
            </a:r>
          </a:p>
        </p:txBody>
      </p:sp>
      <p:sp>
        <p:nvSpPr>
          <p:cNvPr id="15" name="이등변 삼각형 14">
            <a:extLst>
              <a:ext uri="{FF2B5EF4-FFF2-40B4-BE49-F238E27FC236}">
                <a16:creationId xmlns:a16="http://schemas.microsoft.com/office/drawing/2014/main" id="{8CA2C929-FE40-263C-CC6D-8EF3064C7B42}"/>
              </a:ext>
            </a:extLst>
          </p:cNvPr>
          <p:cNvSpPr/>
          <p:nvPr/>
        </p:nvSpPr>
        <p:spPr>
          <a:xfrm rot="5400000">
            <a:off x="7558635" y="2655347"/>
            <a:ext cx="588789" cy="176505"/>
          </a:xfrm>
          <a:prstGeom prst="triangle">
            <a:avLst/>
          </a:prstGeom>
          <a:solidFill>
            <a:schemeClr val="bg1">
              <a:lumMod val="85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2C86879D-F289-3ED4-C4F6-138EB3E31B8D}"/>
              </a:ext>
            </a:extLst>
          </p:cNvPr>
          <p:cNvSpPr/>
          <p:nvPr/>
        </p:nvSpPr>
        <p:spPr>
          <a:xfrm>
            <a:off x="73428" y="2066534"/>
            <a:ext cx="1126868" cy="23903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36000" rtlCol="0" anchor="t"/>
          <a:lstStyle/>
          <a:p>
            <a:pPr algn="ctr">
              <a:lnSpc>
                <a:spcPts val="1400"/>
              </a:lnSpc>
            </a:pPr>
            <a:endParaRPr lang="en-US" altLang="ko-KR" sz="3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r>
              <a:rPr lang="ko-KR" altLang="en-US" sz="10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텍스트 리뷰 </a:t>
            </a:r>
            <a:endParaRPr lang="en-US" altLang="ko-KR" sz="10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r>
              <a:rPr lang="ko-KR" altLang="en-US" sz="10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데이터</a:t>
            </a:r>
            <a:endParaRPr lang="en-US" altLang="ko-KR" sz="10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EB1C970B-2FC0-12CE-6333-8C9118960408}"/>
              </a:ext>
            </a:extLst>
          </p:cNvPr>
          <p:cNvSpPr/>
          <p:nvPr/>
        </p:nvSpPr>
        <p:spPr>
          <a:xfrm>
            <a:off x="11219117" y="2082185"/>
            <a:ext cx="908576" cy="23085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36000" rtlCol="0" anchor="t"/>
          <a:lstStyle/>
          <a:p>
            <a:pPr algn="ctr">
              <a:lnSpc>
                <a:spcPts val="1400"/>
              </a:lnSpc>
            </a:pP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r>
              <a:rPr lang="ko-KR" altLang="en-US" sz="10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장소성</a:t>
            </a:r>
            <a:r>
              <a:rPr lang="ko-KR" altLang="en-US" sz="10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 점수</a:t>
            </a:r>
            <a:endParaRPr lang="en-US" altLang="ko-KR" sz="10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BE51C427-958F-88F6-9F6A-EF85FBCD446B}"/>
              </a:ext>
            </a:extLst>
          </p:cNvPr>
          <p:cNvSpPr/>
          <p:nvPr/>
        </p:nvSpPr>
        <p:spPr>
          <a:xfrm>
            <a:off x="11293258" y="2713844"/>
            <a:ext cx="770628" cy="1371075"/>
          </a:xfrm>
          <a:prstGeom prst="rect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FD447D7-1C65-C365-8EB8-8A81E5DB83D1}"/>
              </a:ext>
            </a:extLst>
          </p:cNvPr>
          <p:cNvSpPr txBox="1"/>
          <p:nvPr/>
        </p:nvSpPr>
        <p:spPr>
          <a:xfrm>
            <a:off x="11201187" y="2902258"/>
            <a:ext cx="9265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개방성</a:t>
            </a:r>
            <a:r>
              <a:rPr lang="en-US" altLang="ko-KR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0.95</a:t>
            </a:r>
          </a:p>
          <a:p>
            <a:pPr algn="ctr"/>
            <a:r>
              <a:rPr lang="ko-KR" altLang="en-US" sz="8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쾌적성</a:t>
            </a:r>
            <a:r>
              <a:rPr lang="en-US" altLang="ko-KR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0.8</a:t>
            </a:r>
          </a:p>
          <a:p>
            <a:pPr algn="ctr"/>
            <a:r>
              <a:rPr lang="ko-KR" altLang="en-US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활동성</a:t>
            </a:r>
            <a:r>
              <a:rPr lang="en-US" altLang="ko-KR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0.8</a:t>
            </a:r>
          </a:p>
          <a:p>
            <a:pPr algn="ctr"/>
            <a:r>
              <a:rPr lang="ko-KR" altLang="en-US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감각적 경험</a:t>
            </a:r>
            <a:r>
              <a:rPr lang="en-US" altLang="ko-KR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0.9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33E420-3588-7240-034E-FC59C6BA79A7}"/>
              </a:ext>
            </a:extLst>
          </p:cNvPr>
          <p:cNvSpPr txBox="1"/>
          <p:nvPr/>
        </p:nvSpPr>
        <p:spPr>
          <a:xfrm>
            <a:off x="11548605" y="3512385"/>
            <a:ext cx="400238" cy="188664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en-US" altLang="ko-KR" sz="1401" dirty="0"/>
              <a:t>…</a:t>
            </a:r>
            <a:endParaRPr lang="ko-KR" altLang="en-US" sz="1401" dirty="0"/>
          </a:p>
        </p:txBody>
      </p:sp>
      <p:sp>
        <p:nvSpPr>
          <p:cNvPr id="82" name="말풍선: 모서리가 둥근 사각형 81">
            <a:extLst>
              <a:ext uri="{FF2B5EF4-FFF2-40B4-BE49-F238E27FC236}">
                <a16:creationId xmlns:a16="http://schemas.microsoft.com/office/drawing/2014/main" id="{0BB69819-F6B9-1458-5881-C8921E864DFF}"/>
              </a:ext>
            </a:extLst>
          </p:cNvPr>
          <p:cNvSpPr/>
          <p:nvPr/>
        </p:nvSpPr>
        <p:spPr>
          <a:xfrm>
            <a:off x="407409" y="2669421"/>
            <a:ext cx="732133" cy="1546336"/>
          </a:xfrm>
          <a:prstGeom prst="wedgeRoundRectCallout">
            <a:avLst>
              <a:gd name="adj1" fmla="val -55600"/>
              <a:gd name="adj2" fmla="val 33301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36000" rIns="0" bIns="3600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“</a:t>
            </a:r>
            <a:r>
              <a:rPr lang="ko-KR" altLang="en-US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매장이 넓고 통창이라서 시야가 시원합니다</a:t>
            </a:r>
            <a:r>
              <a:rPr lang="en-US" altLang="ko-KR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. 2</a:t>
            </a:r>
            <a:r>
              <a:rPr lang="ko-KR" altLang="en-US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층은 많이 시끄럽고 </a:t>
            </a:r>
            <a:r>
              <a:rPr lang="en-US" altLang="ko-KR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3</a:t>
            </a:r>
            <a:r>
              <a:rPr lang="ko-KR" altLang="en-US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층은 조용한 편이에요</a:t>
            </a:r>
            <a:r>
              <a:rPr lang="en-US" altLang="ko-KR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화장실도 깔끔하고 커피가 </a:t>
            </a:r>
            <a:r>
              <a:rPr lang="en-US" altLang="ko-KR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XX</a:t>
            </a:r>
            <a:r>
              <a:rPr lang="ko-KR" altLang="en-US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매장 다녀본 곳 중에서는 제일 맛있는 것 같아요</a:t>
            </a:r>
            <a:r>
              <a:rPr lang="en-US" altLang="ko-KR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.”</a:t>
            </a:r>
          </a:p>
        </p:txBody>
      </p:sp>
      <p:pic>
        <p:nvPicPr>
          <p:cNvPr id="83" name="그림 82">
            <a:extLst>
              <a:ext uri="{FF2B5EF4-FFF2-40B4-BE49-F238E27FC236}">
                <a16:creationId xmlns:a16="http://schemas.microsoft.com/office/drawing/2014/main" id="{9E935720-CBCA-C8E3-B95F-043BA366E0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9" b="16768"/>
          <a:stretch>
            <a:fillRect/>
          </a:stretch>
        </p:blipFill>
        <p:spPr>
          <a:xfrm>
            <a:off x="51955" y="4009798"/>
            <a:ext cx="395805" cy="335475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0A0100D7-884E-E788-0948-8569588C8063}"/>
              </a:ext>
            </a:extLst>
          </p:cNvPr>
          <p:cNvSpPr txBox="1"/>
          <p:nvPr/>
        </p:nvSpPr>
        <p:spPr>
          <a:xfrm>
            <a:off x="664584" y="4201491"/>
            <a:ext cx="400238" cy="229758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en-US" altLang="ko-KR" sz="1401" dirty="0"/>
              <a:t>…</a:t>
            </a:r>
            <a:endParaRPr lang="ko-KR" altLang="en-US" sz="1401" dirty="0"/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0CE7508A-2613-8872-7D05-7E090B4A60EB}"/>
              </a:ext>
            </a:extLst>
          </p:cNvPr>
          <p:cNvCxnSpPr>
            <a:cxnSpLocks/>
          </p:cNvCxnSpPr>
          <p:nvPr/>
        </p:nvCxnSpPr>
        <p:spPr>
          <a:xfrm>
            <a:off x="10421030" y="6337176"/>
            <a:ext cx="5648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1C4D2330-5484-1D37-F75E-96A9AAC127A5}"/>
              </a:ext>
            </a:extLst>
          </p:cNvPr>
          <p:cNvCxnSpPr>
            <a:cxnSpLocks/>
          </p:cNvCxnSpPr>
          <p:nvPr/>
        </p:nvCxnSpPr>
        <p:spPr>
          <a:xfrm>
            <a:off x="10421030" y="6594351"/>
            <a:ext cx="564866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25AFEE58-ED58-694D-4FB8-34E94C38901A}"/>
              </a:ext>
            </a:extLst>
          </p:cNvPr>
          <p:cNvSpPr txBox="1"/>
          <p:nvPr/>
        </p:nvSpPr>
        <p:spPr>
          <a:xfrm>
            <a:off x="11136231" y="6218321"/>
            <a:ext cx="8418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모듈 진행</a:t>
            </a:r>
            <a:endParaRPr lang="en-US" altLang="ko-KR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 활용</a:t>
            </a:r>
          </a:p>
        </p:txBody>
      </p: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407B0877-A4CB-AF94-E0C9-20844922D34E}"/>
              </a:ext>
            </a:extLst>
          </p:cNvPr>
          <p:cNvCxnSpPr>
            <a:cxnSpLocks/>
          </p:cNvCxnSpPr>
          <p:nvPr/>
        </p:nvCxnSpPr>
        <p:spPr>
          <a:xfrm>
            <a:off x="9370834" y="2881146"/>
            <a:ext cx="1179210" cy="6474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57954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25F2E-FB96-9417-04E4-F03AED315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그룹 55">
            <a:extLst>
              <a:ext uri="{FF2B5EF4-FFF2-40B4-BE49-F238E27FC236}">
                <a16:creationId xmlns:a16="http://schemas.microsoft.com/office/drawing/2014/main" id="{2969926E-2BE7-D4A6-EBA4-6CA40412DE80}"/>
              </a:ext>
            </a:extLst>
          </p:cNvPr>
          <p:cNvGrpSpPr/>
          <p:nvPr/>
        </p:nvGrpSpPr>
        <p:grpSpPr>
          <a:xfrm>
            <a:off x="1896437" y="3377375"/>
            <a:ext cx="8689909" cy="231558"/>
            <a:chOff x="1421130" y="2076936"/>
            <a:chExt cx="9781452" cy="277644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57" name="자유형: 도형 56">
              <a:extLst>
                <a:ext uri="{FF2B5EF4-FFF2-40B4-BE49-F238E27FC236}">
                  <a16:creationId xmlns:a16="http://schemas.microsoft.com/office/drawing/2014/main" id="{6230C8CD-E8A1-EB71-9389-860D775DC5EF}"/>
                </a:ext>
              </a:extLst>
            </p:cNvPr>
            <p:cNvSpPr/>
            <p:nvPr/>
          </p:nvSpPr>
          <p:spPr>
            <a:xfrm>
              <a:off x="1421130" y="2076936"/>
              <a:ext cx="9772651" cy="277644"/>
            </a:xfrm>
            <a:custGeom>
              <a:avLst/>
              <a:gdLst>
                <a:gd name="connsiteX0" fmla="*/ 8382000 w 8382000"/>
                <a:gd name="connsiteY0" fmla="*/ 251460 h 251460"/>
                <a:gd name="connsiteX1" fmla="*/ 0 w 8382000"/>
                <a:gd name="connsiteY1" fmla="*/ 251460 h 251460"/>
                <a:gd name="connsiteX2" fmla="*/ 1600200 w 8382000"/>
                <a:gd name="connsiteY2" fmla="*/ 0 h 251460"/>
                <a:gd name="connsiteX3" fmla="*/ 3177540 w 8382000"/>
                <a:gd name="connsiteY3" fmla="*/ 0 h 251460"/>
                <a:gd name="connsiteX4" fmla="*/ 8382000 w 8382000"/>
                <a:gd name="connsiteY4" fmla="*/ 251460 h 251460"/>
                <a:gd name="connsiteX0" fmla="*/ 8382000 w 8382000"/>
                <a:gd name="connsiteY0" fmla="*/ 258604 h 258604"/>
                <a:gd name="connsiteX1" fmla="*/ 0 w 8382000"/>
                <a:gd name="connsiteY1" fmla="*/ 258604 h 258604"/>
                <a:gd name="connsiteX2" fmla="*/ 1414462 w 8382000"/>
                <a:gd name="connsiteY2" fmla="*/ 0 h 258604"/>
                <a:gd name="connsiteX3" fmla="*/ 3177540 w 8382000"/>
                <a:gd name="connsiteY3" fmla="*/ 7144 h 258604"/>
                <a:gd name="connsiteX4" fmla="*/ 8382000 w 8382000"/>
                <a:gd name="connsiteY4" fmla="*/ 258604 h 258604"/>
                <a:gd name="connsiteX0" fmla="*/ 8382000 w 8382000"/>
                <a:gd name="connsiteY0" fmla="*/ 258604 h 258604"/>
                <a:gd name="connsiteX1" fmla="*/ 0 w 8382000"/>
                <a:gd name="connsiteY1" fmla="*/ 258604 h 258604"/>
                <a:gd name="connsiteX2" fmla="*/ 1414462 w 8382000"/>
                <a:gd name="connsiteY2" fmla="*/ 0 h 258604"/>
                <a:gd name="connsiteX3" fmla="*/ 3003708 w 8382000"/>
                <a:gd name="connsiteY3" fmla="*/ 1 h 258604"/>
                <a:gd name="connsiteX4" fmla="*/ 8382000 w 8382000"/>
                <a:gd name="connsiteY4" fmla="*/ 258604 h 258604"/>
                <a:gd name="connsiteX0" fmla="*/ 9772650 w 9772650"/>
                <a:gd name="connsiteY0" fmla="*/ 258604 h 266224"/>
                <a:gd name="connsiteX1" fmla="*/ 0 w 9772650"/>
                <a:gd name="connsiteY1" fmla="*/ 266224 h 266224"/>
                <a:gd name="connsiteX2" fmla="*/ 2805112 w 9772650"/>
                <a:gd name="connsiteY2" fmla="*/ 0 h 266224"/>
                <a:gd name="connsiteX3" fmla="*/ 4394358 w 9772650"/>
                <a:gd name="connsiteY3" fmla="*/ 1 h 266224"/>
                <a:gd name="connsiteX4" fmla="*/ 9772650 w 9772650"/>
                <a:gd name="connsiteY4" fmla="*/ 258604 h 266224"/>
                <a:gd name="csX0" fmla="*/ 9772650 w 9772650"/>
                <a:gd name="csY0" fmla="*/ 268128 h 275748"/>
                <a:gd name="csX1" fmla="*/ 0 w 9772650"/>
                <a:gd name="csY1" fmla="*/ 275748 h 275748"/>
                <a:gd name="csX2" fmla="*/ 2805112 w 9772650"/>
                <a:gd name="csY2" fmla="*/ 9524 h 275748"/>
                <a:gd name="csX3" fmla="*/ 5580221 w 9772650"/>
                <a:gd name="csY3" fmla="*/ 0 h 275748"/>
                <a:gd name="csX4" fmla="*/ 9772650 w 9772650"/>
                <a:gd name="csY4" fmla="*/ 268128 h 275748"/>
                <a:gd name="csX0" fmla="*/ 9772650 w 9772650"/>
                <a:gd name="csY0" fmla="*/ 268129 h 275749"/>
                <a:gd name="csX1" fmla="*/ 0 w 9772650"/>
                <a:gd name="csY1" fmla="*/ 275749 h 275749"/>
                <a:gd name="csX2" fmla="*/ 3962400 w 9772650"/>
                <a:gd name="csY2" fmla="*/ 0 h 275749"/>
                <a:gd name="csX3" fmla="*/ 5580221 w 9772650"/>
                <a:gd name="csY3" fmla="*/ 1 h 275749"/>
                <a:gd name="csX4" fmla="*/ 9772650 w 9772650"/>
                <a:gd name="csY4" fmla="*/ 268129 h 275749"/>
                <a:gd name="csX0" fmla="*/ 9772650 w 9772650"/>
                <a:gd name="csY0" fmla="*/ 268128 h 275748"/>
                <a:gd name="csX1" fmla="*/ 0 w 9772650"/>
                <a:gd name="csY1" fmla="*/ 275748 h 275748"/>
                <a:gd name="csX2" fmla="*/ 4025900 w 9772650"/>
                <a:gd name="csY2" fmla="*/ 6227 h 275748"/>
                <a:gd name="csX3" fmla="*/ 5580221 w 9772650"/>
                <a:gd name="csY3" fmla="*/ 0 h 275748"/>
                <a:gd name="csX4" fmla="*/ 9772650 w 9772650"/>
                <a:gd name="csY4" fmla="*/ 268128 h 275748"/>
                <a:gd name="csX0" fmla="*/ 9772650 w 9772650"/>
                <a:gd name="csY0" fmla="*/ 275602 h 283222"/>
                <a:gd name="csX1" fmla="*/ 0 w 9772650"/>
                <a:gd name="csY1" fmla="*/ 283222 h 283222"/>
                <a:gd name="csX2" fmla="*/ 4025900 w 9772650"/>
                <a:gd name="csY2" fmla="*/ 13701 h 283222"/>
                <a:gd name="csX3" fmla="*/ 5832658 w 9772650"/>
                <a:gd name="csY3" fmla="*/ 0 h 283222"/>
                <a:gd name="csX4" fmla="*/ 9772650 w 9772650"/>
                <a:gd name="csY4" fmla="*/ 275602 h 283222"/>
                <a:gd name="csX0" fmla="*/ 9772650 w 9772650"/>
                <a:gd name="csY0" fmla="*/ 261901 h 269521"/>
                <a:gd name="csX1" fmla="*/ 0 w 9772650"/>
                <a:gd name="csY1" fmla="*/ 269521 h 269521"/>
                <a:gd name="csX2" fmla="*/ 4025900 w 9772650"/>
                <a:gd name="csY2" fmla="*/ 0 h 269521"/>
                <a:gd name="csX3" fmla="*/ 5840197 w 9772650"/>
                <a:gd name="csY3" fmla="*/ 313 h 269521"/>
                <a:gd name="csX4" fmla="*/ 9772650 w 9772650"/>
                <a:gd name="csY4" fmla="*/ 261901 h 269521"/>
                <a:gd name="csX0" fmla="*/ 9772650 w 9772650"/>
                <a:gd name="csY0" fmla="*/ 270931 h 278551"/>
                <a:gd name="csX1" fmla="*/ 0 w 9772650"/>
                <a:gd name="csY1" fmla="*/ 278551 h 278551"/>
                <a:gd name="csX2" fmla="*/ 4025900 w 9772650"/>
                <a:gd name="csY2" fmla="*/ 9030 h 278551"/>
                <a:gd name="csX3" fmla="*/ 5930665 w 9772650"/>
                <a:gd name="csY3" fmla="*/ 0 h 278551"/>
                <a:gd name="csX4" fmla="*/ 9772650 w 9772650"/>
                <a:gd name="csY4" fmla="*/ 270931 h 278551"/>
                <a:gd name="csX0" fmla="*/ 9772650 w 9772650"/>
                <a:gd name="csY0" fmla="*/ 275915 h 283535"/>
                <a:gd name="csX1" fmla="*/ 0 w 9772650"/>
                <a:gd name="csY1" fmla="*/ 283535 h 283535"/>
                <a:gd name="csX2" fmla="*/ 4025901 w 9772650"/>
                <a:gd name="csY2" fmla="*/ 0 h 283535"/>
                <a:gd name="csX3" fmla="*/ 5930665 w 9772650"/>
                <a:gd name="csY3" fmla="*/ 4984 h 283535"/>
                <a:gd name="csX4" fmla="*/ 9772650 w 9772650"/>
                <a:gd name="csY4" fmla="*/ 275915 h 283535"/>
                <a:gd name="csX0" fmla="*/ 9772650 w 9772650"/>
                <a:gd name="csY0" fmla="*/ 280274 h 287894"/>
                <a:gd name="csX1" fmla="*/ 0 w 9772650"/>
                <a:gd name="csY1" fmla="*/ 287894 h 287894"/>
                <a:gd name="csX2" fmla="*/ 4025901 w 9772650"/>
                <a:gd name="csY2" fmla="*/ 4359 h 287894"/>
                <a:gd name="csX3" fmla="*/ 5133218 w 9772650"/>
                <a:gd name="csY3" fmla="*/ 0 h 287894"/>
                <a:gd name="csX4" fmla="*/ 9772650 w 9772650"/>
                <a:gd name="csY4" fmla="*/ 280274 h 287894"/>
                <a:gd name="csX0" fmla="*/ 9772650 w 9772650"/>
                <a:gd name="csY0" fmla="*/ 275915 h 283535"/>
                <a:gd name="csX1" fmla="*/ 0 w 9772650"/>
                <a:gd name="csY1" fmla="*/ 283535 h 283535"/>
                <a:gd name="csX2" fmla="*/ 4025901 w 9772650"/>
                <a:gd name="csY2" fmla="*/ 0 h 283535"/>
                <a:gd name="csX3" fmla="*/ 5116251 w 9772650"/>
                <a:gd name="csY3" fmla="*/ 4983 h 283535"/>
                <a:gd name="csX4" fmla="*/ 9772650 w 9772650"/>
                <a:gd name="csY4" fmla="*/ 275915 h 283535"/>
                <a:gd name="csX0" fmla="*/ 9772650 w 9772650"/>
                <a:gd name="csY0" fmla="*/ 275915 h 283535"/>
                <a:gd name="csX1" fmla="*/ 0 w 9772650"/>
                <a:gd name="csY1" fmla="*/ 283535 h 283535"/>
                <a:gd name="csX2" fmla="*/ 4461387 w 9772650"/>
                <a:gd name="csY2" fmla="*/ 0 h 283535"/>
                <a:gd name="csX3" fmla="*/ 5116251 w 9772650"/>
                <a:gd name="csY3" fmla="*/ 4983 h 283535"/>
                <a:gd name="csX4" fmla="*/ 9772650 w 9772650"/>
                <a:gd name="csY4" fmla="*/ 275915 h 283535"/>
                <a:gd name="csX0" fmla="*/ 9772650 w 9772650"/>
                <a:gd name="csY0" fmla="*/ 275915 h 283535"/>
                <a:gd name="csX1" fmla="*/ 0 w 9772650"/>
                <a:gd name="csY1" fmla="*/ 283535 h 283535"/>
                <a:gd name="csX2" fmla="*/ 4461387 w 9772650"/>
                <a:gd name="csY2" fmla="*/ 0 h 283535"/>
                <a:gd name="csX3" fmla="*/ 5483868 w 9772650"/>
                <a:gd name="csY3" fmla="*/ 11211 h 283535"/>
                <a:gd name="csX4" fmla="*/ 9772650 w 9772650"/>
                <a:gd name="csY4" fmla="*/ 275915 h 283535"/>
                <a:gd name="csX0" fmla="*/ 9772650 w 9772650"/>
                <a:gd name="csY0" fmla="*/ 264704 h 272324"/>
                <a:gd name="csX1" fmla="*/ 0 w 9772650"/>
                <a:gd name="csY1" fmla="*/ 272324 h 272324"/>
                <a:gd name="csX2" fmla="*/ 4467042 w 9772650"/>
                <a:gd name="csY2" fmla="*/ 1246 h 272324"/>
                <a:gd name="csX3" fmla="*/ 5483868 w 9772650"/>
                <a:gd name="csY3" fmla="*/ 0 h 272324"/>
                <a:gd name="csX4" fmla="*/ 9772650 w 9772650"/>
                <a:gd name="csY4" fmla="*/ 264704 h 272324"/>
                <a:gd name="csX0" fmla="*/ 9772650 w 9772650"/>
                <a:gd name="csY0" fmla="*/ 264704 h 272324"/>
                <a:gd name="csX1" fmla="*/ 0 w 9772650"/>
                <a:gd name="csY1" fmla="*/ 272324 h 272324"/>
                <a:gd name="csX2" fmla="*/ 3954158 w 9772650"/>
                <a:gd name="csY2" fmla="*/ 16295 h 272324"/>
                <a:gd name="csX3" fmla="*/ 5483868 w 9772650"/>
                <a:gd name="csY3" fmla="*/ 0 h 272324"/>
                <a:gd name="csX4" fmla="*/ 9772650 w 9772650"/>
                <a:gd name="csY4" fmla="*/ 264704 h 272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772650" h="272324">
                  <a:moveTo>
                    <a:pt x="9772650" y="264704"/>
                  </a:moveTo>
                  <a:lnTo>
                    <a:pt x="0" y="272324"/>
                  </a:lnTo>
                  <a:lnTo>
                    <a:pt x="3954158" y="16295"/>
                  </a:lnTo>
                  <a:lnTo>
                    <a:pt x="5483868" y="0"/>
                  </a:lnTo>
                  <a:lnTo>
                    <a:pt x="9772650" y="264704"/>
                  </a:lnTo>
                  <a:close/>
                </a:path>
              </a:pathLst>
            </a:custGeom>
            <a:grpFill/>
            <a:ln w="9525">
              <a:solidFill>
                <a:srgbClr val="C1DAF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AD668975-D999-10D6-04A3-FEA63B83D2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32494" y="2076936"/>
              <a:ext cx="4114886" cy="277500"/>
            </a:xfrm>
            <a:prstGeom prst="line">
              <a:avLst/>
            </a:prstGeom>
            <a:grpFill/>
            <a:ln w="12700">
              <a:solidFill>
                <a:srgbClr val="C1DAF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CD1FEA40-59B4-76A0-232D-CDC4AFC999C2}"/>
                </a:ext>
              </a:extLst>
            </p:cNvPr>
            <p:cNvCxnSpPr>
              <a:cxnSpLocks/>
              <a:stCxn id="57" idx="3"/>
            </p:cNvCxnSpPr>
            <p:nvPr/>
          </p:nvCxnSpPr>
          <p:spPr>
            <a:xfrm>
              <a:off x="6904999" y="2076936"/>
              <a:ext cx="4297583" cy="271350"/>
            </a:xfrm>
            <a:prstGeom prst="line">
              <a:avLst/>
            </a:prstGeom>
            <a:grpFill/>
            <a:ln w="12700">
              <a:solidFill>
                <a:srgbClr val="C1DAF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283D5C26-0BC0-805F-3CD8-4D735F5F6F6C}"/>
              </a:ext>
            </a:extLst>
          </p:cNvPr>
          <p:cNvGrpSpPr/>
          <p:nvPr/>
        </p:nvGrpSpPr>
        <p:grpSpPr>
          <a:xfrm>
            <a:off x="3081391" y="1661885"/>
            <a:ext cx="6029218" cy="1727705"/>
            <a:chOff x="2286107" y="1257514"/>
            <a:chExt cx="7880177" cy="2494566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87AB5F12-5DB1-F640-6708-831A2D51B392}"/>
                </a:ext>
              </a:extLst>
            </p:cNvPr>
            <p:cNvSpPr/>
            <p:nvPr/>
          </p:nvSpPr>
          <p:spPr>
            <a:xfrm>
              <a:off x="7971724" y="1257514"/>
              <a:ext cx="2194560" cy="248970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2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</a:t>
              </a: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900" dirty="0" err="1">
                  <a:solidFill>
                    <a:schemeClr val="bg2">
                      <a:lumMod val="2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bg2">
                      <a:lumMod val="2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 점수</a:t>
              </a:r>
            </a:p>
          </p:txBody>
        </p: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417F9FC0-9CF6-7A7C-E5FA-90958B3F4824}"/>
                </a:ext>
              </a:extLst>
            </p:cNvPr>
            <p:cNvSpPr/>
            <p:nvPr/>
          </p:nvSpPr>
          <p:spPr>
            <a:xfrm>
              <a:off x="2286107" y="1262378"/>
              <a:ext cx="2194560" cy="248970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1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</a:t>
              </a:r>
              <a:endParaRPr lang="en-US" altLang="ko-KR" sz="11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Noto Sans KR SemiBold" panose="020B0200000000000000" pitchFamily="50" charset="-127"/>
                <a:cs typeface="Times New Roman" panose="02020603050405020304" pitchFamily="18" charset="0"/>
              </a:endParaRPr>
            </a:p>
            <a:p>
              <a:pPr algn="ctr"/>
              <a:endParaRPr lang="en-US" altLang="ko-KR" sz="1000" dirty="0">
                <a:solidFill>
                  <a:schemeClr val="bg2">
                    <a:lumMod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endParaRPr lang="en-US" altLang="ko-KR" sz="900" dirty="0">
                <a:solidFill>
                  <a:schemeClr val="bg2">
                    <a:lumMod val="2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900" dirty="0">
                  <a:solidFill>
                    <a:schemeClr val="bg2">
                      <a:lumMod val="2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텍스트 리뷰 데이터</a:t>
              </a:r>
              <a:endParaRPr lang="en-US" altLang="ko-KR" sz="900" dirty="0">
                <a:solidFill>
                  <a:schemeClr val="bg2">
                    <a:lumMod val="2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</p:txBody>
        </p:sp>
        <p:pic>
          <p:nvPicPr>
            <p:cNvPr id="38" name="그림 37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B277A6B-96F9-3673-6993-0C83D413D0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65286" y="2107306"/>
              <a:ext cx="790114" cy="790114"/>
            </a:xfrm>
            <a:prstGeom prst="rect">
              <a:avLst/>
            </a:prstGeom>
          </p:spPr>
        </p:pic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53C0A944-01EC-867F-CDF2-078051216387}"/>
                </a:ext>
              </a:extLst>
            </p:cNvPr>
            <p:cNvCxnSpPr>
              <a:cxnSpLocks/>
              <a:stCxn id="36" idx="3"/>
              <a:endCxn id="23" idx="1"/>
            </p:cNvCxnSpPr>
            <p:nvPr/>
          </p:nvCxnSpPr>
          <p:spPr>
            <a:xfrm flipV="1">
              <a:off x="4480666" y="2502365"/>
              <a:ext cx="649846" cy="4865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CAA5D981-3D78-3715-8104-C15938B8F675}"/>
                </a:ext>
              </a:extLst>
            </p:cNvPr>
            <p:cNvCxnSpPr>
              <a:cxnSpLocks/>
              <a:stCxn id="23" idx="3"/>
              <a:endCxn id="2" idx="1"/>
            </p:cNvCxnSpPr>
            <p:nvPr/>
          </p:nvCxnSpPr>
          <p:spPr>
            <a:xfrm>
              <a:off x="7325072" y="2502365"/>
              <a:ext cx="646652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45" name="그림 44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3BA9EB2-C5DF-0558-B9A1-A43911C54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09097" y="1968198"/>
              <a:ext cx="1319813" cy="1068332"/>
            </a:xfrm>
            <a:prstGeom prst="rect">
              <a:avLst/>
            </a:prstGeom>
          </p:spPr>
        </p:pic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0CE64A87-342C-99B1-A083-6B1F6237BD08}"/>
                </a:ext>
              </a:extLst>
            </p:cNvPr>
            <p:cNvSpPr/>
            <p:nvPr/>
          </p:nvSpPr>
          <p:spPr>
            <a:xfrm>
              <a:off x="5130513" y="1257514"/>
              <a:ext cx="2194560" cy="248970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Placeness</a:t>
              </a:r>
            </a:p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Quantification System</a:t>
              </a:r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 요인 추출 및 정량화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</p:txBody>
        </p:sp>
        <p:pic>
          <p:nvPicPr>
            <p:cNvPr id="39" name="그림 38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BEF2A05-3AEA-E3B3-8530-D3BCDF9D28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5720693" y="2426373"/>
              <a:ext cx="943962" cy="737722"/>
            </a:xfrm>
            <a:prstGeom prst="rect">
              <a:avLst/>
            </a:prstGeom>
          </p:spPr>
        </p:pic>
      </p:grp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2CA6C6C9-B467-EA6F-5D71-7C85BF273741}"/>
              </a:ext>
            </a:extLst>
          </p:cNvPr>
          <p:cNvCxnSpPr>
            <a:cxnSpLocks/>
          </p:cNvCxnSpPr>
          <p:nvPr/>
        </p:nvCxnSpPr>
        <p:spPr>
          <a:xfrm>
            <a:off x="10327511" y="6087792"/>
            <a:ext cx="5648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F42463A8-01F0-27A3-2C2E-556261F0ED5A}"/>
              </a:ext>
            </a:extLst>
          </p:cNvPr>
          <p:cNvCxnSpPr>
            <a:cxnSpLocks/>
          </p:cNvCxnSpPr>
          <p:nvPr/>
        </p:nvCxnSpPr>
        <p:spPr>
          <a:xfrm>
            <a:off x="10327511" y="6344967"/>
            <a:ext cx="564866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E1AD6F7D-192E-93AC-8C20-67D1106DBC57}"/>
              </a:ext>
            </a:extLst>
          </p:cNvPr>
          <p:cNvSpPr txBox="1"/>
          <p:nvPr/>
        </p:nvSpPr>
        <p:spPr>
          <a:xfrm>
            <a:off x="11042712" y="5968937"/>
            <a:ext cx="8418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모듈 진행</a:t>
            </a:r>
            <a:endParaRPr lang="en-US" altLang="ko-KR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 활용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6F89A039-0B87-171F-B78F-EFBDC44EF40B}"/>
              </a:ext>
            </a:extLst>
          </p:cNvPr>
          <p:cNvSpPr/>
          <p:nvPr/>
        </p:nvSpPr>
        <p:spPr>
          <a:xfrm>
            <a:off x="1896439" y="3608269"/>
            <a:ext cx="8689909" cy="244286"/>
          </a:xfrm>
          <a:prstGeom prst="roundRect">
            <a:avLst>
              <a:gd name="adj" fmla="val 0"/>
            </a:avLst>
          </a:prstGeom>
          <a:solidFill>
            <a:schemeClr val="tx2">
              <a:lumMod val="25000"/>
              <a:lumOff val="75000"/>
              <a:alpha val="73000"/>
            </a:schemeClr>
          </a:solidFill>
          <a:ln w="1270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장소성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 정량화 시스템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Pretendard" panose="02000503000000020004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AD83BC74-CEA2-4DFA-140D-523FEF9B3972}"/>
              </a:ext>
            </a:extLst>
          </p:cNvPr>
          <p:cNvSpPr/>
          <p:nvPr/>
        </p:nvSpPr>
        <p:spPr>
          <a:xfrm>
            <a:off x="1896440" y="3852555"/>
            <a:ext cx="8689909" cy="1947999"/>
          </a:xfrm>
          <a:prstGeom prst="rect">
            <a:avLst/>
          </a:prstGeom>
          <a:noFill/>
          <a:ln w="6350" cap="flat" cmpd="sng" algn="ctr">
            <a:solidFill>
              <a:schemeClr val="tx2">
                <a:lumMod val="25000"/>
                <a:lumOff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3BEB3C4-0670-FCF6-766A-66EBD0EF2272}"/>
              </a:ext>
            </a:extLst>
          </p:cNvPr>
          <p:cNvSpPr txBox="1"/>
          <p:nvPr/>
        </p:nvSpPr>
        <p:spPr>
          <a:xfrm>
            <a:off x="4659419" y="4956987"/>
            <a:ext cx="10390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외부 데이터 참조</a:t>
            </a: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A501E159-865B-D8F1-370A-BBF1A8B7D696}"/>
              </a:ext>
            </a:extLst>
          </p:cNvPr>
          <p:cNvSpPr/>
          <p:nvPr/>
        </p:nvSpPr>
        <p:spPr>
          <a:xfrm>
            <a:off x="2688951" y="5341785"/>
            <a:ext cx="3984248" cy="262132"/>
          </a:xfrm>
          <a:prstGeom prst="roundRect">
            <a:avLst>
              <a:gd name="adj" fmla="val 0"/>
            </a:avLst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4106113-BB8D-D329-B27A-C7A4BBDAF4B8}"/>
              </a:ext>
            </a:extLst>
          </p:cNvPr>
          <p:cNvSpPr txBox="1"/>
          <p:nvPr/>
        </p:nvSpPr>
        <p:spPr>
          <a:xfrm>
            <a:off x="2922031" y="5353540"/>
            <a:ext cx="32682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레퍼런스 기반 </a:t>
            </a:r>
            <a:r>
              <a:rPr lang="ko-KR" altLang="en-US" sz="10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 분류 체계</a:t>
            </a:r>
            <a:endParaRPr lang="en-US" altLang="ko-KR" sz="10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2F65B2E9-E8F8-850B-A785-84F350654569}"/>
              </a:ext>
            </a:extLst>
          </p:cNvPr>
          <p:cNvSpPr/>
          <p:nvPr/>
        </p:nvSpPr>
        <p:spPr>
          <a:xfrm>
            <a:off x="2678971" y="5571965"/>
            <a:ext cx="4004205" cy="57272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7E37DD5B-E27F-3598-0A51-78F7F8D7FD5E}"/>
              </a:ext>
            </a:extLst>
          </p:cNvPr>
          <p:cNvGrpSpPr/>
          <p:nvPr/>
        </p:nvGrpSpPr>
        <p:grpSpPr>
          <a:xfrm>
            <a:off x="2648808" y="5647573"/>
            <a:ext cx="2658156" cy="390557"/>
            <a:chOff x="3538557" y="3084559"/>
            <a:chExt cx="1692209" cy="390557"/>
          </a:xfrm>
        </p:grpSpPr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281AEFB9-E68B-ABF7-1690-1426E32405E6}"/>
                </a:ext>
              </a:extLst>
            </p:cNvPr>
            <p:cNvSpPr/>
            <p:nvPr/>
          </p:nvSpPr>
          <p:spPr>
            <a:xfrm>
              <a:off x="3538557" y="3087838"/>
              <a:ext cx="771041" cy="387278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및 공간디자인 이론 레퍼런스</a:t>
              </a:r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8A604BAC-5644-B306-CD3A-402122D3460F}"/>
                </a:ext>
              </a:extLst>
            </p:cNvPr>
            <p:cNvSpPr/>
            <p:nvPr/>
          </p:nvSpPr>
          <p:spPr>
            <a:xfrm>
              <a:off x="4342097" y="3084559"/>
              <a:ext cx="888669" cy="387278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상업시설 </a:t>
              </a:r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요인 구성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algn="ctr">
                <a:lnSpc>
                  <a:spcPts val="1200"/>
                </a:lnSpc>
              </a:pPr>
              <a:r>
                <a:rPr lang="en-US" altLang="ko-KR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(3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차원</a:t>
              </a:r>
              <a:r>
                <a:rPr lang="en-US" altLang="ko-KR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10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요인</a:t>
              </a:r>
              <a:r>
                <a:rPr lang="en-US" altLang="ko-KR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  <a:endPara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6087A8C7-B9F6-1B38-D6D0-BC190B4E6A0F}"/>
              </a:ext>
            </a:extLst>
          </p:cNvPr>
          <p:cNvSpPr/>
          <p:nvPr/>
        </p:nvSpPr>
        <p:spPr>
          <a:xfrm>
            <a:off x="2049727" y="4001274"/>
            <a:ext cx="4435204" cy="262132"/>
          </a:xfrm>
          <a:prstGeom prst="roundRect">
            <a:avLst>
              <a:gd name="adj" fmla="val 0"/>
            </a:avLst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B8E5D2E-3421-7513-A014-5335A3BFA8E9}"/>
              </a:ext>
            </a:extLst>
          </p:cNvPr>
          <p:cNvSpPr txBox="1"/>
          <p:nvPr/>
        </p:nvSpPr>
        <p:spPr>
          <a:xfrm>
            <a:off x="2672042" y="4013776"/>
            <a:ext cx="32682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 매핑 모듈</a:t>
            </a:r>
            <a:endParaRPr lang="en-US" altLang="ko-KR" sz="10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F2E15DD0-2ACE-222D-369D-B7CE9A765003}"/>
              </a:ext>
            </a:extLst>
          </p:cNvPr>
          <p:cNvSpPr/>
          <p:nvPr/>
        </p:nvSpPr>
        <p:spPr>
          <a:xfrm>
            <a:off x="2049727" y="4226428"/>
            <a:ext cx="4442876" cy="5795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730B164B-3B39-EDC5-E95A-9D90B95B0549}"/>
              </a:ext>
            </a:extLst>
          </p:cNvPr>
          <p:cNvGrpSpPr/>
          <p:nvPr/>
        </p:nvGrpSpPr>
        <p:grpSpPr>
          <a:xfrm>
            <a:off x="3819878" y="4294711"/>
            <a:ext cx="2721529" cy="395418"/>
            <a:chOff x="4721003" y="3092091"/>
            <a:chExt cx="2605352" cy="395418"/>
          </a:xfrm>
        </p:grpSpPr>
        <p:sp>
          <p:nvSpPr>
            <p:cNvPr id="73" name="사각형: 둥근 모서리 72">
              <a:extLst>
                <a:ext uri="{FF2B5EF4-FFF2-40B4-BE49-F238E27FC236}">
                  <a16:creationId xmlns:a16="http://schemas.microsoft.com/office/drawing/2014/main" id="{0071029D-6884-60F4-7CD9-8AB0632D2AE9}"/>
                </a:ext>
              </a:extLst>
            </p:cNvPr>
            <p:cNvSpPr/>
            <p:nvPr/>
          </p:nvSpPr>
          <p:spPr>
            <a:xfrm>
              <a:off x="4861465" y="3092091"/>
              <a:ext cx="1372190" cy="387278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필터링된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리뷰 문장과 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algn="ctr">
                <a:lnSpc>
                  <a:spcPts val="12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요인 표준 문장 비교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cxnSp>
          <p:nvCxnSpPr>
            <p:cNvPr id="74" name="직선 화살표 연결선 73">
              <a:extLst>
                <a:ext uri="{FF2B5EF4-FFF2-40B4-BE49-F238E27FC236}">
                  <a16:creationId xmlns:a16="http://schemas.microsoft.com/office/drawing/2014/main" id="{1F4E9AC4-7DC6-28A5-24F8-9A3844C6CE86}"/>
                </a:ext>
              </a:extLst>
            </p:cNvPr>
            <p:cNvCxnSpPr>
              <a:cxnSpLocks/>
            </p:cNvCxnSpPr>
            <p:nvPr/>
          </p:nvCxnSpPr>
          <p:spPr>
            <a:xfrm>
              <a:off x="4721003" y="3283498"/>
              <a:ext cx="127522" cy="0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5" name="사각형: 둥근 모서리 74">
              <a:extLst>
                <a:ext uri="{FF2B5EF4-FFF2-40B4-BE49-F238E27FC236}">
                  <a16:creationId xmlns:a16="http://schemas.microsoft.com/office/drawing/2014/main" id="{E320461C-70B2-9850-973C-436551CF0EE1}"/>
                </a:ext>
              </a:extLst>
            </p:cNvPr>
            <p:cNvSpPr/>
            <p:nvPr/>
          </p:nvSpPr>
          <p:spPr>
            <a:xfrm>
              <a:off x="6241004" y="3100231"/>
              <a:ext cx="1085351" cy="387278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리뷰 문장과 관련된 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algn="ctr">
                <a:lnSpc>
                  <a:spcPts val="12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요인 매핑</a:t>
              </a:r>
            </a:p>
          </p:txBody>
        </p:sp>
        <p:cxnSp>
          <p:nvCxnSpPr>
            <p:cNvPr id="76" name="직선 화살표 연결선 75">
              <a:extLst>
                <a:ext uri="{FF2B5EF4-FFF2-40B4-BE49-F238E27FC236}">
                  <a16:creationId xmlns:a16="http://schemas.microsoft.com/office/drawing/2014/main" id="{638D0147-99BA-233A-8EC9-D8156DFBCD3B}"/>
                </a:ext>
              </a:extLst>
            </p:cNvPr>
            <p:cNvCxnSpPr>
              <a:cxnSpLocks/>
            </p:cNvCxnSpPr>
            <p:nvPr/>
          </p:nvCxnSpPr>
          <p:spPr>
            <a:xfrm>
              <a:off x="6226225" y="3292408"/>
              <a:ext cx="121563" cy="0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6A85DD29-210F-52CC-5520-4C86087CFA45}"/>
              </a:ext>
            </a:extLst>
          </p:cNvPr>
          <p:cNvSpPr/>
          <p:nvPr/>
        </p:nvSpPr>
        <p:spPr>
          <a:xfrm>
            <a:off x="6868251" y="4001274"/>
            <a:ext cx="3587704" cy="262132"/>
          </a:xfrm>
          <a:prstGeom prst="roundRect">
            <a:avLst>
              <a:gd name="adj" fmla="val 0"/>
            </a:avLst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E415FB5-A0FD-F53D-6882-1DCE342CA3CE}"/>
              </a:ext>
            </a:extLst>
          </p:cNvPr>
          <p:cNvSpPr txBox="1"/>
          <p:nvPr/>
        </p:nvSpPr>
        <p:spPr>
          <a:xfrm>
            <a:off x="7157627" y="4001274"/>
            <a:ext cx="30348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요인별 점수화 모듈</a:t>
            </a:r>
            <a:endParaRPr lang="en-US" altLang="ko-KR" sz="10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8B52436A-E1AF-2854-6E65-BDD8EE25F991}"/>
              </a:ext>
            </a:extLst>
          </p:cNvPr>
          <p:cNvSpPr/>
          <p:nvPr/>
        </p:nvSpPr>
        <p:spPr>
          <a:xfrm>
            <a:off x="6866925" y="4226428"/>
            <a:ext cx="3589030" cy="5795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704797BA-5405-BD81-3A28-37769CEDC175}"/>
              </a:ext>
            </a:extLst>
          </p:cNvPr>
          <p:cNvGrpSpPr/>
          <p:nvPr/>
        </p:nvGrpSpPr>
        <p:grpSpPr>
          <a:xfrm>
            <a:off x="6883998" y="4290122"/>
            <a:ext cx="3498327" cy="436690"/>
            <a:chOff x="3447762" y="3074774"/>
            <a:chExt cx="3431017" cy="436690"/>
          </a:xfrm>
        </p:grpSpPr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9B41266E-9B13-239E-C531-0DA21B34B30A}"/>
                </a:ext>
              </a:extLst>
            </p:cNvPr>
            <p:cNvSpPr/>
            <p:nvPr/>
          </p:nvSpPr>
          <p:spPr>
            <a:xfrm>
              <a:off x="4752301" y="3074774"/>
              <a:ext cx="1110286" cy="387278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요인별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algn="ctr">
                <a:lnSpc>
                  <a:spcPts val="1200"/>
                </a:lnSpc>
              </a:pP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긍정</a:t>
              </a:r>
              <a:r>
                <a:rPr lang="en-US" altLang="ko-KR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 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부정 평가</a:t>
              </a: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C85A41E3-5B84-B363-050B-C248DDD4433E}"/>
                </a:ext>
              </a:extLst>
            </p:cNvPr>
            <p:cNvSpPr/>
            <p:nvPr/>
          </p:nvSpPr>
          <p:spPr>
            <a:xfrm>
              <a:off x="3447762" y="3101380"/>
              <a:ext cx="1353975" cy="387278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정량화 스케일 정의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algn="ctr">
                <a:lnSpc>
                  <a:spcPts val="1200"/>
                </a:lnSpc>
              </a:pPr>
              <a:r>
                <a:rPr lang="en-US" altLang="ko-KR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(ex. 0~1 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사이의 연속형 점수</a:t>
              </a:r>
              <a:r>
                <a:rPr lang="en-US" altLang="ko-KR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</a:p>
          </p:txBody>
        </p:sp>
        <p:cxnSp>
          <p:nvCxnSpPr>
            <p:cNvPr id="83" name="직선 화살표 연결선 82">
              <a:extLst>
                <a:ext uri="{FF2B5EF4-FFF2-40B4-BE49-F238E27FC236}">
                  <a16:creationId xmlns:a16="http://schemas.microsoft.com/office/drawing/2014/main" id="{5374A3A1-BE0C-6959-E1D8-9B5930FFAE12}"/>
                </a:ext>
              </a:extLst>
            </p:cNvPr>
            <p:cNvCxnSpPr>
              <a:cxnSpLocks/>
            </p:cNvCxnSpPr>
            <p:nvPr/>
          </p:nvCxnSpPr>
          <p:spPr>
            <a:xfrm>
              <a:off x="4736633" y="3290629"/>
              <a:ext cx="127522" cy="0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4" name="사각형: 둥근 모서리 83">
              <a:extLst>
                <a:ext uri="{FF2B5EF4-FFF2-40B4-BE49-F238E27FC236}">
                  <a16:creationId xmlns:a16="http://schemas.microsoft.com/office/drawing/2014/main" id="{19AE6C18-3C6B-8E03-A976-E711E69C27D3}"/>
                </a:ext>
              </a:extLst>
            </p:cNvPr>
            <p:cNvSpPr/>
            <p:nvPr/>
          </p:nvSpPr>
          <p:spPr>
            <a:xfrm>
              <a:off x="5850710" y="3124186"/>
              <a:ext cx="1028069" cy="387278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요인별 점수 산출 및 종합 점수 계산</a:t>
              </a:r>
            </a:p>
          </p:txBody>
        </p:sp>
        <p:cxnSp>
          <p:nvCxnSpPr>
            <p:cNvPr id="85" name="직선 화살표 연결선 84">
              <a:extLst>
                <a:ext uri="{FF2B5EF4-FFF2-40B4-BE49-F238E27FC236}">
                  <a16:creationId xmlns:a16="http://schemas.microsoft.com/office/drawing/2014/main" id="{BCD053E0-2159-25E3-6868-F9E3DE32192B}"/>
                </a:ext>
              </a:extLst>
            </p:cNvPr>
            <p:cNvCxnSpPr>
              <a:cxnSpLocks/>
            </p:cNvCxnSpPr>
            <p:nvPr/>
          </p:nvCxnSpPr>
          <p:spPr>
            <a:xfrm>
              <a:off x="5729653" y="3292117"/>
              <a:ext cx="121563" cy="0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81F91A09-EBB7-F569-EB35-07A6BF05665A}"/>
              </a:ext>
            </a:extLst>
          </p:cNvPr>
          <p:cNvCxnSpPr>
            <a:cxnSpLocks/>
            <a:stCxn id="71" idx="3"/>
            <a:endCxn id="79" idx="1"/>
          </p:cNvCxnSpPr>
          <p:nvPr/>
        </p:nvCxnSpPr>
        <p:spPr>
          <a:xfrm>
            <a:off x="6492603" y="4516180"/>
            <a:ext cx="374322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F90F3218-F31F-03D0-3759-5A1AB91B0967}"/>
              </a:ext>
            </a:extLst>
          </p:cNvPr>
          <p:cNvCxnSpPr>
            <a:cxnSpLocks/>
            <a:stCxn id="94" idx="0"/>
            <a:endCxn id="95" idx="2"/>
          </p:cNvCxnSpPr>
          <p:nvPr/>
        </p:nvCxnSpPr>
        <p:spPr>
          <a:xfrm flipV="1">
            <a:off x="4678651" y="4764810"/>
            <a:ext cx="0" cy="575674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CCECF0EE-56EC-27FE-626A-8AD8076FA8EB}"/>
              </a:ext>
            </a:extLst>
          </p:cNvPr>
          <p:cNvCxnSpPr>
            <a:cxnSpLocks/>
          </p:cNvCxnSpPr>
          <p:nvPr/>
        </p:nvCxnSpPr>
        <p:spPr>
          <a:xfrm>
            <a:off x="2885460" y="4481743"/>
            <a:ext cx="127522" cy="0"/>
          </a:xfrm>
          <a:prstGeom prst="straightConnector1">
            <a:avLst/>
          </a:prstGeom>
          <a:ln>
            <a:headEnd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AD1A3664-2D57-774C-564F-DD2992CDF88F}"/>
              </a:ext>
            </a:extLst>
          </p:cNvPr>
          <p:cNvSpPr/>
          <p:nvPr/>
        </p:nvSpPr>
        <p:spPr>
          <a:xfrm>
            <a:off x="2989735" y="4294711"/>
            <a:ext cx="869327" cy="387278"/>
          </a:xfrm>
          <a:prstGeom prst="roundRect">
            <a:avLst>
              <a:gd name="adj" fmla="val 0"/>
            </a:avLst>
          </a:prstGeom>
          <a:noFill/>
          <a:ln w="63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공간 관련 리뷰 의미적 필터링</a:t>
            </a:r>
            <a:endParaRPr lang="en-US" altLang="ko-KR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18CB123E-6D15-BBB4-9611-EFA5D0DF62C4}"/>
              </a:ext>
            </a:extLst>
          </p:cNvPr>
          <p:cNvSpPr/>
          <p:nvPr/>
        </p:nvSpPr>
        <p:spPr>
          <a:xfrm>
            <a:off x="2063927" y="4290122"/>
            <a:ext cx="869327" cy="387278"/>
          </a:xfrm>
          <a:prstGeom prst="roundRect">
            <a:avLst>
              <a:gd name="adj" fmla="val 0"/>
            </a:avLst>
          </a:prstGeom>
          <a:noFill/>
          <a:ln w="63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리뷰 데이터 </a:t>
            </a:r>
            <a:endParaRPr lang="en-US" altLang="ko-KR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ts val="12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형식 정제</a:t>
            </a:r>
            <a:endParaRPr lang="en-US" altLang="ko-KR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56499D7D-D823-8E49-2291-B4D955DFC241}"/>
              </a:ext>
            </a:extLst>
          </p:cNvPr>
          <p:cNvCxnSpPr>
            <a:cxnSpLocks/>
          </p:cNvCxnSpPr>
          <p:nvPr/>
        </p:nvCxnSpPr>
        <p:spPr>
          <a:xfrm>
            <a:off x="3795507" y="5830749"/>
            <a:ext cx="127522" cy="0"/>
          </a:xfrm>
          <a:prstGeom prst="straightConnector1">
            <a:avLst/>
          </a:prstGeom>
          <a:ln>
            <a:headEnd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F3631016-6554-BBD5-EEF1-900CF00D2495}"/>
              </a:ext>
            </a:extLst>
          </p:cNvPr>
          <p:cNvCxnSpPr>
            <a:cxnSpLocks/>
          </p:cNvCxnSpPr>
          <p:nvPr/>
        </p:nvCxnSpPr>
        <p:spPr>
          <a:xfrm>
            <a:off x="5282641" y="5841911"/>
            <a:ext cx="127522" cy="0"/>
          </a:xfrm>
          <a:prstGeom prst="straightConnector1">
            <a:avLst/>
          </a:prstGeom>
          <a:ln>
            <a:headEnd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2911F3AD-85FE-8AF0-044F-FC40DB392FE6}"/>
              </a:ext>
            </a:extLst>
          </p:cNvPr>
          <p:cNvSpPr/>
          <p:nvPr/>
        </p:nvSpPr>
        <p:spPr>
          <a:xfrm>
            <a:off x="5342880" y="5634243"/>
            <a:ext cx="1313279" cy="387278"/>
          </a:xfrm>
          <a:prstGeom prst="roundRect">
            <a:avLst>
              <a:gd name="adj" fmla="val 0"/>
            </a:avLst>
          </a:prstGeom>
          <a:noFill/>
          <a:ln w="63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ko-KR" altLang="en-US" sz="9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요인별 </a:t>
            </a:r>
            <a:endParaRPr lang="en-US" altLang="ko-KR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ts val="12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해석 기준</a:t>
            </a:r>
            <a:r>
              <a: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문장</a:t>
            </a:r>
            <a:r>
              <a: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정의 및 언어 표현 규칙 설정</a:t>
            </a:r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E7C19AA3-2CED-9415-EF35-05DB79C4A66C}"/>
              </a:ext>
            </a:extLst>
          </p:cNvPr>
          <p:cNvSpPr/>
          <p:nvPr/>
        </p:nvSpPr>
        <p:spPr>
          <a:xfrm>
            <a:off x="2678971" y="5340484"/>
            <a:ext cx="3999360" cy="808106"/>
          </a:xfrm>
          <a:prstGeom prst="roundRect">
            <a:avLst>
              <a:gd name="adj" fmla="val 1776"/>
            </a:avLst>
          </a:prstGeom>
          <a:noFill/>
          <a:ln w="12700">
            <a:solidFill>
              <a:schemeClr val="tx2">
                <a:lumMod val="90000"/>
                <a:lumOff val="1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사각형: 둥근 모서리 68">
            <a:extLst>
              <a:ext uri="{FF2B5EF4-FFF2-40B4-BE49-F238E27FC236}">
                <a16:creationId xmlns:a16="http://schemas.microsoft.com/office/drawing/2014/main" id="{470AFFFC-3DB7-4C88-C25D-3EC4155521FE}"/>
              </a:ext>
            </a:extLst>
          </p:cNvPr>
          <p:cNvSpPr/>
          <p:nvPr/>
        </p:nvSpPr>
        <p:spPr>
          <a:xfrm>
            <a:off x="4006124" y="4253772"/>
            <a:ext cx="1345053" cy="511038"/>
          </a:xfrm>
          <a:prstGeom prst="roundRect">
            <a:avLst>
              <a:gd name="adj" fmla="val 1776"/>
            </a:avLst>
          </a:prstGeom>
          <a:noFill/>
          <a:ln w="12700">
            <a:solidFill>
              <a:schemeClr val="tx2">
                <a:lumMod val="90000"/>
                <a:lumOff val="1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이등변 삼각형 95">
            <a:extLst>
              <a:ext uri="{FF2B5EF4-FFF2-40B4-BE49-F238E27FC236}">
                <a16:creationId xmlns:a16="http://schemas.microsoft.com/office/drawing/2014/main" id="{DBD612EA-A05C-F027-D86E-B3DE0E657F98}"/>
              </a:ext>
            </a:extLst>
          </p:cNvPr>
          <p:cNvSpPr/>
          <p:nvPr/>
        </p:nvSpPr>
        <p:spPr>
          <a:xfrm rot="5400000">
            <a:off x="1445696" y="4729513"/>
            <a:ext cx="588789" cy="176505"/>
          </a:xfrm>
          <a:prstGeom prst="triangle">
            <a:avLst/>
          </a:prstGeom>
          <a:solidFill>
            <a:schemeClr val="bg1">
              <a:lumMod val="85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97" name="이등변 삼각형 96">
            <a:extLst>
              <a:ext uri="{FF2B5EF4-FFF2-40B4-BE49-F238E27FC236}">
                <a16:creationId xmlns:a16="http://schemas.microsoft.com/office/drawing/2014/main" id="{B7A5C79E-28B8-E3C6-7B26-A6EB29B161D9}"/>
              </a:ext>
            </a:extLst>
          </p:cNvPr>
          <p:cNvSpPr/>
          <p:nvPr/>
        </p:nvSpPr>
        <p:spPr>
          <a:xfrm rot="5400000">
            <a:off x="10452822" y="4729513"/>
            <a:ext cx="588789" cy="176505"/>
          </a:xfrm>
          <a:prstGeom prst="triangle">
            <a:avLst/>
          </a:prstGeom>
          <a:solidFill>
            <a:schemeClr val="bg1">
              <a:lumMod val="85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E6669C91-B953-DEC8-AEAE-D41F7C8E3BD7}"/>
              </a:ext>
            </a:extLst>
          </p:cNvPr>
          <p:cNvSpPr/>
          <p:nvPr/>
        </p:nvSpPr>
        <p:spPr>
          <a:xfrm>
            <a:off x="64248" y="3601991"/>
            <a:ext cx="1492923" cy="21985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36000" rtlCol="0" anchor="t"/>
          <a:lstStyle/>
          <a:p>
            <a:pPr algn="ctr">
              <a:lnSpc>
                <a:spcPts val="1400"/>
              </a:lnSpc>
            </a:pPr>
            <a:endParaRPr lang="en-US" altLang="ko-KR" sz="3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r>
              <a:rPr lang="ko-KR" altLang="en-US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텍스트 리뷰 데이터</a:t>
            </a: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99" name="말풍선: 모서리가 둥근 사각형 98">
            <a:extLst>
              <a:ext uri="{FF2B5EF4-FFF2-40B4-BE49-F238E27FC236}">
                <a16:creationId xmlns:a16="http://schemas.microsoft.com/office/drawing/2014/main" id="{470E34E1-E68B-32FA-5D3F-AEFFD4DAA326}"/>
              </a:ext>
            </a:extLst>
          </p:cNvPr>
          <p:cNvSpPr/>
          <p:nvPr/>
        </p:nvSpPr>
        <p:spPr>
          <a:xfrm>
            <a:off x="527658" y="4001274"/>
            <a:ext cx="943952" cy="1428359"/>
          </a:xfrm>
          <a:prstGeom prst="wedgeRoundRectCallout">
            <a:avLst>
              <a:gd name="adj1" fmla="val -55600"/>
              <a:gd name="adj2" fmla="val 33301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36000" rIns="0" bIns="3600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“</a:t>
            </a:r>
            <a:r>
              <a:rPr lang="ko-KR" altLang="en-US" sz="8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매장이 넓고 통창이라서 시야가 시원합니다</a:t>
            </a:r>
            <a:r>
              <a:rPr lang="en-US" altLang="ko-KR" sz="8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. 2</a:t>
            </a:r>
            <a:r>
              <a:rPr lang="ko-KR" altLang="en-US" sz="8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층은 많이 시끄럽고 </a:t>
            </a:r>
            <a:r>
              <a:rPr lang="en-US" altLang="ko-KR" sz="8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3</a:t>
            </a:r>
            <a:r>
              <a:rPr lang="ko-KR" altLang="en-US" sz="8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층은 조용한 편이에요</a:t>
            </a:r>
            <a:r>
              <a:rPr lang="en-US" altLang="ko-KR" sz="8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8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화장실도 깔끔하고 커피가 </a:t>
            </a:r>
            <a:r>
              <a:rPr lang="en-US" altLang="ko-KR" sz="8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XX</a:t>
            </a:r>
            <a:r>
              <a:rPr lang="ko-KR" altLang="en-US" sz="8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매장 다녀본 곳 중에서는 제일 맛있는 것 같아요</a:t>
            </a:r>
            <a:r>
              <a:rPr lang="en-US" altLang="ko-KR" sz="8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.”</a:t>
            </a:r>
          </a:p>
        </p:txBody>
      </p:sp>
      <p:pic>
        <p:nvPicPr>
          <p:cNvPr id="100" name="그림 99">
            <a:extLst>
              <a:ext uri="{FF2B5EF4-FFF2-40B4-BE49-F238E27FC236}">
                <a16:creationId xmlns:a16="http://schemas.microsoft.com/office/drawing/2014/main" id="{147E5BFF-3F91-6FBE-A96F-F005CC3EC2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9" b="16768"/>
          <a:stretch>
            <a:fillRect/>
          </a:stretch>
        </p:blipFill>
        <p:spPr>
          <a:xfrm>
            <a:off x="69858" y="5216495"/>
            <a:ext cx="452190" cy="383266"/>
          </a:xfrm>
          <a:prstGeom prst="rect">
            <a:avLst/>
          </a:prstGeom>
        </p:spPr>
      </p:pic>
      <p:sp>
        <p:nvSpPr>
          <p:cNvPr id="101" name="TextBox 100">
            <a:extLst>
              <a:ext uri="{FF2B5EF4-FFF2-40B4-BE49-F238E27FC236}">
                <a16:creationId xmlns:a16="http://schemas.microsoft.com/office/drawing/2014/main" id="{AD27C466-3E7C-68C7-82FC-D9A0CB5D6B69}"/>
              </a:ext>
            </a:extLst>
          </p:cNvPr>
          <p:cNvSpPr txBox="1"/>
          <p:nvPr/>
        </p:nvSpPr>
        <p:spPr>
          <a:xfrm>
            <a:off x="860638" y="5570796"/>
            <a:ext cx="400238" cy="229758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en-US" altLang="ko-KR" sz="1401" dirty="0"/>
              <a:t>…</a:t>
            </a:r>
            <a:endParaRPr lang="ko-KR" altLang="en-US" sz="1401" dirty="0"/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248BE013-B3C4-5E74-4C90-6A332494AB90}"/>
              </a:ext>
            </a:extLst>
          </p:cNvPr>
          <p:cNvSpPr/>
          <p:nvPr/>
        </p:nvSpPr>
        <p:spPr>
          <a:xfrm>
            <a:off x="10908084" y="3990573"/>
            <a:ext cx="1234845" cy="159882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36000" rtlCol="0" anchor="t"/>
          <a:lstStyle/>
          <a:p>
            <a:pPr algn="ctr">
              <a:lnSpc>
                <a:spcPts val="1400"/>
              </a:lnSpc>
            </a:pP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r>
              <a:rPr lang="ko-KR" altLang="en-US" sz="10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장소성</a:t>
            </a:r>
            <a:r>
              <a:rPr lang="ko-KR" altLang="en-US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 점수</a:t>
            </a: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26B9BD8B-004A-23FC-728A-B4FCD94F74F5}"/>
              </a:ext>
            </a:extLst>
          </p:cNvPr>
          <p:cNvSpPr/>
          <p:nvPr/>
        </p:nvSpPr>
        <p:spPr>
          <a:xfrm>
            <a:off x="10982224" y="4466154"/>
            <a:ext cx="1092611" cy="1034205"/>
          </a:xfrm>
          <a:prstGeom prst="rect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9DE55AE-34EA-475D-69CA-319F01B4ED6E}"/>
              </a:ext>
            </a:extLst>
          </p:cNvPr>
          <p:cNvSpPr txBox="1"/>
          <p:nvPr/>
        </p:nvSpPr>
        <p:spPr>
          <a:xfrm>
            <a:off x="10982224" y="4534635"/>
            <a:ext cx="109261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개방성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0.95</a:t>
            </a:r>
          </a:p>
          <a:p>
            <a:pPr algn="ctr"/>
            <a:r>
              <a:rPr lang="ko-KR" altLang="en-US" sz="105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쾌적성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0.8</a:t>
            </a:r>
          </a:p>
          <a:p>
            <a:pPr algn="ctr"/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활동성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0.8</a:t>
            </a:r>
          </a:p>
          <a:p>
            <a:pPr algn="ctr"/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감각적 경험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0.9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731B4C5-BAFA-1CF4-5D5C-0DFE2C033EB3}"/>
              </a:ext>
            </a:extLst>
          </p:cNvPr>
          <p:cNvSpPr txBox="1"/>
          <p:nvPr/>
        </p:nvSpPr>
        <p:spPr>
          <a:xfrm>
            <a:off x="11381848" y="5287014"/>
            <a:ext cx="400238" cy="188664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en-US" altLang="ko-KR" sz="1401" dirty="0"/>
              <a:t>…</a:t>
            </a:r>
            <a:endParaRPr lang="ko-KR" altLang="en-US" sz="1401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4A427D7-8A79-3CE3-4A0A-744F47CB3B86}"/>
              </a:ext>
            </a:extLst>
          </p:cNvPr>
          <p:cNvSpPr txBox="1"/>
          <p:nvPr/>
        </p:nvSpPr>
        <p:spPr>
          <a:xfrm>
            <a:off x="3981420" y="6461380"/>
            <a:ext cx="4778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&lt; </a:t>
            </a:r>
            <a:r>
              <a:rPr lang="ko-KR" altLang="en-US" sz="1100" b="1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장소성</a:t>
            </a:r>
            <a:r>
              <a:rPr lang="ko-KR" altLang="en-US" sz="11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정량화 시스템 내부 프로세스</a:t>
            </a:r>
            <a:r>
              <a:rPr lang="en-US" altLang="ko-KR" sz="11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7955998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B1CB7-7F2B-0E7E-B827-FDAB5B1A0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8EF0C867-EF57-7104-E721-4AA4961807E5}"/>
              </a:ext>
            </a:extLst>
          </p:cNvPr>
          <p:cNvGrpSpPr/>
          <p:nvPr/>
        </p:nvGrpSpPr>
        <p:grpSpPr>
          <a:xfrm>
            <a:off x="5924550" y="2764027"/>
            <a:ext cx="4533900" cy="238351"/>
            <a:chOff x="1421130" y="2076936"/>
            <a:chExt cx="9781452" cy="277644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5AA037D4-75CB-0098-FC0C-D8B2DB28B88E}"/>
                </a:ext>
              </a:extLst>
            </p:cNvPr>
            <p:cNvSpPr/>
            <p:nvPr/>
          </p:nvSpPr>
          <p:spPr>
            <a:xfrm>
              <a:off x="1421130" y="2076936"/>
              <a:ext cx="9772651" cy="277644"/>
            </a:xfrm>
            <a:custGeom>
              <a:avLst/>
              <a:gdLst>
                <a:gd name="connsiteX0" fmla="*/ 8382000 w 8382000"/>
                <a:gd name="connsiteY0" fmla="*/ 251460 h 251460"/>
                <a:gd name="connsiteX1" fmla="*/ 0 w 8382000"/>
                <a:gd name="connsiteY1" fmla="*/ 251460 h 251460"/>
                <a:gd name="connsiteX2" fmla="*/ 1600200 w 8382000"/>
                <a:gd name="connsiteY2" fmla="*/ 0 h 251460"/>
                <a:gd name="connsiteX3" fmla="*/ 3177540 w 8382000"/>
                <a:gd name="connsiteY3" fmla="*/ 0 h 251460"/>
                <a:gd name="connsiteX4" fmla="*/ 8382000 w 8382000"/>
                <a:gd name="connsiteY4" fmla="*/ 251460 h 251460"/>
                <a:gd name="connsiteX0" fmla="*/ 8382000 w 8382000"/>
                <a:gd name="connsiteY0" fmla="*/ 258604 h 258604"/>
                <a:gd name="connsiteX1" fmla="*/ 0 w 8382000"/>
                <a:gd name="connsiteY1" fmla="*/ 258604 h 258604"/>
                <a:gd name="connsiteX2" fmla="*/ 1414462 w 8382000"/>
                <a:gd name="connsiteY2" fmla="*/ 0 h 258604"/>
                <a:gd name="connsiteX3" fmla="*/ 3177540 w 8382000"/>
                <a:gd name="connsiteY3" fmla="*/ 7144 h 258604"/>
                <a:gd name="connsiteX4" fmla="*/ 8382000 w 8382000"/>
                <a:gd name="connsiteY4" fmla="*/ 258604 h 258604"/>
                <a:gd name="connsiteX0" fmla="*/ 8382000 w 8382000"/>
                <a:gd name="connsiteY0" fmla="*/ 258604 h 258604"/>
                <a:gd name="connsiteX1" fmla="*/ 0 w 8382000"/>
                <a:gd name="connsiteY1" fmla="*/ 258604 h 258604"/>
                <a:gd name="connsiteX2" fmla="*/ 1414462 w 8382000"/>
                <a:gd name="connsiteY2" fmla="*/ 0 h 258604"/>
                <a:gd name="connsiteX3" fmla="*/ 3003708 w 8382000"/>
                <a:gd name="connsiteY3" fmla="*/ 1 h 258604"/>
                <a:gd name="connsiteX4" fmla="*/ 8382000 w 8382000"/>
                <a:gd name="connsiteY4" fmla="*/ 258604 h 258604"/>
                <a:gd name="connsiteX0" fmla="*/ 9772650 w 9772650"/>
                <a:gd name="connsiteY0" fmla="*/ 258604 h 266224"/>
                <a:gd name="connsiteX1" fmla="*/ 0 w 9772650"/>
                <a:gd name="connsiteY1" fmla="*/ 266224 h 266224"/>
                <a:gd name="connsiteX2" fmla="*/ 2805112 w 9772650"/>
                <a:gd name="connsiteY2" fmla="*/ 0 h 266224"/>
                <a:gd name="connsiteX3" fmla="*/ 4394358 w 9772650"/>
                <a:gd name="connsiteY3" fmla="*/ 1 h 266224"/>
                <a:gd name="connsiteX4" fmla="*/ 9772650 w 9772650"/>
                <a:gd name="connsiteY4" fmla="*/ 258604 h 266224"/>
                <a:gd name="csX0" fmla="*/ 9772650 w 9772650"/>
                <a:gd name="csY0" fmla="*/ 268128 h 275748"/>
                <a:gd name="csX1" fmla="*/ 0 w 9772650"/>
                <a:gd name="csY1" fmla="*/ 275748 h 275748"/>
                <a:gd name="csX2" fmla="*/ 2805112 w 9772650"/>
                <a:gd name="csY2" fmla="*/ 9524 h 275748"/>
                <a:gd name="csX3" fmla="*/ 5580221 w 9772650"/>
                <a:gd name="csY3" fmla="*/ 0 h 275748"/>
                <a:gd name="csX4" fmla="*/ 9772650 w 9772650"/>
                <a:gd name="csY4" fmla="*/ 268128 h 275748"/>
                <a:gd name="csX0" fmla="*/ 9772650 w 9772650"/>
                <a:gd name="csY0" fmla="*/ 268129 h 275749"/>
                <a:gd name="csX1" fmla="*/ 0 w 9772650"/>
                <a:gd name="csY1" fmla="*/ 275749 h 275749"/>
                <a:gd name="csX2" fmla="*/ 3962400 w 9772650"/>
                <a:gd name="csY2" fmla="*/ 0 h 275749"/>
                <a:gd name="csX3" fmla="*/ 5580221 w 9772650"/>
                <a:gd name="csY3" fmla="*/ 1 h 275749"/>
                <a:gd name="csX4" fmla="*/ 9772650 w 9772650"/>
                <a:gd name="csY4" fmla="*/ 268129 h 275749"/>
                <a:gd name="csX0" fmla="*/ 9772650 w 9772650"/>
                <a:gd name="csY0" fmla="*/ 268128 h 275748"/>
                <a:gd name="csX1" fmla="*/ 0 w 9772650"/>
                <a:gd name="csY1" fmla="*/ 275748 h 275748"/>
                <a:gd name="csX2" fmla="*/ 4025900 w 9772650"/>
                <a:gd name="csY2" fmla="*/ 6227 h 275748"/>
                <a:gd name="csX3" fmla="*/ 5580221 w 9772650"/>
                <a:gd name="csY3" fmla="*/ 0 h 275748"/>
                <a:gd name="csX4" fmla="*/ 9772650 w 9772650"/>
                <a:gd name="csY4" fmla="*/ 268128 h 275748"/>
                <a:gd name="csX0" fmla="*/ 9772650 w 9772650"/>
                <a:gd name="csY0" fmla="*/ 275602 h 283222"/>
                <a:gd name="csX1" fmla="*/ 0 w 9772650"/>
                <a:gd name="csY1" fmla="*/ 283222 h 283222"/>
                <a:gd name="csX2" fmla="*/ 4025900 w 9772650"/>
                <a:gd name="csY2" fmla="*/ 13701 h 283222"/>
                <a:gd name="csX3" fmla="*/ 5832658 w 9772650"/>
                <a:gd name="csY3" fmla="*/ 0 h 283222"/>
                <a:gd name="csX4" fmla="*/ 9772650 w 9772650"/>
                <a:gd name="csY4" fmla="*/ 275602 h 283222"/>
                <a:gd name="csX0" fmla="*/ 9772650 w 9772650"/>
                <a:gd name="csY0" fmla="*/ 261901 h 269521"/>
                <a:gd name="csX1" fmla="*/ 0 w 9772650"/>
                <a:gd name="csY1" fmla="*/ 269521 h 269521"/>
                <a:gd name="csX2" fmla="*/ 4025900 w 9772650"/>
                <a:gd name="csY2" fmla="*/ 0 h 269521"/>
                <a:gd name="csX3" fmla="*/ 5840197 w 9772650"/>
                <a:gd name="csY3" fmla="*/ 313 h 269521"/>
                <a:gd name="csX4" fmla="*/ 9772650 w 9772650"/>
                <a:gd name="csY4" fmla="*/ 261901 h 269521"/>
                <a:gd name="csX0" fmla="*/ 9772650 w 9772650"/>
                <a:gd name="csY0" fmla="*/ 270931 h 278551"/>
                <a:gd name="csX1" fmla="*/ 0 w 9772650"/>
                <a:gd name="csY1" fmla="*/ 278551 h 278551"/>
                <a:gd name="csX2" fmla="*/ 4025900 w 9772650"/>
                <a:gd name="csY2" fmla="*/ 9030 h 278551"/>
                <a:gd name="csX3" fmla="*/ 5930665 w 9772650"/>
                <a:gd name="csY3" fmla="*/ 0 h 278551"/>
                <a:gd name="csX4" fmla="*/ 9772650 w 9772650"/>
                <a:gd name="csY4" fmla="*/ 270931 h 278551"/>
                <a:gd name="csX0" fmla="*/ 9772650 w 9772650"/>
                <a:gd name="csY0" fmla="*/ 275915 h 283535"/>
                <a:gd name="csX1" fmla="*/ 0 w 9772650"/>
                <a:gd name="csY1" fmla="*/ 283535 h 283535"/>
                <a:gd name="csX2" fmla="*/ 4025901 w 9772650"/>
                <a:gd name="csY2" fmla="*/ 0 h 283535"/>
                <a:gd name="csX3" fmla="*/ 5930665 w 9772650"/>
                <a:gd name="csY3" fmla="*/ 4984 h 283535"/>
                <a:gd name="csX4" fmla="*/ 9772650 w 9772650"/>
                <a:gd name="csY4" fmla="*/ 275915 h 283535"/>
                <a:gd name="csX0" fmla="*/ 9772650 w 9772650"/>
                <a:gd name="csY0" fmla="*/ 280274 h 287894"/>
                <a:gd name="csX1" fmla="*/ 0 w 9772650"/>
                <a:gd name="csY1" fmla="*/ 287894 h 287894"/>
                <a:gd name="csX2" fmla="*/ 4025901 w 9772650"/>
                <a:gd name="csY2" fmla="*/ 4359 h 287894"/>
                <a:gd name="csX3" fmla="*/ 5133218 w 9772650"/>
                <a:gd name="csY3" fmla="*/ 0 h 287894"/>
                <a:gd name="csX4" fmla="*/ 9772650 w 9772650"/>
                <a:gd name="csY4" fmla="*/ 280274 h 287894"/>
                <a:gd name="csX0" fmla="*/ 9772650 w 9772650"/>
                <a:gd name="csY0" fmla="*/ 275915 h 283535"/>
                <a:gd name="csX1" fmla="*/ 0 w 9772650"/>
                <a:gd name="csY1" fmla="*/ 283535 h 283535"/>
                <a:gd name="csX2" fmla="*/ 4025901 w 9772650"/>
                <a:gd name="csY2" fmla="*/ 0 h 283535"/>
                <a:gd name="csX3" fmla="*/ 5116251 w 9772650"/>
                <a:gd name="csY3" fmla="*/ 4983 h 283535"/>
                <a:gd name="csX4" fmla="*/ 9772650 w 9772650"/>
                <a:gd name="csY4" fmla="*/ 275915 h 283535"/>
                <a:gd name="csX0" fmla="*/ 9772650 w 9772650"/>
                <a:gd name="csY0" fmla="*/ 275915 h 283535"/>
                <a:gd name="csX1" fmla="*/ 0 w 9772650"/>
                <a:gd name="csY1" fmla="*/ 283535 h 283535"/>
                <a:gd name="csX2" fmla="*/ 4461387 w 9772650"/>
                <a:gd name="csY2" fmla="*/ 0 h 283535"/>
                <a:gd name="csX3" fmla="*/ 5116251 w 9772650"/>
                <a:gd name="csY3" fmla="*/ 4983 h 283535"/>
                <a:gd name="csX4" fmla="*/ 9772650 w 9772650"/>
                <a:gd name="csY4" fmla="*/ 275915 h 283535"/>
                <a:gd name="csX0" fmla="*/ 9772650 w 9772650"/>
                <a:gd name="csY0" fmla="*/ 275915 h 283535"/>
                <a:gd name="csX1" fmla="*/ 0 w 9772650"/>
                <a:gd name="csY1" fmla="*/ 283535 h 283535"/>
                <a:gd name="csX2" fmla="*/ 4461387 w 9772650"/>
                <a:gd name="csY2" fmla="*/ 0 h 283535"/>
                <a:gd name="csX3" fmla="*/ 5483868 w 9772650"/>
                <a:gd name="csY3" fmla="*/ 11211 h 283535"/>
                <a:gd name="csX4" fmla="*/ 9772650 w 9772650"/>
                <a:gd name="csY4" fmla="*/ 275915 h 283535"/>
                <a:gd name="csX0" fmla="*/ 9772650 w 9772650"/>
                <a:gd name="csY0" fmla="*/ 264704 h 272324"/>
                <a:gd name="csX1" fmla="*/ 0 w 9772650"/>
                <a:gd name="csY1" fmla="*/ 272324 h 272324"/>
                <a:gd name="csX2" fmla="*/ 4467042 w 9772650"/>
                <a:gd name="csY2" fmla="*/ 1246 h 272324"/>
                <a:gd name="csX3" fmla="*/ 5483868 w 9772650"/>
                <a:gd name="csY3" fmla="*/ 0 h 272324"/>
                <a:gd name="csX4" fmla="*/ 9772650 w 9772650"/>
                <a:gd name="csY4" fmla="*/ 264704 h 272324"/>
                <a:gd name="csX0" fmla="*/ 9772650 w 9772650"/>
                <a:gd name="csY0" fmla="*/ 264704 h 272324"/>
                <a:gd name="csX1" fmla="*/ 0 w 9772650"/>
                <a:gd name="csY1" fmla="*/ 272324 h 272324"/>
                <a:gd name="csX2" fmla="*/ 3714623 w 9772650"/>
                <a:gd name="csY2" fmla="*/ 6890 h 272324"/>
                <a:gd name="csX3" fmla="*/ 5483868 w 9772650"/>
                <a:gd name="csY3" fmla="*/ 0 h 272324"/>
                <a:gd name="csX4" fmla="*/ 9772650 w 9772650"/>
                <a:gd name="csY4" fmla="*/ 264704 h 272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772650" h="272324">
                  <a:moveTo>
                    <a:pt x="9772650" y="264704"/>
                  </a:moveTo>
                  <a:lnTo>
                    <a:pt x="0" y="272324"/>
                  </a:lnTo>
                  <a:lnTo>
                    <a:pt x="3714623" y="6890"/>
                  </a:lnTo>
                  <a:lnTo>
                    <a:pt x="5483868" y="0"/>
                  </a:lnTo>
                  <a:lnTo>
                    <a:pt x="9772650" y="264704"/>
                  </a:lnTo>
                  <a:close/>
                </a:path>
              </a:pathLst>
            </a:custGeom>
            <a:grpFill/>
            <a:ln w="9525">
              <a:solidFill>
                <a:srgbClr val="C1DAF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4E8E2684-F55B-E68D-9EFB-5E1EAF08993A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 flipH="1">
              <a:off x="1432494" y="2083961"/>
              <a:ext cx="3703259" cy="270475"/>
            </a:xfrm>
            <a:prstGeom prst="line">
              <a:avLst/>
            </a:prstGeom>
            <a:grpFill/>
            <a:ln w="12700">
              <a:solidFill>
                <a:srgbClr val="C1DAF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498AC7DB-0B01-D2A0-7D49-5EF28E8EFCE9}"/>
                </a:ext>
              </a:extLst>
            </p:cNvPr>
            <p:cNvCxnSpPr>
              <a:cxnSpLocks/>
              <a:stCxn id="4" idx="3"/>
            </p:cNvCxnSpPr>
            <p:nvPr/>
          </p:nvCxnSpPr>
          <p:spPr>
            <a:xfrm>
              <a:off x="6904998" y="2076936"/>
              <a:ext cx="4297584" cy="271350"/>
            </a:xfrm>
            <a:prstGeom prst="line">
              <a:avLst/>
            </a:prstGeom>
            <a:grpFill/>
            <a:ln w="12700">
              <a:solidFill>
                <a:srgbClr val="C1DAF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C45306A9-15A3-1288-AF6B-1C6571221715}"/>
              </a:ext>
            </a:extLst>
          </p:cNvPr>
          <p:cNvGrpSpPr/>
          <p:nvPr/>
        </p:nvGrpSpPr>
        <p:grpSpPr>
          <a:xfrm>
            <a:off x="5066627" y="1041757"/>
            <a:ext cx="6029218" cy="1727705"/>
            <a:chOff x="2286107" y="1257514"/>
            <a:chExt cx="7880177" cy="2494566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E2F5F596-DD8B-E4B9-8AC2-1A24343B6C1D}"/>
                </a:ext>
              </a:extLst>
            </p:cNvPr>
            <p:cNvSpPr/>
            <p:nvPr/>
          </p:nvSpPr>
          <p:spPr>
            <a:xfrm>
              <a:off x="7971724" y="1257514"/>
              <a:ext cx="2194560" cy="248970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2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</a:t>
              </a: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900" dirty="0" err="1">
                  <a:solidFill>
                    <a:schemeClr val="bg2">
                      <a:lumMod val="2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bg2">
                      <a:lumMod val="2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 점수</a:t>
              </a:r>
            </a:p>
          </p:txBody>
        </p: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96945493-ACA6-92A0-BDCC-9EF1EBC31339}"/>
                </a:ext>
              </a:extLst>
            </p:cNvPr>
            <p:cNvSpPr/>
            <p:nvPr/>
          </p:nvSpPr>
          <p:spPr>
            <a:xfrm>
              <a:off x="5130513" y="1257514"/>
              <a:ext cx="2194560" cy="248970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Placeness</a:t>
              </a:r>
            </a:p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Quantification System</a:t>
              </a:r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 요인 추출 및 정량화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23802775-8FE3-1E3E-927D-C315051BF49D}"/>
                </a:ext>
              </a:extLst>
            </p:cNvPr>
            <p:cNvSpPr/>
            <p:nvPr/>
          </p:nvSpPr>
          <p:spPr>
            <a:xfrm>
              <a:off x="2286107" y="1262378"/>
              <a:ext cx="2194560" cy="248970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1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</a:t>
              </a:r>
              <a:endParaRPr lang="en-US" altLang="ko-KR" sz="11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Noto Sans KR SemiBold" panose="020B0200000000000000" pitchFamily="50" charset="-127"/>
                <a:cs typeface="Times New Roman" panose="02020603050405020304" pitchFamily="18" charset="0"/>
              </a:endParaRPr>
            </a:p>
            <a:p>
              <a:pPr algn="ctr"/>
              <a:endParaRPr lang="en-US" altLang="ko-KR" sz="1000" dirty="0">
                <a:solidFill>
                  <a:schemeClr val="bg2">
                    <a:lumMod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900" dirty="0">
                  <a:solidFill>
                    <a:schemeClr val="bg2">
                      <a:lumMod val="2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정성적 텍스트 </a:t>
              </a:r>
              <a:endParaRPr lang="en-US" altLang="ko-KR" sz="900" dirty="0">
                <a:solidFill>
                  <a:schemeClr val="bg2">
                    <a:lumMod val="2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900" dirty="0">
                  <a:solidFill>
                    <a:schemeClr val="bg2">
                      <a:lumMod val="2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리뷰 데이터</a:t>
              </a:r>
              <a:endParaRPr lang="en-US" altLang="ko-KR" sz="900" dirty="0">
                <a:solidFill>
                  <a:schemeClr val="bg2">
                    <a:lumMod val="2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</p:txBody>
        </p:sp>
        <p:pic>
          <p:nvPicPr>
            <p:cNvPr id="38" name="그림 37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E8D81FEF-2C4A-E007-A33F-CDA819D68F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65286" y="2107306"/>
              <a:ext cx="790114" cy="790114"/>
            </a:xfrm>
            <a:prstGeom prst="rect">
              <a:avLst/>
            </a:prstGeom>
          </p:spPr>
        </p:pic>
        <p:pic>
          <p:nvPicPr>
            <p:cNvPr id="39" name="그림 38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4829C1DA-09CD-2DED-9AC9-0C9F420720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5720693" y="2426373"/>
              <a:ext cx="943962" cy="737722"/>
            </a:xfrm>
            <a:prstGeom prst="rect">
              <a:avLst/>
            </a:prstGeom>
          </p:spPr>
        </p:pic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C28CE7DF-D39A-8FD4-2B8F-0FBA86FBA4CB}"/>
                </a:ext>
              </a:extLst>
            </p:cNvPr>
            <p:cNvCxnSpPr>
              <a:cxnSpLocks/>
              <a:stCxn id="36" idx="3"/>
              <a:endCxn id="23" idx="1"/>
            </p:cNvCxnSpPr>
            <p:nvPr/>
          </p:nvCxnSpPr>
          <p:spPr>
            <a:xfrm flipV="1">
              <a:off x="4480666" y="2502365"/>
              <a:ext cx="649846" cy="4865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C189B909-A246-58E2-25BA-889665EBDF57}"/>
                </a:ext>
              </a:extLst>
            </p:cNvPr>
            <p:cNvCxnSpPr>
              <a:cxnSpLocks/>
              <a:stCxn id="23" idx="3"/>
              <a:endCxn id="2" idx="1"/>
            </p:cNvCxnSpPr>
            <p:nvPr/>
          </p:nvCxnSpPr>
          <p:spPr>
            <a:xfrm>
              <a:off x="7325072" y="2502365"/>
              <a:ext cx="646652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45" name="그림 44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89EC026-3F40-20F5-9929-483D0CEAF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09097" y="1968198"/>
              <a:ext cx="1319813" cy="1068332"/>
            </a:xfrm>
            <a:prstGeom prst="rect">
              <a:avLst/>
            </a:prstGeom>
          </p:spPr>
        </p:pic>
      </p:grpSp>
      <p:sp>
        <p:nvSpPr>
          <p:cNvPr id="113" name="사각형: 둥근 모서리 112">
            <a:extLst>
              <a:ext uri="{FF2B5EF4-FFF2-40B4-BE49-F238E27FC236}">
                <a16:creationId xmlns:a16="http://schemas.microsoft.com/office/drawing/2014/main" id="{F26DF445-07AF-4A2B-58B3-AB6B20849D63}"/>
              </a:ext>
            </a:extLst>
          </p:cNvPr>
          <p:cNvSpPr/>
          <p:nvPr/>
        </p:nvSpPr>
        <p:spPr>
          <a:xfrm>
            <a:off x="5924550" y="2988642"/>
            <a:ext cx="4533900" cy="244286"/>
          </a:xfrm>
          <a:prstGeom prst="roundRect">
            <a:avLst>
              <a:gd name="adj" fmla="val 0"/>
            </a:avLst>
          </a:prstGeom>
          <a:solidFill>
            <a:schemeClr val="tx2">
              <a:lumMod val="25000"/>
              <a:lumOff val="75000"/>
              <a:alpha val="73000"/>
            </a:schemeClr>
          </a:solidFill>
          <a:ln w="1270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장소성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 정량화 시스템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Pretendard" panose="02000503000000020004" pitchFamily="50" charset="-127"/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CDB45A2C-7682-2A90-8C4E-F0EAE2FC0415}"/>
              </a:ext>
            </a:extLst>
          </p:cNvPr>
          <p:cNvSpPr/>
          <p:nvPr/>
        </p:nvSpPr>
        <p:spPr>
          <a:xfrm>
            <a:off x="5924550" y="3232929"/>
            <a:ext cx="4533900" cy="1565940"/>
          </a:xfrm>
          <a:prstGeom prst="rect">
            <a:avLst/>
          </a:prstGeom>
          <a:noFill/>
          <a:ln w="6350" cap="flat" cmpd="sng" algn="ctr">
            <a:solidFill>
              <a:schemeClr val="tx2">
                <a:lumMod val="25000"/>
                <a:lumOff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2F65672-24C5-BFBE-670D-56DDFAE199BE}"/>
              </a:ext>
            </a:extLst>
          </p:cNvPr>
          <p:cNvSpPr txBox="1"/>
          <p:nvPr/>
        </p:nvSpPr>
        <p:spPr>
          <a:xfrm>
            <a:off x="6254083" y="4514755"/>
            <a:ext cx="1645920" cy="54864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  <a:prstDash val="dash"/>
          </a:ln>
        </p:spPr>
        <p:txBody>
          <a:bodyPr wrap="square" lIns="91440" rIns="91440" rtlCol="0" anchor="ctr">
            <a:spAutoFit/>
          </a:bodyPr>
          <a:lstStyle/>
          <a:p>
            <a:pPr algn="ctr"/>
            <a:r>
              <a:rPr lang="ko-KR" altLang="en-US" sz="10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레퍼런스 기반 </a:t>
            </a:r>
            <a:r>
              <a:rPr lang="ko-KR" altLang="en-US" sz="10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장소성</a:t>
            </a:r>
            <a:r>
              <a:rPr lang="ko-KR" altLang="en-US" sz="10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 요인 </a:t>
            </a:r>
            <a:endParaRPr lang="en-US" altLang="ko-KR" sz="1000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0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분류 체계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E3D89F1-74A2-1FDF-D88D-DBEC94D6D829}"/>
              </a:ext>
            </a:extLst>
          </p:cNvPr>
          <p:cNvSpPr txBox="1"/>
          <p:nvPr/>
        </p:nvSpPr>
        <p:spPr>
          <a:xfrm>
            <a:off x="6254083" y="3404174"/>
            <a:ext cx="1645920" cy="548640"/>
          </a:xfrm>
          <a:prstGeom prst="rect">
            <a:avLst/>
          </a:prstGeom>
          <a:solidFill>
            <a:srgbClr val="DCEAF7"/>
          </a:solidFill>
          <a:ln>
            <a:noFill/>
          </a:ln>
        </p:spPr>
        <p:txBody>
          <a:bodyPr wrap="square" lIns="91440" rIns="91440" rtlCol="0" anchor="ctr">
            <a:spAutoFit/>
          </a:bodyPr>
          <a:lstStyle/>
          <a:p>
            <a:pPr algn="ctr"/>
            <a:r>
              <a:rPr lang="ko-KR" altLang="en-US" sz="10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장소성</a:t>
            </a:r>
            <a:r>
              <a:rPr lang="ko-KR" altLang="en-US" sz="10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 요인 매핑 모듈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834C770-FE7F-38BE-0917-9B27F44ADFD5}"/>
              </a:ext>
            </a:extLst>
          </p:cNvPr>
          <p:cNvSpPr txBox="1"/>
          <p:nvPr/>
        </p:nvSpPr>
        <p:spPr>
          <a:xfrm>
            <a:off x="8464869" y="3404174"/>
            <a:ext cx="1645920" cy="548640"/>
          </a:xfrm>
          <a:prstGeom prst="rect">
            <a:avLst/>
          </a:prstGeom>
          <a:solidFill>
            <a:srgbClr val="DCEAF7"/>
          </a:solidFill>
          <a:ln>
            <a:noFill/>
          </a:ln>
        </p:spPr>
        <p:txBody>
          <a:bodyPr wrap="square" lIns="91440" rIns="91440" rtlCol="0" anchor="ctr">
            <a:spAutoFit/>
          </a:bodyPr>
          <a:lstStyle/>
          <a:p>
            <a:pPr algn="ctr"/>
            <a:r>
              <a:rPr lang="ko-KR" altLang="en-US" sz="10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장소성</a:t>
            </a:r>
            <a:r>
              <a:rPr lang="ko-KR" altLang="en-US" sz="10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 요인별 점수화 모듈</a:t>
            </a: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B76DDD37-9754-03CF-C574-A160D288211A}"/>
              </a:ext>
            </a:extLst>
          </p:cNvPr>
          <p:cNvCxnSpPr>
            <a:cxnSpLocks/>
            <a:stCxn id="117" idx="3"/>
            <a:endCxn id="118" idx="1"/>
          </p:cNvCxnSpPr>
          <p:nvPr/>
        </p:nvCxnSpPr>
        <p:spPr>
          <a:xfrm>
            <a:off x="7900003" y="3678494"/>
            <a:ext cx="5648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28CCAC14-96B5-882C-E7C1-51BCDEF9AEEE}"/>
              </a:ext>
            </a:extLst>
          </p:cNvPr>
          <p:cNvSpPr txBox="1"/>
          <p:nvPr/>
        </p:nvSpPr>
        <p:spPr>
          <a:xfrm>
            <a:off x="7115167" y="4133044"/>
            <a:ext cx="1039067" cy="246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외부 데이터</a:t>
            </a:r>
            <a:r>
              <a: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참조</a:t>
            </a:r>
          </a:p>
        </p:txBody>
      </p: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6F37E4DE-6629-84C6-0387-80264ED8235E}"/>
              </a:ext>
            </a:extLst>
          </p:cNvPr>
          <p:cNvCxnSpPr>
            <a:stCxn id="115" idx="0"/>
            <a:endCxn id="117" idx="2"/>
          </p:cNvCxnSpPr>
          <p:nvPr/>
        </p:nvCxnSpPr>
        <p:spPr>
          <a:xfrm flipV="1">
            <a:off x="7077043" y="3952814"/>
            <a:ext cx="0" cy="561941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152FFDB8-1474-CDAD-57FD-DF2C259A65E6}"/>
              </a:ext>
            </a:extLst>
          </p:cNvPr>
          <p:cNvCxnSpPr>
            <a:cxnSpLocks/>
          </p:cNvCxnSpPr>
          <p:nvPr/>
        </p:nvCxnSpPr>
        <p:spPr>
          <a:xfrm>
            <a:off x="10288601" y="5688958"/>
            <a:ext cx="5648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F2E6EECF-1A30-C30E-081D-0A580D4715B0}"/>
              </a:ext>
            </a:extLst>
          </p:cNvPr>
          <p:cNvCxnSpPr>
            <a:cxnSpLocks/>
          </p:cNvCxnSpPr>
          <p:nvPr/>
        </p:nvCxnSpPr>
        <p:spPr>
          <a:xfrm>
            <a:off x="10288601" y="5946133"/>
            <a:ext cx="564866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20ECBA63-6E6A-5C79-8D73-81ADC0C2EFDD}"/>
              </a:ext>
            </a:extLst>
          </p:cNvPr>
          <p:cNvSpPr txBox="1"/>
          <p:nvPr/>
        </p:nvSpPr>
        <p:spPr>
          <a:xfrm>
            <a:off x="11003802" y="5570103"/>
            <a:ext cx="8418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모듈 진행</a:t>
            </a:r>
            <a:endParaRPr lang="en-US" altLang="ko-KR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 활용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A6E2EFB-2F28-B61C-563D-4DFE20319A5B}"/>
              </a:ext>
            </a:extLst>
          </p:cNvPr>
          <p:cNvSpPr/>
          <p:nvPr/>
        </p:nvSpPr>
        <p:spPr>
          <a:xfrm>
            <a:off x="736605" y="3055185"/>
            <a:ext cx="3494232" cy="1869099"/>
          </a:xfrm>
          <a:prstGeom prst="roundRect">
            <a:avLst>
              <a:gd name="adj" fmla="val 0"/>
            </a:avLst>
          </a:prstGeom>
          <a:solidFill>
            <a:srgbClr val="DCEAF7"/>
          </a:solidFill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DEC264F-C18C-B8EE-CF55-083365D8E3B4}"/>
              </a:ext>
            </a:extLst>
          </p:cNvPr>
          <p:cNvSpPr/>
          <p:nvPr/>
        </p:nvSpPr>
        <p:spPr>
          <a:xfrm>
            <a:off x="766969" y="2815637"/>
            <a:ext cx="3408292" cy="244998"/>
          </a:xfrm>
          <a:prstGeom prst="rect">
            <a:avLst/>
          </a:prstGeom>
        </p:spPr>
        <p:txBody>
          <a:bodyPr wrap="square" lIns="36000" tIns="0" rIns="36000" bIns="3600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Times New Roman" panose="02020603050405020304" pitchFamily="18" charset="0"/>
              </a:rPr>
              <a:t>장소성</a:t>
            </a:r>
            <a:r>
              <a:rPr lang="ko-KR" altLang="en-US" sz="1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Times New Roman" panose="02020603050405020304" pitchFamily="18" charset="0"/>
              </a:rPr>
              <a:t> 정량화 시스템</a:t>
            </a:r>
            <a:endParaRPr lang="en-US" altLang="ko-KR" sz="1000" b="1" dirty="0">
              <a:solidFill>
                <a:schemeClr val="tx2">
                  <a:lumMod val="90000"/>
                  <a:lumOff val="10000"/>
                </a:schemeClr>
              </a:solidFill>
              <a:latin typeface="나눔스퀘어OTF_ac Bold" panose="020B0600000101010101" pitchFamily="34" charset="-127"/>
              <a:ea typeface="나눔스퀘어OTF_ac Bold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5BF8497-C49E-B92B-66B9-14BFDB0C1BF5}"/>
              </a:ext>
            </a:extLst>
          </p:cNvPr>
          <p:cNvSpPr/>
          <p:nvPr/>
        </p:nvSpPr>
        <p:spPr>
          <a:xfrm>
            <a:off x="2431955" y="3164155"/>
            <a:ext cx="1755911" cy="78623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Times New Roman" panose="02020603050405020304" pitchFamily="18" charset="0"/>
              </a:rPr>
              <a:t>장소성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Times New Roman" panose="02020603050405020304" pitchFamily="18" charset="0"/>
              </a:rPr>
              <a:t> 요인 매핑 모듈</a:t>
            </a:r>
            <a:endParaRPr lang="en-US" altLang="ko-KR" sz="1000" b="1" dirty="0">
              <a:solidFill>
                <a:prstClr val="black"/>
              </a:solidFill>
              <a:latin typeface="나눔스퀘어OTF_ac Bold" panose="020B0600000101010101" pitchFamily="34" charset="-127"/>
              <a:ea typeface="나눔스퀘어OTF_ac Bold" panose="020B0600000101010101" pitchFamily="34" charset="-127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500" b="1" dirty="0">
              <a:solidFill>
                <a:prstClr val="black"/>
              </a:solidFill>
              <a:latin typeface="나눔스퀘어OTF_ac Bold" panose="020B0600000101010101" pitchFamily="34" charset="-127"/>
              <a:ea typeface="나눔스퀘어OTF_ac Bold" panose="020B0600000101010101" pitchFamily="34" charset="-127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7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리뷰 문장과 </a:t>
            </a:r>
            <a:r>
              <a:rPr lang="ko-KR" altLang="en-US" sz="7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장소성</a:t>
            </a:r>
            <a:r>
              <a:rPr lang="ko-KR" altLang="en-US" sz="7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요인 표준 문장 비교</a:t>
            </a:r>
            <a:endParaRPr lang="en-US" altLang="ko-KR" sz="7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>
              <a:lnSpc>
                <a:spcPts val="1200"/>
              </a:lnSpc>
            </a:pPr>
            <a:r>
              <a:rPr lang="en-US" altLang="ko-KR" sz="7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- </a:t>
            </a:r>
            <a:r>
              <a:rPr lang="ko-KR" altLang="en-US" sz="7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리뷰 문장과 유사도 높은</a:t>
            </a:r>
            <a:r>
              <a:rPr lang="en-US" altLang="ko-KR" sz="7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7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장소성</a:t>
            </a:r>
            <a:r>
              <a:rPr lang="ko-KR" altLang="en-US" sz="7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요인 매핑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B47B7BA-E7CB-9433-22B2-C4A684BF3FF5}"/>
              </a:ext>
            </a:extLst>
          </p:cNvPr>
          <p:cNvSpPr/>
          <p:nvPr/>
        </p:nvSpPr>
        <p:spPr>
          <a:xfrm>
            <a:off x="2431955" y="4159725"/>
            <a:ext cx="1755911" cy="69782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Times New Roman" panose="02020603050405020304" pitchFamily="18" charset="0"/>
              </a:rPr>
              <a:t>장소성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Times New Roman" panose="02020603050405020304" pitchFamily="18" charset="0"/>
              </a:rPr>
              <a:t> 요인별 점수화 모듈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OTF_ac Bold" panose="020B0600000101010101" pitchFamily="34" charset="-127"/>
              <a:ea typeface="나눔스퀘어OTF_ac Bold" panose="020B0600000101010101" pitchFamily="34" charset="-127"/>
              <a:cs typeface="Times New Roman" panose="02020603050405020304" pitchFamily="18" charset="0"/>
            </a:endParaRPr>
          </a:p>
          <a:p>
            <a:pPr lvl="0" algn="ctr">
              <a:defRPr/>
            </a:pPr>
            <a:endParaRPr lang="en-US" altLang="ko-KR" sz="500" b="1" dirty="0">
              <a:solidFill>
                <a:prstClr val="black"/>
              </a:solidFill>
              <a:latin typeface="나눔스퀘어OTF_ac Bold" panose="020B0600000101010101" pitchFamily="34" charset="-127"/>
              <a:ea typeface="나눔스퀘어OTF_ac Bold" panose="020B0600000101010101" pitchFamily="34" charset="-127"/>
              <a:cs typeface="Times New Roman" panose="02020603050405020304" pitchFamily="18" charset="0"/>
            </a:endParaRPr>
          </a:p>
          <a:p>
            <a:pPr lvl="0" algn="ctr">
              <a:defRPr/>
            </a:pPr>
            <a:r>
              <a:rPr lang="en-US" altLang="ko-KR" sz="7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7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매핑된</a:t>
            </a:r>
            <a:r>
              <a:rPr lang="ko-KR" altLang="en-US" sz="7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리뷰 문장의 긍정</a:t>
            </a:r>
            <a:r>
              <a:rPr lang="en-US" altLang="ko-KR" sz="7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 </a:t>
            </a:r>
            <a:r>
              <a:rPr lang="ko-KR" altLang="en-US" sz="7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부정 평가</a:t>
            </a:r>
            <a:endParaRPr lang="en-US" altLang="ko-KR" sz="7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0" algn="ctr">
              <a:defRPr/>
            </a:pPr>
            <a:r>
              <a:rPr lang="en-US" altLang="ko-KR" sz="7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7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언급 빈도 기반 가중치 반영한</a:t>
            </a:r>
            <a:endParaRPr lang="en-US" altLang="ko-KR" sz="7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0" algn="ctr">
              <a:defRPr/>
            </a:pPr>
            <a:r>
              <a:rPr lang="ko-KR" altLang="en-US" sz="7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7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장소성</a:t>
            </a:r>
            <a:r>
              <a:rPr lang="ko-KR" altLang="en-US" sz="7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요인별 점수 산출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92ABEFE-A749-2582-18BC-469189AADD21}"/>
              </a:ext>
            </a:extLst>
          </p:cNvPr>
          <p:cNvSpPr/>
          <p:nvPr/>
        </p:nvSpPr>
        <p:spPr>
          <a:xfrm>
            <a:off x="824972" y="3408594"/>
            <a:ext cx="1413404" cy="11105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Times New Roman" panose="02020603050405020304" pitchFamily="18" charset="0"/>
              </a:rPr>
              <a:t>레퍼런스 기반 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OTF_ac Bold" panose="020B0600000101010101" pitchFamily="34" charset="-127"/>
              <a:ea typeface="나눔스퀘어OTF_ac Bold" panose="020B0600000101010101" pitchFamily="34" charset="-127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Times New Roman" panose="02020603050405020304" pitchFamily="18" charset="0"/>
              </a:rPr>
              <a:t>장소성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Times New Roman" panose="02020603050405020304" pitchFamily="18" charset="0"/>
              </a:rPr>
              <a:t> 요인 분류 체계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500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- </a:t>
            </a:r>
            <a:r>
              <a:rPr lang="ko-KR" altLang="en-US" sz="7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장소성</a:t>
            </a:r>
            <a:r>
              <a:rPr lang="ko-KR" altLang="en-US" sz="7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 요인별 해석 기준 정의</a:t>
            </a:r>
            <a:endParaRPr kumimoji="0" lang="en-US" altLang="ko-KR" sz="7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B4E3E84B-3494-0FB6-1A69-E91D157674D7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3309911" y="3950385"/>
            <a:ext cx="0" cy="209340"/>
          </a:xfrm>
          <a:prstGeom prst="straightConnector1">
            <a:avLst/>
          </a:prstGeom>
          <a:ln w="12700">
            <a:solidFill>
              <a:schemeClr val="tx2"/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604A231-5908-8B17-5350-71E5848B2AC4}"/>
              </a:ext>
            </a:extLst>
          </p:cNvPr>
          <p:cNvSpPr/>
          <p:nvPr/>
        </p:nvSpPr>
        <p:spPr>
          <a:xfrm>
            <a:off x="723999" y="2362231"/>
            <a:ext cx="3494232" cy="28603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36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prstClr val="black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Times New Roman" panose="02020603050405020304" pitchFamily="18" charset="0"/>
              </a:rPr>
              <a:t>텍스트 리뷰 데이터</a:t>
            </a:r>
            <a:endParaRPr lang="en-US" altLang="ko-KR" sz="1000" dirty="0">
              <a:solidFill>
                <a:prstClr val="black"/>
              </a:solidFill>
              <a:latin typeface="나눔스퀘어OTF_ac Bold" panose="020B0600000101010101" pitchFamily="34" charset="-127"/>
              <a:ea typeface="나눔스퀘어OTF_ac Bold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149AA25-1488-F8A2-2C4A-129AD6AD7EFA}"/>
              </a:ext>
            </a:extLst>
          </p:cNvPr>
          <p:cNvSpPr/>
          <p:nvPr/>
        </p:nvSpPr>
        <p:spPr>
          <a:xfrm>
            <a:off x="711393" y="2089284"/>
            <a:ext cx="1987389" cy="286031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2C9818B-AF3B-C785-A322-3893FDC21356}"/>
              </a:ext>
            </a:extLst>
          </p:cNvPr>
          <p:cNvSpPr/>
          <p:nvPr/>
        </p:nvSpPr>
        <p:spPr>
          <a:xfrm>
            <a:off x="723999" y="5202505"/>
            <a:ext cx="3494232" cy="28603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36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dirty="0" err="1">
                <a:solidFill>
                  <a:prstClr val="black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Times New Roman" panose="02020603050405020304" pitchFamily="18" charset="0"/>
              </a:rPr>
              <a:t>장소성</a:t>
            </a:r>
            <a:r>
              <a:rPr lang="ko-KR" altLang="en-US" sz="1000" dirty="0">
                <a:solidFill>
                  <a:prstClr val="black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Times New Roman" panose="02020603050405020304" pitchFamily="18" charset="0"/>
              </a:rPr>
              <a:t> 점수</a:t>
            </a:r>
            <a:endParaRPr lang="en-US" altLang="ko-KR" sz="1000" dirty="0">
              <a:solidFill>
                <a:prstClr val="black"/>
              </a:solidFill>
              <a:latin typeface="나눔스퀘어OTF_ac Bold" panose="020B0600000101010101" pitchFamily="34" charset="-127"/>
              <a:ea typeface="나눔스퀘어OTF_ac Bold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FC62E35-E692-277B-47C4-706BEA438A88}"/>
              </a:ext>
            </a:extLst>
          </p:cNvPr>
          <p:cNvSpPr/>
          <p:nvPr/>
        </p:nvSpPr>
        <p:spPr>
          <a:xfrm>
            <a:off x="711393" y="4927587"/>
            <a:ext cx="1987389" cy="286031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21" name="이등변 삼각형 20">
            <a:extLst>
              <a:ext uri="{FF2B5EF4-FFF2-40B4-BE49-F238E27FC236}">
                <a16:creationId xmlns:a16="http://schemas.microsoft.com/office/drawing/2014/main" id="{9EBE37AD-668B-56C4-A04D-90852110EE9B}"/>
              </a:ext>
            </a:extLst>
          </p:cNvPr>
          <p:cNvSpPr/>
          <p:nvPr/>
        </p:nvSpPr>
        <p:spPr>
          <a:xfrm rot="10800000">
            <a:off x="2193126" y="2707697"/>
            <a:ext cx="474130" cy="138148"/>
          </a:xfrm>
          <a:prstGeom prst="triangle">
            <a:avLst/>
          </a:prstGeom>
          <a:solidFill>
            <a:schemeClr val="bg1">
              <a:lumMod val="85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2" name="이등변 삼각형 21">
            <a:extLst>
              <a:ext uri="{FF2B5EF4-FFF2-40B4-BE49-F238E27FC236}">
                <a16:creationId xmlns:a16="http://schemas.microsoft.com/office/drawing/2014/main" id="{D6FDFDDF-588A-12FA-C48E-DCEAA4339EA3}"/>
              </a:ext>
            </a:extLst>
          </p:cNvPr>
          <p:cNvSpPr/>
          <p:nvPr/>
        </p:nvSpPr>
        <p:spPr>
          <a:xfrm rot="10800000">
            <a:off x="2193126" y="4994321"/>
            <a:ext cx="474130" cy="138148"/>
          </a:xfrm>
          <a:prstGeom prst="triangle">
            <a:avLst/>
          </a:prstGeom>
          <a:solidFill>
            <a:schemeClr val="bg1">
              <a:lumMod val="85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739AE73D-AC8B-9643-35F1-299DC0C99A07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2238376" y="3557270"/>
            <a:ext cx="193579" cy="0"/>
          </a:xfrm>
          <a:prstGeom prst="straightConnector1">
            <a:avLst/>
          </a:prstGeom>
          <a:ln w="12700">
            <a:solidFill>
              <a:schemeClr val="tx2">
                <a:lumMod val="75000"/>
                <a:lumOff val="25000"/>
              </a:schemeClr>
            </a:solidFill>
            <a:prstDash val="sysDot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0459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159E4-5B65-5424-2C73-35141E538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BCCBB408-CD7D-907A-316E-45D02CF04C3E}"/>
              </a:ext>
            </a:extLst>
          </p:cNvPr>
          <p:cNvGrpSpPr/>
          <p:nvPr/>
        </p:nvGrpSpPr>
        <p:grpSpPr>
          <a:xfrm>
            <a:off x="3395217" y="2725842"/>
            <a:ext cx="5232029" cy="2714053"/>
            <a:chOff x="3981450" y="3481281"/>
            <a:chExt cx="4533900" cy="258603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53638FC3-C012-E68B-B65E-98E048882D49}"/>
                </a:ext>
              </a:extLst>
            </p:cNvPr>
            <p:cNvGrpSpPr/>
            <p:nvPr/>
          </p:nvGrpSpPr>
          <p:grpSpPr>
            <a:xfrm>
              <a:off x="3981450" y="3481281"/>
              <a:ext cx="4533900" cy="187862"/>
              <a:chOff x="1421130" y="2135751"/>
              <a:chExt cx="9781452" cy="218830"/>
            </a:xfrm>
            <a:solidFill>
              <a:schemeClr val="tx2">
                <a:lumMod val="10000"/>
                <a:lumOff val="90000"/>
              </a:schemeClr>
            </a:solidFill>
          </p:grpSpPr>
          <p:sp>
            <p:nvSpPr>
              <p:cNvPr id="4" name="자유형: 도형 3">
                <a:extLst>
                  <a:ext uri="{FF2B5EF4-FFF2-40B4-BE49-F238E27FC236}">
                    <a16:creationId xmlns:a16="http://schemas.microsoft.com/office/drawing/2014/main" id="{400D7F0D-5933-4872-BFAF-660B12B8567D}"/>
                  </a:ext>
                </a:extLst>
              </p:cNvPr>
              <p:cNvSpPr/>
              <p:nvPr/>
            </p:nvSpPr>
            <p:spPr>
              <a:xfrm>
                <a:off x="1421130" y="2135751"/>
                <a:ext cx="9772652" cy="218830"/>
              </a:xfrm>
              <a:custGeom>
                <a:avLst/>
                <a:gdLst>
                  <a:gd name="connsiteX0" fmla="*/ 8382000 w 8382000"/>
                  <a:gd name="connsiteY0" fmla="*/ 251460 h 251460"/>
                  <a:gd name="connsiteX1" fmla="*/ 0 w 8382000"/>
                  <a:gd name="connsiteY1" fmla="*/ 251460 h 251460"/>
                  <a:gd name="connsiteX2" fmla="*/ 1600200 w 8382000"/>
                  <a:gd name="connsiteY2" fmla="*/ 0 h 251460"/>
                  <a:gd name="connsiteX3" fmla="*/ 3177540 w 8382000"/>
                  <a:gd name="connsiteY3" fmla="*/ 0 h 251460"/>
                  <a:gd name="connsiteX4" fmla="*/ 8382000 w 8382000"/>
                  <a:gd name="connsiteY4" fmla="*/ 251460 h 251460"/>
                  <a:gd name="connsiteX0" fmla="*/ 8382000 w 8382000"/>
                  <a:gd name="connsiteY0" fmla="*/ 258604 h 258604"/>
                  <a:gd name="connsiteX1" fmla="*/ 0 w 8382000"/>
                  <a:gd name="connsiteY1" fmla="*/ 258604 h 258604"/>
                  <a:gd name="connsiteX2" fmla="*/ 1414462 w 8382000"/>
                  <a:gd name="connsiteY2" fmla="*/ 0 h 258604"/>
                  <a:gd name="connsiteX3" fmla="*/ 3177540 w 8382000"/>
                  <a:gd name="connsiteY3" fmla="*/ 7144 h 258604"/>
                  <a:gd name="connsiteX4" fmla="*/ 8382000 w 8382000"/>
                  <a:gd name="connsiteY4" fmla="*/ 258604 h 258604"/>
                  <a:gd name="connsiteX0" fmla="*/ 8382000 w 8382000"/>
                  <a:gd name="connsiteY0" fmla="*/ 258604 h 258604"/>
                  <a:gd name="connsiteX1" fmla="*/ 0 w 8382000"/>
                  <a:gd name="connsiteY1" fmla="*/ 258604 h 258604"/>
                  <a:gd name="connsiteX2" fmla="*/ 1414462 w 8382000"/>
                  <a:gd name="connsiteY2" fmla="*/ 0 h 258604"/>
                  <a:gd name="connsiteX3" fmla="*/ 3003708 w 8382000"/>
                  <a:gd name="connsiteY3" fmla="*/ 1 h 258604"/>
                  <a:gd name="connsiteX4" fmla="*/ 8382000 w 8382000"/>
                  <a:gd name="connsiteY4" fmla="*/ 258604 h 258604"/>
                  <a:gd name="connsiteX0" fmla="*/ 9772650 w 9772650"/>
                  <a:gd name="connsiteY0" fmla="*/ 258604 h 266224"/>
                  <a:gd name="connsiteX1" fmla="*/ 0 w 9772650"/>
                  <a:gd name="connsiteY1" fmla="*/ 266224 h 266224"/>
                  <a:gd name="connsiteX2" fmla="*/ 2805112 w 9772650"/>
                  <a:gd name="connsiteY2" fmla="*/ 0 h 266224"/>
                  <a:gd name="connsiteX3" fmla="*/ 4394358 w 9772650"/>
                  <a:gd name="connsiteY3" fmla="*/ 1 h 266224"/>
                  <a:gd name="connsiteX4" fmla="*/ 9772650 w 9772650"/>
                  <a:gd name="connsiteY4" fmla="*/ 258604 h 266224"/>
                  <a:gd name="csX0" fmla="*/ 9772650 w 9772650"/>
                  <a:gd name="csY0" fmla="*/ 268128 h 275748"/>
                  <a:gd name="csX1" fmla="*/ 0 w 9772650"/>
                  <a:gd name="csY1" fmla="*/ 275748 h 275748"/>
                  <a:gd name="csX2" fmla="*/ 2805112 w 9772650"/>
                  <a:gd name="csY2" fmla="*/ 9524 h 275748"/>
                  <a:gd name="csX3" fmla="*/ 5580221 w 9772650"/>
                  <a:gd name="csY3" fmla="*/ 0 h 275748"/>
                  <a:gd name="csX4" fmla="*/ 9772650 w 9772650"/>
                  <a:gd name="csY4" fmla="*/ 268128 h 275748"/>
                  <a:gd name="csX0" fmla="*/ 9772650 w 9772650"/>
                  <a:gd name="csY0" fmla="*/ 268129 h 275749"/>
                  <a:gd name="csX1" fmla="*/ 0 w 9772650"/>
                  <a:gd name="csY1" fmla="*/ 275749 h 275749"/>
                  <a:gd name="csX2" fmla="*/ 3962400 w 9772650"/>
                  <a:gd name="csY2" fmla="*/ 0 h 275749"/>
                  <a:gd name="csX3" fmla="*/ 5580221 w 9772650"/>
                  <a:gd name="csY3" fmla="*/ 1 h 275749"/>
                  <a:gd name="csX4" fmla="*/ 9772650 w 9772650"/>
                  <a:gd name="csY4" fmla="*/ 268129 h 275749"/>
                  <a:gd name="csX0" fmla="*/ 9772650 w 9772650"/>
                  <a:gd name="csY0" fmla="*/ 268128 h 275748"/>
                  <a:gd name="csX1" fmla="*/ 0 w 9772650"/>
                  <a:gd name="csY1" fmla="*/ 275748 h 275748"/>
                  <a:gd name="csX2" fmla="*/ 4025900 w 9772650"/>
                  <a:gd name="csY2" fmla="*/ 6227 h 275748"/>
                  <a:gd name="csX3" fmla="*/ 5580221 w 9772650"/>
                  <a:gd name="csY3" fmla="*/ 0 h 275748"/>
                  <a:gd name="csX4" fmla="*/ 9772650 w 9772650"/>
                  <a:gd name="csY4" fmla="*/ 268128 h 275748"/>
                  <a:gd name="csX0" fmla="*/ 9772650 w 9772650"/>
                  <a:gd name="csY0" fmla="*/ 275602 h 283222"/>
                  <a:gd name="csX1" fmla="*/ 0 w 9772650"/>
                  <a:gd name="csY1" fmla="*/ 283222 h 283222"/>
                  <a:gd name="csX2" fmla="*/ 4025900 w 9772650"/>
                  <a:gd name="csY2" fmla="*/ 13701 h 283222"/>
                  <a:gd name="csX3" fmla="*/ 5832658 w 9772650"/>
                  <a:gd name="csY3" fmla="*/ 0 h 283222"/>
                  <a:gd name="csX4" fmla="*/ 9772650 w 9772650"/>
                  <a:gd name="csY4" fmla="*/ 275602 h 283222"/>
                  <a:gd name="csX0" fmla="*/ 9772650 w 9772650"/>
                  <a:gd name="csY0" fmla="*/ 261901 h 269521"/>
                  <a:gd name="csX1" fmla="*/ 0 w 9772650"/>
                  <a:gd name="csY1" fmla="*/ 269521 h 269521"/>
                  <a:gd name="csX2" fmla="*/ 4025900 w 9772650"/>
                  <a:gd name="csY2" fmla="*/ 0 h 269521"/>
                  <a:gd name="csX3" fmla="*/ 5840197 w 9772650"/>
                  <a:gd name="csY3" fmla="*/ 313 h 269521"/>
                  <a:gd name="csX4" fmla="*/ 9772650 w 9772650"/>
                  <a:gd name="csY4" fmla="*/ 261901 h 269521"/>
                  <a:gd name="csX0" fmla="*/ 9772650 w 9772650"/>
                  <a:gd name="csY0" fmla="*/ 270931 h 278551"/>
                  <a:gd name="csX1" fmla="*/ 0 w 9772650"/>
                  <a:gd name="csY1" fmla="*/ 278551 h 278551"/>
                  <a:gd name="csX2" fmla="*/ 4025900 w 9772650"/>
                  <a:gd name="csY2" fmla="*/ 9030 h 278551"/>
                  <a:gd name="csX3" fmla="*/ 5930665 w 9772650"/>
                  <a:gd name="csY3" fmla="*/ 0 h 278551"/>
                  <a:gd name="csX4" fmla="*/ 9772650 w 9772650"/>
                  <a:gd name="csY4" fmla="*/ 270931 h 278551"/>
                  <a:gd name="csX0" fmla="*/ 9772650 w 9772650"/>
                  <a:gd name="csY0" fmla="*/ 275915 h 283535"/>
                  <a:gd name="csX1" fmla="*/ 0 w 9772650"/>
                  <a:gd name="csY1" fmla="*/ 283535 h 283535"/>
                  <a:gd name="csX2" fmla="*/ 4025901 w 9772650"/>
                  <a:gd name="csY2" fmla="*/ 0 h 283535"/>
                  <a:gd name="csX3" fmla="*/ 5930665 w 9772650"/>
                  <a:gd name="csY3" fmla="*/ 4984 h 283535"/>
                  <a:gd name="csX4" fmla="*/ 9772650 w 9772650"/>
                  <a:gd name="csY4" fmla="*/ 275915 h 283535"/>
                  <a:gd name="csX0" fmla="*/ 9772650 w 9772650"/>
                  <a:gd name="csY0" fmla="*/ 280274 h 287894"/>
                  <a:gd name="csX1" fmla="*/ 0 w 9772650"/>
                  <a:gd name="csY1" fmla="*/ 287894 h 287894"/>
                  <a:gd name="csX2" fmla="*/ 4025901 w 9772650"/>
                  <a:gd name="csY2" fmla="*/ 4359 h 287894"/>
                  <a:gd name="csX3" fmla="*/ 5133218 w 9772650"/>
                  <a:gd name="csY3" fmla="*/ 0 h 287894"/>
                  <a:gd name="csX4" fmla="*/ 9772650 w 9772650"/>
                  <a:gd name="csY4" fmla="*/ 280274 h 287894"/>
                  <a:gd name="csX0" fmla="*/ 9772650 w 9772650"/>
                  <a:gd name="csY0" fmla="*/ 275915 h 283535"/>
                  <a:gd name="csX1" fmla="*/ 0 w 9772650"/>
                  <a:gd name="csY1" fmla="*/ 283535 h 283535"/>
                  <a:gd name="csX2" fmla="*/ 4025901 w 9772650"/>
                  <a:gd name="csY2" fmla="*/ 0 h 283535"/>
                  <a:gd name="csX3" fmla="*/ 5116251 w 9772650"/>
                  <a:gd name="csY3" fmla="*/ 4983 h 283535"/>
                  <a:gd name="csX4" fmla="*/ 9772650 w 9772650"/>
                  <a:gd name="csY4" fmla="*/ 275915 h 283535"/>
                  <a:gd name="csX0" fmla="*/ 9772650 w 9772650"/>
                  <a:gd name="csY0" fmla="*/ 275915 h 283535"/>
                  <a:gd name="csX1" fmla="*/ 0 w 9772650"/>
                  <a:gd name="csY1" fmla="*/ 283535 h 283535"/>
                  <a:gd name="csX2" fmla="*/ 4461387 w 9772650"/>
                  <a:gd name="csY2" fmla="*/ 0 h 283535"/>
                  <a:gd name="csX3" fmla="*/ 5116251 w 9772650"/>
                  <a:gd name="csY3" fmla="*/ 4983 h 283535"/>
                  <a:gd name="csX4" fmla="*/ 9772650 w 9772650"/>
                  <a:gd name="csY4" fmla="*/ 275915 h 283535"/>
                  <a:gd name="csX0" fmla="*/ 9772650 w 9772650"/>
                  <a:gd name="csY0" fmla="*/ 275915 h 283535"/>
                  <a:gd name="csX1" fmla="*/ 0 w 9772650"/>
                  <a:gd name="csY1" fmla="*/ 283535 h 283535"/>
                  <a:gd name="csX2" fmla="*/ 4461387 w 9772650"/>
                  <a:gd name="csY2" fmla="*/ 0 h 283535"/>
                  <a:gd name="csX3" fmla="*/ 5483868 w 9772650"/>
                  <a:gd name="csY3" fmla="*/ 11211 h 283535"/>
                  <a:gd name="csX4" fmla="*/ 9772650 w 9772650"/>
                  <a:gd name="csY4" fmla="*/ 275915 h 283535"/>
                  <a:gd name="csX0" fmla="*/ 9772650 w 9772650"/>
                  <a:gd name="csY0" fmla="*/ 264704 h 272324"/>
                  <a:gd name="csX1" fmla="*/ 0 w 9772650"/>
                  <a:gd name="csY1" fmla="*/ 272324 h 272324"/>
                  <a:gd name="csX2" fmla="*/ 4467042 w 9772650"/>
                  <a:gd name="csY2" fmla="*/ 1246 h 272324"/>
                  <a:gd name="csX3" fmla="*/ 5483868 w 9772650"/>
                  <a:gd name="csY3" fmla="*/ 0 h 272324"/>
                  <a:gd name="csX4" fmla="*/ 9772650 w 9772650"/>
                  <a:gd name="csY4" fmla="*/ 264704 h 272324"/>
                  <a:gd name="csX0" fmla="*/ 9772650 w 9772650"/>
                  <a:gd name="csY0" fmla="*/ 264704 h 272324"/>
                  <a:gd name="csX1" fmla="*/ 0 w 9772650"/>
                  <a:gd name="csY1" fmla="*/ 272324 h 272324"/>
                  <a:gd name="csX2" fmla="*/ 3714623 w 9772650"/>
                  <a:gd name="csY2" fmla="*/ 6890 h 272324"/>
                  <a:gd name="csX3" fmla="*/ 5483868 w 9772650"/>
                  <a:gd name="csY3" fmla="*/ 0 h 272324"/>
                  <a:gd name="csX4" fmla="*/ 9772650 w 9772650"/>
                  <a:gd name="csY4" fmla="*/ 264704 h 272324"/>
                  <a:gd name="csX0" fmla="*/ 9772650 w 9772650"/>
                  <a:gd name="csY0" fmla="*/ 264704 h 272324"/>
                  <a:gd name="csX1" fmla="*/ 0 w 9772650"/>
                  <a:gd name="csY1" fmla="*/ 272324 h 272324"/>
                  <a:gd name="csX2" fmla="*/ 3714623 w 9772650"/>
                  <a:gd name="csY2" fmla="*/ 6890 h 272324"/>
                  <a:gd name="csX3" fmla="*/ 5596888 w 9772650"/>
                  <a:gd name="csY3" fmla="*/ 0 h 272324"/>
                  <a:gd name="csX4" fmla="*/ 9772650 w 9772650"/>
                  <a:gd name="csY4" fmla="*/ 264704 h 272324"/>
                  <a:gd name="csX0" fmla="*/ 9772650 w 9772650"/>
                  <a:gd name="csY0" fmla="*/ 264704 h 272324"/>
                  <a:gd name="csX1" fmla="*/ 0 w 9772650"/>
                  <a:gd name="csY1" fmla="*/ 272324 h 272324"/>
                  <a:gd name="csX2" fmla="*/ 3760858 w 9772650"/>
                  <a:gd name="csY2" fmla="*/ 4169 h 272324"/>
                  <a:gd name="csX3" fmla="*/ 5596888 w 9772650"/>
                  <a:gd name="csY3" fmla="*/ 0 h 272324"/>
                  <a:gd name="csX4" fmla="*/ 9772650 w 9772650"/>
                  <a:gd name="csY4" fmla="*/ 264704 h 272324"/>
                  <a:gd name="csX0" fmla="*/ 9772650 w 9772650"/>
                  <a:gd name="csY0" fmla="*/ 264704 h 272324"/>
                  <a:gd name="csX1" fmla="*/ 0 w 9772650"/>
                  <a:gd name="csY1" fmla="*/ 272324 h 272324"/>
                  <a:gd name="csX2" fmla="*/ 3760858 w 9772650"/>
                  <a:gd name="csY2" fmla="*/ 4169 h 272324"/>
                  <a:gd name="csX3" fmla="*/ 5596888 w 9772650"/>
                  <a:gd name="csY3" fmla="*/ 0 h 272324"/>
                  <a:gd name="csX4" fmla="*/ 9772650 w 9772650"/>
                  <a:gd name="csY4" fmla="*/ 264704 h 272324"/>
                  <a:gd name="csX0" fmla="*/ 9772650 w 9772650"/>
                  <a:gd name="csY0" fmla="*/ 260535 h 268155"/>
                  <a:gd name="csX1" fmla="*/ 0 w 9772650"/>
                  <a:gd name="csY1" fmla="*/ 268155 h 268155"/>
                  <a:gd name="csX2" fmla="*/ 3760858 w 9772650"/>
                  <a:gd name="csY2" fmla="*/ 0 h 268155"/>
                  <a:gd name="csX3" fmla="*/ 5632848 w 9772650"/>
                  <a:gd name="csY3" fmla="*/ 1272 h 268155"/>
                  <a:gd name="csX4" fmla="*/ 9772650 w 9772650"/>
                  <a:gd name="csY4" fmla="*/ 260535 h 268155"/>
                  <a:gd name="connsiteX0" fmla="*/ 9772650 w 9772650"/>
                  <a:gd name="connsiteY0" fmla="*/ 259263 h 266883"/>
                  <a:gd name="connsiteX1" fmla="*/ 0 w 9772650"/>
                  <a:gd name="connsiteY1" fmla="*/ 266883 h 266883"/>
                  <a:gd name="connsiteX2" fmla="*/ 4063583 w 9772650"/>
                  <a:gd name="connsiteY2" fmla="*/ 11621 h 266883"/>
                  <a:gd name="connsiteX3" fmla="*/ 5632848 w 9772650"/>
                  <a:gd name="connsiteY3" fmla="*/ 0 h 266883"/>
                  <a:gd name="connsiteX4" fmla="*/ 9772650 w 9772650"/>
                  <a:gd name="connsiteY4" fmla="*/ 259263 h 266883"/>
                  <a:gd name="connsiteX0" fmla="*/ 9772650 w 9772650"/>
                  <a:gd name="connsiteY0" fmla="*/ 259263 h 266883"/>
                  <a:gd name="connsiteX1" fmla="*/ 0 w 9772650"/>
                  <a:gd name="connsiteY1" fmla="*/ 266883 h 266883"/>
                  <a:gd name="connsiteX2" fmla="*/ 4063583 w 9772650"/>
                  <a:gd name="connsiteY2" fmla="*/ 11621 h 266883"/>
                  <a:gd name="connsiteX3" fmla="*/ 5775307 w 9772650"/>
                  <a:gd name="connsiteY3" fmla="*/ 0 h 266883"/>
                  <a:gd name="connsiteX4" fmla="*/ 9772650 w 9772650"/>
                  <a:gd name="connsiteY4" fmla="*/ 259263 h 266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72650" h="266883">
                    <a:moveTo>
                      <a:pt x="9772650" y="259263"/>
                    </a:moveTo>
                    <a:lnTo>
                      <a:pt x="0" y="266883"/>
                    </a:lnTo>
                    <a:lnTo>
                      <a:pt x="4063583" y="11621"/>
                    </a:lnTo>
                    <a:lnTo>
                      <a:pt x="5775307" y="0"/>
                    </a:lnTo>
                    <a:lnTo>
                      <a:pt x="9772650" y="259263"/>
                    </a:lnTo>
                    <a:close/>
                  </a:path>
                </a:pathLst>
              </a:custGeom>
              <a:grpFill/>
              <a:ln w="9525">
                <a:solidFill>
                  <a:srgbClr val="C1DAF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" name="직선 연결선 5">
                <a:extLst>
                  <a:ext uri="{FF2B5EF4-FFF2-40B4-BE49-F238E27FC236}">
                    <a16:creationId xmlns:a16="http://schemas.microsoft.com/office/drawing/2014/main" id="{5BB8BBAA-BF62-A151-7F93-450505519526}"/>
                  </a:ext>
                </a:extLst>
              </p:cNvPr>
              <p:cNvCxnSpPr>
                <a:cxnSpLocks/>
                <a:stCxn id="4" idx="2"/>
              </p:cNvCxnSpPr>
              <p:nvPr/>
            </p:nvCxnSpPr>
            <p:spPr>
              <a:xfrm flipH="1">
                <a:off x="1432493" y="2145279"/>
                <a:ext cx="4052221" cy="209155"/>
              </a:xfrm>
              <a:prstGeom prst="line">
                <a:avLst/>
              </a:prstGeom>
              <a:grpFill/>
              <a:ln w="12700">
                <a:solidFill>
                  <a:srgbClr val="C1DAF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9389CDBE-E0D3-2894-3BD1-76685B6E517B}"/>
                  </a:ext>
                </a:extLst>
              </p:cNvPr>
              <p:cNvCxnSpPr>
                <a:cxnSpLocks/>
                <a:stCxn id="4" idx="3"/>
              </p:cNvCxnSpPr>
              <p:nvPr/>
            </p:nvCxnSpPr>
            <p:spPr>
              <a:xfrm>
                <a:off x="7196438" y="2135751"/>
                <a:ext cx="4006144" cy="212534"/>
              </a:xfrm>
              <a:prstGeom prst="line">
                <a:avLst/>
              </a:prstGeom>
              <a:grpFill/>
              <a:ln w="12700">
                <a:solidFill>
                  <a:srgbClr val="C1DAF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3" name="사각형: 둥근 모서리 112">
              <a:extLst>
                <a:ext uri="{FF2B5EF4-FFF2-40B4-BE49-F238E27FC236}">
                  <a16:creationId xmlns:a16="http://schemas.microsoft.com/office/drawing/2014/main" id="{EADD949A-1ED6-C2A1-36A0-76F8C87994CB}"/>
                </a:ext>
              </a:extLst>
            </p:cNvPr>
            <p:cNvSpPr/>
            <p:nvPr/>
          </p:nvSpPr>
          <p:spPr>
            <a:xfrm>
              <a:off x="3981450" y="3655392"/>
              <a:ext cx="4533900" cy="24428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25000"/>
                <a:lumOff val="75000"/>
                <a:alpha val="73000"/>
              </a:schemeClr>
            </a:solidFill>
            <a:ln w="12700"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Pretendard" panose="02000503000000020004" pitchFamily="50" charset="-127"/>
                </a:rPr>
                <a:t>장소성</a:t>
              </a: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Pretendard" panose="02000503000000020004" pitchFamily="50" charset="-127"/>
                </a:rPr>
                <a:t> 정량화 시스템</a:t>
              </a:r>
              <a:endPara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CAC551F4-02EA-7AAC-0DBB-F8B60380DCCA}"/>
                </a:ext>
              </a:extLst>
            </p:cNvPr>
            <p:cNvSpPr/>
            <p:nvPr/>
          </p:nvSpPr>
          <p:spPr>
            <a:xfrm>
              <a:off x="3981450" y="3899677"/>
              <a:ext cx="4533900" cy="1859343"/>
            </a:xfrm>
            <a:prstGeom prst="rect">
              <a:avLst/>
            </a:prstGeom>
            <a:noFill/>
            <a:ln w="6350" cap="flat" cmpd="sng" algn="ctr">
              <a:solidFill>
                <a:schemeClr val="tx2">
                  <a:lumMod val="25000"/>
                  <a:lumOff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F0962B42-78C1-888A-0C7B-C33EA062D82D}"/>
                </a:ext>
              </a:extLst>
            </p:cNvPr>
            <p:cNvSpPr txBox="1"/>
            <p:nvPr/>
          </p:nvSpPr>
          <p:spPr>
            <a:xfrm>
              <a:off x="4310983" y="5457425"/>
              <a:ext cx="1645920" cy="609887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tx1"/>
              </a:solidFill>
              <a:prstDash val="dash"/>
            </a:ln>
          </p:spPr>
          <p:txBody>
            <a:bodyPr wrap="square" lIns="91440" rIns="91440" rtlCol="0" anchor="ctr">
              <a:spAutoFit/>
            </a:bodyPr>
            <a:lstStyle/>
            <a:p>
              <a:pPr algn="ctr"/>
              <a:r>
                <a:rPr lang="ko-KR" altLang="en-US" sz="1200" dirty="0"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선행연구 기반 </a:t>
              </a:r>
              <a:r>
                <a:rPr lang="ko-KR" altLang="en-US" sz="1200" dirty="0" err="1"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장소성</a:t>
              </a:r>
              <a:r>
                <a:rPr lang="ko-KR" altLang="en-US" sz="1200" dirty="0"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 요인 </a:t>
              </a:r>
              <a:endPara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1200" dirty="0"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평가 체계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B7E02C5A-24FD-47F2-3E05-8BDAF113BF8F}"/>
                </a:ext>
              </a:extLst>
            </p:cNvPr>
            <p:cNvSpPr txBox="1"/>
            <p:nvPr/>
          </p:nvSpPr>
          <p:spPr>
            <a:xfrm>
              <a:off x="4310983" y="4213276"/>
              <a:ext cx="1645920" cy="609887"/>
            </a:xfrm>
            <a:prstGeom prst="rect">
              <a:avLst/>
            </a:prstGeom>
            <a:solidFill>
              <a:srgbClr val="DCEAF7"/>
            </a:solidFill>
            <a:ln>
              <a:noFill/>
            </a:ln>
          </p:spPr>
          <p:txBody>
            <a:bodyPr wrap="square" lIns="91440" rIns="91440" rtlCol="0" anchor="ctr">
              <a:spAutoFit/>
            </a:bodyPr>
            <a:lstStyle/>
            <a:p>
              <a:pPr algn="ctr"/>
              <a:r>
                <a:rPr lang="ko-KR" altLang="en-US" sz="1200" dirty="0" err="1"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장소성</a:t>
              </a:r>
              <a:r>
                <a:rPr lang="ko-KR" altLang="en-US" sz="1200" dirty="0"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 요인 매핑 모듈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5BA5DFB3-967E-EC02-C3CF-0A0AD38C268E}"/>
                </a:ext>
              </a:extLst>
            </p:cNvPr>
            <p:cNvSpPr txBox="1"/>
            <p:nvPr/>
          </p:nvSpPr>
          <p:spPr>
            <a:xfrm>
              <a:off x="6521769" y="4213276"/>
              <a:ext cx="1645920" cy="609887"/>
            </a:xfrm>
            <a:prstGeom prst="rect">
              <a:avLst/>
            </a:prstGeom>
            <a:solidFill>
              <a:srgbClr val="DCEAF7"/>
            </a:solidFill>
            <a:ln>
              <a:noFill/>
            </a:ln>
          </p:spPr>
          <p:txBody>
            <a:bodyPr wrap="square" lIns="91440" rIns="91440" rtlCol="0" anchor="ctr">
              <a:spAutoFit/>
            </a:bodyPr>
            <a:lstStyle/>
            <a:p>
              <a:pPr algn="ctr"/>
              <a:r>
                <a:rPr lang="ko-KR" altLang="en-US" sz="1200" dirty="0" err="1"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장소성</a:t>
              </a:r>
              <a:r>
                <a:rPr lang="ko-KR" altLang="en-US" sz="1200" dirty="0"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 요인별 점수화 모듈</a:t>
              </a:r>
            </a:p>
          </p:txBody>
        </p:sp>
        <p:cxnSp>
          <p:nvCxnSpPr>
            <p:cNvPr id="120" name="직선 화살표 연결선 119">
              <a:extLst>
                <a:ext uri="{FF2B5EF4-FFF2-40B4-BE49-F238E27FC236}">
                  <a16:creationId xmlns:a16="http://schemas.microsoft.com/office/drawing/2014/main" id="{429767E6-B753-DA46-8D54-C75B25A004D8}"/>
                </a:ext>
              </a:extLst>
            </p:cNvPr>
            <p:cNvCxnSpPr>
              <a:cxnSpLocks/>
              <a:stCxn id="117" idx="3"/>
              <a:endCxn id="118" idx="1"/>
            </p:cNvCxnSpPr>
            <p:nvPr/>
          </p:nvCxnSpPr>
          <p:spPr>
            <a:xfrm>
              <a:off x="5956902" y="4518219"/>
              <a:ext cx="56486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260D74F0-BF7E-3E52-49AB-2D6E8356295D}"/>
                </a:ext>
              </a:extLst>
            </p:cNvPr>
            <p:cNvSpPr txBox="1"/>
            <p:nvPr/>
          </p:nvSpPr>
          <p:spPr>
            <a:xfrm>
              <a:off x="5185146" y="5060544"/>
              <a:ext cx="865692" cy="24927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평가 기준 참조</a:t>
              </a:r>
            </a:p>
          </p:txBody>
        </p:sp>
        <p:cxnSp>
          <p:nvCxnSpPr>
            <p:cNvPr id="125" name="직선 화살표 연결선 124">
              <a:extLst>
                <a:ext uri="{FF2B5EF4-FFF2-40B4-BE49-F238E27FC236}">
                  <a16:creationId xmlns:a16="http://schemas.microsoft.com/office/drawing/2014/main" id="{DC5D53CA-EFF4-B4D8-2167-1C83BC529C65}"/>
                </a:ext>
              </a:extLst>
            </p:cNvPr>
            <p:cNvCxnSpPr>
              <a:cxnSpLocks/>
              <a:stCxn id="115" idx="0"/>
              <a:endCxn id="117" idx="2"/>
            </p:cNvCxnSpPr>
            <p:nvPr/>
          </p:nvCxnSpPr>
          <p:spPr>
            <a:xfrm flipV="1">
              <a:off x="5133942" y="4823164"/>
              <a:ext cx="0" cy="634261"/>
            </a:xfrm>
            <a:prstGeom prst="straightConnector1">
              <a:avLst/>
            </a:prstGeom>
            <a:ln>
              <a:solidFill>
                <a:schemeClr val="tx2">
                  <a:lumMod val="50000"/>
                  <a:lumOff val="50000"/>
                </a:schemeClr>
              </a:solidFill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9364F14F-A3E0-3F4C-2473-B9049E2F46B4}"/>
              </a:ext>
            </a:extLst>
          </p:cNvPr>
          <p:cNvCxnSpPr>
            <a:cxnSpLocks/>
          </p:cNvCxnSpPr>
          <p:nvPr/>
        </p:nvCxnSpPr>
        <p:spPr>
          <a:xfrm>
            <a:off x="7180073" y="5542639"/>
            <a:ext cx="5648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E9172646-C918-4677-3BE7-FD9BAF129DC1}"/>
              </a:ext>
            </a:extLst>
          </p:cNvPr>
          <p:cNvCxnSpPr>
            <a:cxnSpLocks/>
          </p:cNvCxnSpPr>
          <p:nvPr/>
        </p:nvCxnSpPr>
        <p:spPr>
          <a:xfrm>
            <a:off x="7180073" y="5795442"/>
            <a:ext cx="564866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B4DE653A-7731-3A9E-14CF-BAD2841A1E82}"/>
              </a:ext>
            </a:extLst>
          </p:cNvPr>
          <p:cNvSpPr txBox="1"/>
          <p:nvPr/>
        </p:nvSpPr>
        <p:spPr>
          <a:xfrm>
            <a:off x="7917864" y="5417916"/>
            <a:ext cx="8418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모듈 진행</a:t>
            </a:r>
            <a:endParaRPr lang="en-US" altLang="ko-KR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r"/>
            <a:endParaRPr lang="en-US" altLang="ko-KR" sz="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r"/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 활용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AFECEE-5299-9306-21B5-D3C40A551906}"/>
              </a:ext>
            </a:extLst>
          </p:cNvPr>
          <p:cNvSpPr txBox="1"/>
          <p:nvPr/>
        </p:nvSpPr>
        <p:spPr>
          <a:xfrm>
            <a:off x="3981420" y="6461380"/>
            <a:ext cx="4778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&lt; </a:t>
            </a:r>
            <a:r>
              <a:rPr lang="ko-KR" altLang="en-US" sz="1100" b="1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장소성</a:t>
            </a:r>
            <a:r>
              <a:rPr lang="ko-KR" altLang="en-US" sz="11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정량화 시스템 내부 모듈</a:t>
            </a:r>
            <a:r>
              <a:rPr lang="en-US" altLang="ko-KR" sz="11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0005243-780E-9FF7-D9B4-8913FC5E68EE}"/>
              </a:ext>
            </a:extLst>
          </p:cNvPr>
          <p:cNvGrpSpPr/>
          <p:nvPr/>
        </p:nvGrpSpPr>
        <p:grpSpPr>
          <a:xfrm>
            <a:off x="3395217" y="1216264"/>
            <a:ext cx="5232029" cy="1518177"/>
            <a:chOff x="2286107" y="1257514"/>
            <a:chExt cx="7880177" cy="2494566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BC747ADD-DE6B-C551-BC20-854F11AB27D4}"/>
                </a:ext>
              </a:extLst>
            </p:cNvPr>
            <p:cNvSpPr/>
            <p:nvPr/>
          </p:nvSpPr>
          <p:spPr>
            <a:xfrm>
              <a:off x="7971724" y="1257514"/>
              <a:ext cx="2194560" cy="248970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2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</a:t>
              </a: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900" dirty="0" err="1">
                  <a:solidFill>
                    <a:schemeClr val="bg2">
                      <a:lumMod val="2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bg2">
                      <a:lumMod val="2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 점수</a:t>
              </a:r>
            </a:p>
          </p:txBody>
        </p: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39AE9BC4-4AA2-0DF2-C95F-D838FDAFE3AA}"/>
                </a:ext>
              </a:extLst>
            </p:cNvPr>
            <p:cNvSpPr/>
            <p:nvPr/>
          </p:nvSpPr>
          <p:spPr>
            <a:xfrm>
              <a:off x="2286107" y="1262378"/>
              <a:ext cx="2194560" cy="248970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1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</a:t>
              </a:r>
              <a:endParaRPr lang="en-US" altLang="ko-KR" sz="11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900" dirty="0">
                <a:solidFill>
                  <a:schemeClr val="bg2">
                    <a:lumMod val="2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900" dirty="0">
                  <a:solidFill>
                    <a:schemeClr val="bg2">
                      <a:lumMod val="2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텍스트 리뷰 데이터</a:t>
              </a:r>
              <a:endParaRPr lang="en-US" altLang="ko-KR" sz="900" dirty="0">
                <a:solidFill>
                  <a:schemeClr val="bg2">
                    <a:lumMod val="2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</p:txBody>
        </p:sp>
        <p:pic>
          <p:nvPicPr>
            <p:cNvPr id="38" name="그림 37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EB79221-A569-BB14-919B-17108F2EF6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21045" y="2107306"/>
              <a:ext cx="929226" cy="929224"/>
            </a:xfrm>
            <a:prstGeom prst="rect">
              <a:avLst/>
            </a:prstGeom>
          </p:spPr>
        </p:pic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C2E0395E-5907-7842-E3C4-BF9F7DFA1B8E}"/>
                </a:ext>
              </a:extLst>
            </p:cNvPr>
            <p:cNvCxnSpPr>
              <a:cxnSpLocks/>
              <a:stCxn id="36" idx="3"/>
              <a:endCxn id="23" idx="1"/>
            </p:cNvCxnSpPr>
            <p:nvPr/>
          </p:nvCxnSpPr>
          <p:spPr>
            <a:xfrm flipV="1">
              <a:off x="4480667" y="2502366"/>
              <a:ext cx="649844" cy="4864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E4B77B1E-2ACF-1C11-75BB-65FEDF767A53}"/>
                </a:ext>
              </a:extLst>
            </p:cNvPr>
            <p:cNvCxnSpPr>
              <a:cxnSpLocks/>
              <a:stCxn id="23" idx="3"/>
              <a:endCxn id="2" idx="1"/>
            </p:cNvCxnSpPr>
            <p:nvPr/>
          </p:nvCxnSpPr>
          <p:spPr>
            <a:xfrm flipV="1">
              <a:off x="7483019" y="2502364"/>
              <a:ext cx="488705" cy="2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45" name="그림 44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0C2BBFC8-4086-9BF3-40D7-0ECC2116AD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301382" y="1843757"/>
              <a:ext cx="1554263" cy="1258110"/>
            </a:xfrm>
            <a:prstGeom prst="rect">
              <a:avLst/>
            </a:prstGeom>
          </p:spPr>
        </p:pic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CFEBAFBF-5AB9-5C42-BC36-C749FA9B05A7}"/>
                </a:ext>
              </a:extLst>
            </p:cNvPr>
            <p:cNvSpPr/>
            <p:nvPr/>
          </p:nvSpPr>
          <p:spPr>
            <a:xfrm>
              <a:off x="5130511" y="1257514"/>
              <a:ext cx="2352507" cy="248970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Placeness</a:t>
              </a:r>
            </a:p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Quantification System</a:t>
              </a:r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 요인 추출 및 정량화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</p:txBody>
        </p:sp>
        <p:pic>
          <p:nvPicPr>
            <p:cNvPr id="39" name="그림 38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6C0A0FE-84E3-BDF4-C871-5004AE90E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5800909" y="2472813"/>
              <a:ext cx="943962" cy="7377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402131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9D267-31AB-07DB-7D2D-D503D138E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245FC19-6EF2-58F3-8E98-FBF474CF50B4}"/>
              </a:ext>
            </a:extLst>
          </p:cNvPr>
          <p:cNvSpPr/>
          <p:nvPr/>
        </p:nvSpPr>
        <p:spPr>
          <a:xfrm>
            <a:off x="7552743" y="1978956"/>
            <a:ext cx="2263236" cy="310134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40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algn="ctr"/>
            <a:endParaRPr lang="en-US" altLang="ko-KR" sz="1401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7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Aggregated placeness scores</a:t>
            </a:r>
            <a:endParaRPr lang="ko-KR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029133E-4DF4-1A64-4149-0CE1313CDA5E}"/>
              </a:ext>
            </a:extLst>
          </p:cNvPr>
          <p:cNvSpPr/>
          <p:nvPr/>
        </p:nvSpPr>
        <p:spPr>
          <a:xfrm>
            <a:off x="4787019" y="1978958"/>
            <a:ext cx="2350228" cy="3101340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40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Placeness</a:t>
            </a:r>
          </a:p>
          <a:p>
            <a:pPr algn="ctr"/>
            <a:r>
              <a:rPr lang="en-US" altLang="ko-KR" sz="140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Quantification System</a:t>
            </a:r>
            <a:endParaRPr lang="en-US" altLang="ko-KR" sz="140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matching and sentiment scoring</a:t>
            </a:r>
            <a:endParaRPr lang="ko-KR" alt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128" name="연결선: 꺾임 127">
            <a:extLst>
              <a:ext uri="{FF2B5EF4-FFF2-40B4-BE49-F238E27FC236}">
                <a16:creationId xmlns:a16="http://schemas.microsoft.com/office/drawing/2014/main" id="{9A11FFCF-6ED6-FF1C-6727-229BEE454381}"/>
              </a:ext>
            </a:extLst>
          </p:cNvPr>
          <p:cNvCxnSpPr>
            <a:cxnSpLocks/>
          </p:cNvCxnSpPr>
          <p:nvPr/>
        </p:nvCxnSpPr>
        <p:spPr>
          <a:xfrm>
            <a:off x="4940450" y="3436030"/>
            <a:ext cx="2808628" cy="615074"/>
          </a:xfrm>
          <a:prstGeom prst="bentConnector3">
            <a:avLst>
              <a:gd name="adj1" fmla="val -361"/>
            </a:avLst>
          </a:prstGeom>
          <a:ln w="12700">
            <a:solidFill>
              <a:schemeClr val="bg2">
                <a:lumMod val="10000"/>
              </a:schemeClr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EF252278-646C-8332-330C-B89DFD20B9AE}"/>
              </a:ext>
            </a:extLst>
          </p:cNvPr>
          <p:cNvCxnSpPr>
            <a:cxnSpLocks/>
          </p:cNvCxnSpPr>
          <p:nvPr/>
        </p:nvCxnSpPr>
        <p:spPr>
          <a:xfrm flipV="1">
            <a:off x="4371520" y="3419058"/>
            <a:ext cx="3377557" cy="19888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 w="med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89491DF-0ECA-4A78-CAF9-76DF622D04F4}"/>
              </a:ext>
            </a:extLst>
          </p:cNvPr>
          <p:cNvSpPr/>
          <p:nvPr/>
        </p:nvSpPr>
        <p:spPr>
          <a:xfrm>
            <a:off x="2328993" y="1978960"/>
            <a:ext cx="2042526" cy="3101339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40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pPr algn="ctr"/>
            <a:endParaRPr lang="en-US" altLang="ko-KR" sz="140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Times New Roman" panose="02020603050405020304" pitchFamily="18" charset="0"/>
              <a:ea typeface="Noto Sans KR SemiBold" panose="020B0200000000000000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Times New Roman" panose="02020603050405020304" pitchFamily="18" charset="0"/>
                <a:ea typeface="Noto Sans KR SemiBold" panose="020B0200000000000000" pitchFamily="50" charset="-127"/>
                <a:cs typeface="Times New Roman" panose="02020603050405020304" pitchFamily="18" charset="0"/>
              </a:rPr>
              <a:t>Qualitative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Times New Roman" panose="02020603050405020304" pitchFamily="18" charset="0"/>
                <a:ea typeface="Noto Sans KR SemiBold" panose="020B0200000000000000" pitchFamily="50" charset="-127"/>
                <a:cs typeface="Times New Roman" panose="02020603050405020304" pitchFamily="18" charset="0"/>
              </a:rPr>
              <a:t>text review data</a:t>
            </a:r>
          </a:p>
        </p:txBody>
      </p:sp>
      <p:pic>
        <p:nvPicPr>
          <p:cNvPr id="19" name="그림 18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7D5AB14-DB54-BD9A-F826-5F48B80A543B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0862" y="3063658"/>
            <a:ext cx="929589" cy="929589"/>
          </a:xfrm>
          <a:prstGeom prst="rect">
            <a:avLst/>
          </a:prstGeom>
        </p:spPr>
      </p:pic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102F6F15-332F-EF76-8672-26D0C273061A}"/>
              </a:ext>
            </a:extLst>
          </p:cNvPr>
          <p:cNvCxnSpPr>
            <a:cxnSpLocks/>
          </p:cNvCxnSpPr>
          <p:nvPr/>
        </p:nvCxnSpPr>
        <p:spPr>
          <a:xfrm flipV="1">
            <a:off x="4924696" y="3077658"/>
            <a:ext cx="2824382" cy="358372"/>
          </a:xfrm>
          <a:prstGeom prst="bentConnector3">
            <a:avLst>
              <a:gd name="adj1" fmla="val 173"/>
            </a:avLst>
          </a:prstGeom>
          <a:ln w="12700">
            <a:solidFill>
              <a:schemeClr val="bg2">
                <a:lumMod val="10000"/>
              </a:schemeClr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사각형: 둥근 모서리 57">
                <a:extLst>
                  <a:ext uri="{FF2B5EF4-FFF2-40B4-BE49-F238E27FC236}">
                    <a16:creationId xmlns:a16="http://schemas.microsoft.com/office/drawing/2014/main" id="{BCE7713B-329E-B7BB-595A-083790DE25DD}"/>
                  </a:ext>
                </a:extLst>
              </p:cNvPr>
              <p:cNvSpPr/>
              <p:nvPr/>
            </p:nvSpPr>
            <p:spPr>
              <a:xfrm>
                <a:off x="5077144" y="2978605"/>
                <a:ext cx="583422" cy="198105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𝑓𝑒𝑎𝑡𝑢𝑟𝑒</m:t>
                          </m:r>
                        </m:e>
                        <m:sub>
                          <m: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7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8" name="사각형: 둥근 모서리 57">
                <a:extLst>
                  <a:ext uri="{FF2B5EF4-FFF2-40B4-BE49-F238E27FC236}">
                    <a16:creationId xmlns:a16="http://schemas.microsoft.com/office/drawing/2014/main" id="{BCE7713B-329E-B7BB-595A-083790DE25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7144" y="2978605"/>
                <a:ext cx="583422" cy="198105"/>
              </a:xfrm>
              <a:prstGeom prst="roundRect">
                <a:avLst/>
              </a:prstGeom>
              <a:blipFill>
                <a:blip r:embed="rId3"/>
                <a:stretch>
                  <a:fillRect b="-2941"/>
                </a:stretch>
              </a:blipFill>
              <a:ln w="12700">
                <a:solidFill>
                  <a:schemeClr val="bg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사각형: 둥근 모서리 58">
                <a:extLst>
                  <a:ext uri="{FF2B5EF4-FFF2-40B4-BE49-F238E27FC236}">
                    <a16:creationId xmlns:a16="http://schemas.microsoft.com/office/drawing/2014/main" id="{3E5BC2F5-7F04-4C5B-E884-CB54C48364C0}"/>
                  </a:ext>
                </a:extLst>
              </p:cNvPr>
              <p:cNvSpPr/>
              <p:nvPr/>
            </p:nvSpPr>
            <p:spPr>
              <a:xfrm>
                <a:off x="5077143" y="3344657"/>
                <a:ext cx="578805" cy="204807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𝑓𝑒𝑎𝑡𝑢𝑟𝑒</m:t>
                          </m:r>
                        </m:e>
                        <m:sub>
                          <m: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7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9" name="사각형: 둥근 모서리 58">
                <a:extLst>
                  <a:ext uri="{FF2B5EF4-FFF2-40B4-BE49-F238E27FC236}">
                    <a16:creationId xmlns:a16="http://schemas.microsoft.com/office/drawing/2014/main" id="{3E5BC2F5-7F04-4C5B-E884-CB54C48364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7143" y="3344657"/>
                <a:ext cx="578805" cy="204807"/>
              </a:xfrm>
              <a:prstGeom prst="roundRect">
                <a:avLst/>
              </a:prstGeom>
              <a:blipFill>
                <a:blip r:embed="rId4"/>
                <a:stretch>
                  <a:fillRect b="-2857"/>
                </a:stretch>
              </a:blipFill>
              <a:ln w="12700">
                <a:solidFill>
                  <a:schemeClr val="bg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사각형: 둥근 모서리 72">
                <a:extLst>
                  <a:ext uri="{FF2B5EF4-FFF2-40B4-BE49-F238E27FC236}">
                    <a16:creationId xmlns:a16="http://schemas.microsoft.com/office/drawing/2014/main" id="{802FE24E-8D20-D6F3-FAA1-FA5307575F50}"/>
                  </a:ext>
                </a:extLst>
              </p:cNvPr>
              <p:cNvSpPr/>
              <p:nvPr/>
            </p:nvSpPr>
            <p:spPr>
              <a:xfrm>
                <a:off x="7760627" y="2978605"/>
                <a:ext cx="898043" cy="198105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𝑓𝑒𝑎𝑡𝑢𝑟𝑒</m:t>
                          </m:r>
                          <m: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𝑠𝑐𝑜𝑟𝑒</m:t>
                          </m:r>
                        </m:e>
                        <m:sub>
                          <m: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7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3" name="사각형: 둥근 모서리 72">
                <a:extLst>
                  <a:ext uri="{FF2B5EF4-FFF2-40B4-BE49-F238E27FC236}">
                    <a16:creationId xmlns:a16="http://schemas.microsoft.com/office/drawing/2014/main" id="{802FE24E-8D20-D6F3-FAA1-FA5307575F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0627" y="2978605"/>
                <a:ext cx="898043" cy="198105"/>
              </a:xfrm>
              <a:prstGeom prst="roundRect">
                <a:avLst/>
              </a:prstGeom>
              <a:blipFill>
                <a:blip r:embed="rId5"/>
                <a:stretch>
                  <a:fillRect b="-2941"/>
                </a:stretch>
              </a:blipFill>
              <a:ln w="12700">
                <a:solidFill>
                  <a:schemeClr val="bg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사각형: 둥근 모서리 74">
                <a:extLst>
                  <a:ext uri="{FF2B5EF4-FFF2-40B4-BE49-F238E27FC236}">
                    <a16:creationId xmlns:a16="http://schemas.microsoft.com/office/drawing/2014/main" id="{1643F8F8-FE13-A760-7DB3-C8C582520DB7}"/>
                  </a:ext>
                </a:extLst>
              </p:cNvPr>
              <p:cNvSpPr/>
              <p:nvPr/>
            </p:nvSpPr>
            <p:spPr>
              <a:xfrm>
                <a:off x="7760625" y="3330346"/>
                <a:ext cx="898043" cy="198105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𝑓𝑒𝑎𝑡𝑢𝑟𝑒</m:t>
                          </m:r>
                          <m: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𝑠𝑐𝑜𝑟𝑒</m:t>
                          </m:r>
                        </m:e>
                        <m:sub>
                          <m: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7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5" name="사각형: 둥근 모서리 74">
                <a:extLst>
                  <a:ext uri="{FF2B5EF4-FFF2-40B4-BE49-F238E27FC236}">
                    <a16:creationId xmlns:a16="http://schemas.microsoft.com/office/drawing/2014/main" id="{1643F8F8-FE13-A760-7DB3-C8C582520D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0625" y="3330346"/>
                <a:ext cx="898043" cy="198105"/>
              </a:xfrm>
              <a:prstGeom prst="roundRect">
                <a:avLst/>
              </a:prstGeom>
              <a:blipFill>
                <a:blip r:embed="rId6"/>
                <a:stretch>
                  <a:fillRect b="-2857"/>
                </a:stretch>
              </a:blipFill>
              <a:ln w="12700">
                <a:solidFill>
                  <a:schemeClr val="bg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사각형: 둥근 모서리 75">
                <a:extLst>
                  <a:ext uri="{FF2B5EF4-FFF2-40B4-BE49-F238E27FC236}">
                    <a16:creationId xmlns:a16="http://schemas.microsoft.com/office/drawing/2014/main" id="{73F01BCD-7A76-DF5C-E3AE-071E6F5E38D4}"/>
                  </a:ext>
                </a:extLst>
              </p:cNvPr>
              <p:cNvSpPr/>
              <p:nvPr/>
            </p:nvSpPr>
            <p:spPr>
              <a:xfrm>
                <a:off x="7760625" y="3953295"/>
                <a:ext cx="898043" cy="198105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𝑓𝑒𝑎𝑡𝑢𝑟𝑒</m:t>
                          </m:r>
                          <m: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𝑠𝑐𝑜𝑟𝑒</m:t>
                          </m:r>
                        </m:e>
                        <m:sub>
                          <m: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ko-KR" altLang="en-US" sz="7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6" name="사각형: 둥근 모서리 75">
                <a:extLst>
                  <a:ext uri="{FF2B5EF4-FFF2-40B4-BE49-F238E27FC236}">
                    <a16:creationId xmlns:a16="http://schemas.microsoft.com/office/drawing/2014/main" id="{73F01BCD-7A76-DF5C-E3AE-071E6F5E38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0625" y="3953295"/>
                <a:ext cx="898043" cy="198105"/>
              </a:xfrm>
              <a:prstGeom prst="roundRect">
                <a:avLst/>
              </a:prstGeom>
              <a:blipFill>
                <a:blip r:embed="rId7"/>
                <a:stretch>
                  <a:fillRect b="-2941"/>
                </a:stretch>
              </a:blipFill>
              <a:ln w="12700">
                <a:solidFill>
                  <a:schemeClr val="bg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8C42E029-07E5-0506-3D23-52D630047209}"/>
              </a:ext>
            </a:extLst>
          </p:cNvPr>
          <p:cNvSpPr/>
          <p:nvPr/>
        </p:nvSpPr>
        <p:spPr>
          <a:xfrm>
            <a:off x="5962896" y="2978606"/>
            <a:ext cx="870546" cy="1172795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BF871963-1315-826A-048C-1C194D8012E4}"/>
              </a:ext>
            </a:extLst>
          </p:cNvPr>
          <p:cNvCxnSpPr>
            <a:cxnSpLocks/>
          </p:cNvCxnSpPr>
          <p:nvPr/>
        </p:nvCxnSpPr>
        <p:spPr>
          <a:xfrm>
            <a:off x="8658669" y="3433201"/>
            <a:ext cx="295134" cy="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 w="med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" name="연결선: 꺾임 111">
            <a:extLst>
              <a:ext uri="{FF2B5EF4-FFF2-40B4-BE49-F238E27FC236}">
                <a16:creationId xmlns:a16="http://schemas.microsoft.com/office/drawing/2014/main" id="{DB78ED4D-8E5F-7A29-B1B2-C0FEFA4554E2}"/>
              </a:ext>
            </a:extLst>
          </p:cNvPr>
          <p:cNvCxnSpPr>
            <a:cxnSpLocks/>
          </p:cNvCxnSpPr>
          <p:nvPr/>
        </p:nvCxnSpPr>
        <p:spPr>
          <a:xfrm>
            <a:off x="8658669" y="3077659"/>
            <a:ext cx="171451" cy="361285"/>
          </a:xfrm>
          <a:prstGeom prst="bentConnector2">
            <a:avLst/>
          </a:prstGeom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연결선: 꺾임 116">
            <a:extLst>
              <a:ext uri="{FF2B5EF4-FFF2-40B4-BE49-F238E27FC236}">
                <a16:creationId xmlns:a16="http://schemas.microsoft.com/office/drawing/2014/main" id="{CA022654-E700-984B-6888-EF4CDE111650}"/>
              </a:ext>
            </a:extLst>
          </p:cNvPr>
          <p:cNvCxnSpPr>
            <a:cxnSpLocks/>
          </p:cNvCxnSpPr>
          <p:nvPr/>
        </p:nvCxnSpPr>
        <p:spPr>
          <a:xfrm flipV="1">
            <a:off x="8658669" y="3438943"/>
            <a:ext cx="171451" cy="613404"/>
          </a:xfrm>
          <a:prstGeom prst="bentConnector2">
            <a:avLst/>
          </a:prstGeom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BBFAA389-A33D-4536-AB0D-19FED52ACB9A}"/>
              </a:ext>
            </a:extLst>
          </p:cNvPr>
          <p:cNvSpPr txBox="1"/>
          <p:nvPr/>
        </p:nvSpPr>
        <p:spPr>
          <a:xfrm>
            <a:off x="5194154" y="3613721"/>
            <a:ext cx="461793" cy="26385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ko-KR" sz="1801" dirty="0"/>
              <a:t>…</a:t>
            </a:r>
            <a:endParaRPr lang="ko-KR" altLang="en-US" sz="1801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245C94F-E775-0C69-13BB-96CBC2BF0369}"/>
              </a:ext>
            </a:extLst>
          </p:cNvPr>
          <p:cNvSpPr txBox="1"/>
          <p:nvPr/>
        </p:nvSpPr>
        <p:spPr>
          <a:xfrm>
            <a:off x="8051280" y="3613721"/>
            <a:ext cx="461793" cy="26385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ko-KR" sz="1801" dirty="0"/>
              <a:t>…</a:t>
            </a:r>
            <a:endParaRPr lang="ko-KR" altLang="en-US" sz="1801" dirty="0"/>
          </a:p>
        </p:txBody>
      </p:sp>
      <p:sp>
        <p:nvSpPr>
          <p:cNvPr id="121" name="사각형: 둥근 모서리 120">
            <a:extLst>
              <a:ext uri="{FF2B5EF4-FFF2-40B4-BE49-F238E27FC236}">
                <a16:creationId xmlns:a16="http://schemas.microsoft.com/office/drawing/2014/main" id="{650AB717-F093-7FF9-0A65-646E1BA7344C}"/>
              </a:ext>
            </a:extLst>
          </p:cNvPr>
          <p:cNvSpPr/>
          <p:nvPr/>
        </p:nvSpPr>
        <p:spPr>
          <a:xfrm>
            <a:off x="8952238" y="3269499"/>
            <a:ext cx="716249" cy="33306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Placeness</a:t>
            </a:r>
            <a:r>
              <a:rPr lang="ko-KR" alt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사각형: 둥근 모서리 59">
                <a:extLst>
                  <a:ext uri="{FF2B5EF4-FFF2-40B4-BE49-F238E27FC236}">
                    <a16:creationId xmlns:a16="http://schemas.microsoft.com/office/drawing/2014/main" id="{0F48B865-B4FC-B180-3E57-E300C9A19380}"/>
                  </a:ext>
                </a:extLst>
              </p:cNvPr>
              <p:cNvSpPr/>
              <p:nvPr/>
            </p:nvSpPr>
            <p:spPr>
              <a:xfrm>
                <a:off x="5077144" y="3953298"/>
                <a:ext cx="578804" cy="204805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𝑓𝑒𝑎𝑡𝑢𝑟𝑒</m:t>
                          </m:r>
                        </m:e>
                        <m:sub>
                          <m: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ko-KR" altLang="en-US" sz="7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0" name="사각형: 둥근 모서리 59">
                <a:extLst>
                  <a:ext uri="{FF2B5EF4-FFF2-40B4-BE49-F238E27FC236}">
                    <a16:creationId xmlns:a16="http://schemas.microsoft.com/office/drawing/2014/main" id="{0F48B865-B4FC-B180-3E57-E300C9A193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7144" y="3953298"/>
                <a:ext cx="578804" cy="204805"/>
              </a:xfrm>
              <a:prstGeom prst="roundRect">
                <a:avLst/>
              </a:prstGeom>
              <a:blipFill>
                <a:blip r:embed="rId8"/>
                <a:stretch>
                  <a:fillRect b="-2857"/>
                </a:stretch>
              </a:blipFill>
              <a:ln w="12700">
                <a:solidFill>
                  <a:schemeClr val="bg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" name="TextBox 141">
            <a:extLst>
              <a:ext uri="{FF2B5EF4-FFF2-40B4-BE49-F238E27FC236}">
                <a16:creationId xmlns:a16="http://schemas.microsoft.com/office/drawing/2014/main" id="{BAB06D49-085B-5956-6B26-F5968801BAC5}"/>
              </a:ext>
            </a:extLst>
          </p:cNvPr>
          <p:cNvSpPr txBox="1"/>
          <p:nvPr/>
        </p:nvSpPr>
        <p:spPr>
          <a:xfrm>
            <a:off x="3768384" y="5409100"/>
            <a:ext cx="48173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1. Overview of placeness-based text review quantification approach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그림 4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5B73936-8924-D609-E646-8DBDFB0FF5C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055"/>
          <a:stretch>
            <a:fillRect/>
          </a:stretch>
        </p:blipFill>
        <p:spPr>
          <a:xfrm>
            <a:off x="8787278" y="3588267"/>
            <a:ext cx="1006841" cy="8149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B9DD39-DA3A-D230-5EA7-A690DEAE6479}"/>
              </a:ext>
            </a:extLst>
          </p:cNvPr>
          <p:cNvSpPr txBox="1"/>
          <p:nvPr/>
        </p:nvSpPr>
        <p:spPr>
          <a:xfrm>
            <a:off x="6006648" y="3809718"/>
            <a:ext cx="7585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Model</a:t>
            </a:r>
            <a:endParaRPr lang="ko-KR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그림 12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958CAC6-3963-0D88-F6B9-BFFDCC9EEB5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763"/>
          <a:stretch>
            <a:fillRect/>
          </a:stretch>
        </p:blipFill>
        <p:spPr>
          <a:xfrm>
            <a:off x="6045121" y="3127318"/>
            <a:ext cx="758540" cy="6541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9EB0F1-A0FE-D5E3-7870-A472D0110D0B}"/>
              </a:ext>
            </a:extLst>
          </p:cNvPr>
          <p:cNvSpPr txBox="1"/>
          <p:nvPr/>
        </p:nvSpPr>
        <p:spPr>
          <a:xfrm>
            <a:off x="10501222" y="576033"/>
            <a:ext cx="13099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&lt;1.5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단계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ko-KR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904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36993</TotalTime>
  <Words>6368</Words>
  <Application>Microsoft Office PowerPoint</Application>
  <PresentationFormat>와이드스크린</PresentationFormat>
  <Paragraphs>974</Paragraphs>
  <Slides>36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51" baseType="lpstr">
      <vt:lpstr>Noto Sans KR</vt:lpstr>
      <vt:lpstr>Pretendard</vt:lpstr>
      <vt:lpstr>나눔고딕</vt:lpstr>
      <vt:lpstr>나눔바른고딕</vt:lpstr>
      <vt:lpstr>나눔바른고딕OTF</vt:lpstr>
      <vt:lpstr>나눔스퀘어</vt:lpstr>
      <vt:lpstr>나눔스퀘어OTF</vt:lpstr>
      <vt:lpstr>나눔스퀘어OTF_ac Bold</vt:lpstr>
      <vt:lpstr>맑은 고딕</vt:lpstr>
      <vt:lpstr>함초롬돋움</vt:lpstr>
      <vt:lpstr>Arial</vt:lpstr>
      <vt:lpstr>Cambria Math</vt:lpstr>
      <vt:lpstr>Times New Roman</vt:lpstr>
      <vt:lpstr>Wingdings</vt:lpstr>
      <vt:lpstr>Office 테마</vt:lpstr>
      <vt:lpstr>PowerPoint 프레젠테이션</vt:lpstr>
      <vt:lpstr>Demo</vt:lpstr>
      <vt:lpstr>Demo</vt:lpstr>
      <vt:lpstr>1. 연구 배경 및 목적</vt:lpstr>
      <vt:lpstr>2. 이론적 고찰 [1] 장소성 이론</vt:lpstr>
      <vt:lpstr>2. 이론적 고찰 [1] 장소성 이론</vt:lpstr>
      <vt:lpstr>2. 이론적 고찰 [1] 장소성 이론</vt:lpstr>
      <vt:lpstr>PowerPoint 프레젠테이션</vt:lpstr>
      <vt:lpstr>PowerPoint 프레젠테이션</vt:lpstr>
      <vt:lpstr>상업시설 공간 환경 특성에 맞추어 장소성 세부 요인 재구성</vt:lpstr>
      <vt:lpstr>PowerPoint 프레젠테이션</vt:lpstr>
      <vt:lpstr>PowerPoint 프레젠테이션</vt:lpstr>
      <vt:lpstr>PowerPoint 프레젠테이션</vt:lpstr>
      <vt:lpstr>3. 연구 대상 및 범위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5. 사용 데이터</vt:lpstr>
      <vt:lpstr>5. 사용 데이터</vt:lpstr>
      <vt:lpstr>5. 사용 데이터</vt:lpstr>
      <vt:lpstr>5. 사용 데이터</vt:lpstr>
      <vt:lpstr>5. 사용 데이터</vt:lpstr>
      <vt:lpstr>PowerPoint 프레젠테이션</vt:lpstr>
      <vt:lpstr>PowerPoint 프레젠테이션</vt:lpstr>
      <vt:lpstr>PowerPoint 프레젠테이션</vt:lpstr>
      <vt:lpstr>2. 이론적 고찰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건축적 장소성 요인 기반  공간 정량 평가 및 시각화</dc:title>
  <dc:creator>Jiwon Shin</dc:creator>
  <cp:lastModifiedBy>Jiwon Shin</cp:lastModifiedBy>
  <cp:revision>1087</cp:revision>
  <dcterms:created xsi:type="dcterms:W3CDTF">2025-07-25T02:53:34Z</dcterms:created>
  <dcterms:modified xsi:type="dcterms:W3CDTF">2026-06-19T10:47:45Z</dcterms:modified>
</cp:coreProperties>
</file>